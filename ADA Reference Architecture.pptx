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webextensions/webextension1.xml" ContentType="application/vnd.ms-office.webextension+xml"/>
  <Override PartName="/ppt/notesSlides/notesSlide13.xml" ContentType="application/vnd.openxmlformats-officedocument.presentationml.notesSlide+xml"/>
  <Override PartName="/ppt/webextensions/webextension2.xml" ContentType="application/vnd.ms-office.webextension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  <p:sldMasterId id="2147483703" r:id="rId5"/>
    <p:sldMasterId id="2147483648" r:id="rId6"/>
  </p:sldMasterIdLst>
  <p:notesMasterIdLst>
    <p:notesMasterId r:id="rId47"/>
  </p:notesMasterIdLst>
  <p:sldIdLst>
    <p:sldId id="256" r:id="rId7"/>
    <p:sldId id="2586" r:id="rId8"/>
    <p:sldId id="2556" r:id="rId9"/>
    <p:sldId id="2597" r:id="rId10"/>
    <p:sldId id="2573" r:id="rId11"/>
    <p:sldId id="2600" r:id="rId12"/>
    <p:sldId id="2601" r:id="rId13"/>
    <p:sldId id="2572" r:id="rId14"/>
    <p:sldId id="2571" r:id="rId15"/>
    <p:sldId id="2599" r:id="rId16"/>
    <p:sldId id="2598" r:id="rId17"/>
    <p:sldId id="2564" r:id="rId18"/>
    <p:sldId id="2583" r:id="rId19"/>
    <p:sldId id="2563" r:id="rId20"/>
    <p:sldId id="2574" r:id="rId21"/>
    <p:sldId id="2579" r:id="rId22"/>
    <p:sldId id="2580" r:id="rId23"/>
    <p:sldId id="2581" r:id="rId24"/>
    <p:sldId id="2582" r:id="rId25"/>
    <p:sldId id="2596" r:id="rId26"/>
    <p:sldId id="2584" r:id="rId27"/>
    <p:sldId id="2585" r:id="rId28"/>
    <p:sldId id="2591" r:id="rId29"/>
    <p:sldId id="2588" r:id="rId30"/>
    <p:sldId id="2589" r:id="rId31"/>
    <p:sldId id="2590" r:id="rId32"/>
    <p:sldId id="2593" r:id="rId33"/>
    <p:sldId id="2594" r:id="rId34"/>
    <p:sldId id="2595" r:id="rId35"/>
    <p:sldId id="2602" r:id="rId36"/>
    <p:sldId id="2603" r:id="rId37"/>
    <p:sldId id="2604" r:id="rId38"/>
    <p:sldId id="2605" r:id="rId39"/>
    <p:sldId id="2606" r:id="rId40"/>
    <p:sldId id="2607" r:id="rId41"/>
    <p:sldId id="2608" r:id="rId42"/>
    <p:sldId id="2575" r:id="rId43"/>
    <p:sldId id="2576" r:id="rId44"/>
    <p:sldId id="2577" r:id="rId45"/>
    <p:sldId id="2578" r:id="rId46"/>
  </p:sldIdLst>
  <p:sldSz cx="12192000" cy="6858000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BBFA24-1F79-435C-AF3D-DBBA545F2FBD}">
          <p14:sldIdLst>
            <p14:sldId id="256"/>
            <p14:sldId id="2586"/>
            <p14:sldId id="2556"/>
            <p14:sldId id="2597"/>
            <p14:sldId id="2573"/>
            <p14:sldId id="2600"/>
            <p14:sldId id="2601"/>
            <p14:sldId id="2572"/>
            <p14:sldId id="2571"/>
            <p14:sldId id="2599"/>
            <p14:sldId id="2598"/>
            <p14:sldId id="2564"/>
            <p14:sldId id="2583"/>
            <p14:sldId id="2563"/>
            <p14:sldId id="2574"/>
            <p14:sldId id="2579"/>
            <p14:sldId id="2580"/>
            <p14:sldId id="2581"/>
            <p14:sldId id="2582"/>
            <p14:sldId id="2596"/>
            <p14:sldId id="2584"/>
            <p14:sldId id="2585"/>
            <p14:sldId id="2591"/>
            <p14:sldId id="2588"/>
            <p14:sldId id="2589"/>
            <p14:sldId id="2590"/>
            <p14:sldId id="2593"/>
            <p14:sldId id="2594"/>
            <p14:sldId id="2595"/>
            <p14:sldId id="2602"/>
            <p14:sldId id="2603"/>
            <p14:sldId id="2604"/>
            <p14:sldId id="2605"/>
            <p14:sldId id="2606"/>
            <p14:sldId id="2607"/>
            <p14:sldId id="2608"/>
          </p14:sldIdLst>
        </p14:section>
        <p14:section name="Backup" id="{227C383E-7250-416E-96F3-B002297EF0E2}">
          <p14:sldIdLst>
            <p14:sldId id="2575"/>
            <p14:sldId id="2576"/>
            <p14:sldId id="2577"/>
            <p14:sldId id="2578"/>
          </p14:sldIdLst>
        </p14:section>
      </p14:sectionLst>
    </p:ext>
    <p:ext uri="{EFAFB233-063F-42B5-8137-9DF3F51BA10A}">
      <p15:sldGuideLst xmlns:p15="http://schemas.microsoft.com/office/powerpoint/2012/main">
        <p15:guide id="1" pos="6924" userDrawn="1">
          <p15:clr>
            <a:srgbClr val="A4A3A4"/>
          </p15:clr>
        </p15:guide>
        <p15:guide id="2" pos="4793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berini Alberto" initials="AA" lastIdx="1" clrIdx="0">
    <p:extLst>
      <p:ext uri="{19B8F6BF-5375-455C-9EA6-DF929625EA0E}">
        <p15:presenceInfo xmlns:p15="http://schemas.microsoft.com/office/powerpoint/2012/main" userId="S-1-5-21-1715762271-106585584-659304657-605995" providerId="AD"/>
      </p:ext>
    </p:extLst>
  </p:cmAuthor>
  <p:cmAuthor id="2" name="Luciano" initials="L" lastIdx="1" clrIdx="1">
    <p:extLst>
      <p:ext uri="{19B8F6BF-5375-455C-9EA6-DF929625EA0E}">
        <p15:presenceInfo xmlns:p15="http://schemas.microsoft.com/office/powerpoint/2012/main" userId="Lucia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D6"/>
    <a:srgbClr val="FBE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pos="6924"/>
        <p:guide pos="47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4730E-D1EF-41FC-942F-55C7379D4FF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6AF7A-6AD2-4DCC-BDA2-E302C9DA6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6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92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76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21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5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49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0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8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89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86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10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77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19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84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87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55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19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67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08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33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161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465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01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6AF7A-6AD2-4DCC-BDA2-E302C9DA68B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2.emf"/><Relationship Id="rId7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2.emf"/><Relationship Id="rId7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2130425"/>
            <a:ext cx="11182248" cy="1298575"/>
          </a:xfrm>
        </p:spPr>
        <p:txBody>
          <a:bodyPr/>
          <a:lstStyle>
            <a:lvl1pPr>
              <a:lnSpc>
                <a:spcPts val="4667"/>
              </a:lnSpc>
              <a:defRPr sz="33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Presentation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530599"/>
            <a:ext cx="11182248" cy="8763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Presentation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>
            <a:off x="8450561" y="304800"/>
            <a:ext cx="1904431" cy="198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1600" b="1" err="1">
                <a:solidFill>
                  <a:schemeClr val="tx2"/>
                </a:solidFill>
              </a:rPr>
              <a:t>Department</a:t>
            </a:r>
            <a:r>
              <a:rPr lang="it-IT" sz="1600" b="1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8450561" y="952501"/>
            <a:ext cx="1904431" cy="2070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1600" b="1">
                <a:solidFill>
                  <a:schemeClr val="tx2"/>
                </a:solidFill>
              </a:rPr>
              <a:t>Country:</a:t>
            </a:r>
          </a:p>
        </p:txBody>
      </p:sp>
      <p:sp>
        <p:nvSpPr>
          <p:cNvPr id="15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8451585" y="574579"/>
            <a:ext cx="3183467" cy="3556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it-IT" sz="1200" baseline="0" dirty="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Department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  <p:sp>
        <p:nvSpPr>
          <p:cNvPr id="16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451585" y="1223051"/>
            <a:ext cx="3183467" cy="3556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it-IT" sz="1200" baseline="0" dirty="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it-IT"/>
              <a:t>Insert Country Name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2" y="0"/>
            <a:ext cx="267377" cy="6858000"/>
          </a:xfrm>
          <a:prstGeom prst="rect">
            <a:avLst/>
          </a:prstGeom>
        </p:spPr>
      </p:pic>
      <p:pic>
        <p:nvPicPr>
          <p:cNvPr id="11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067" y="382888"/>
            <a:ext cx="1152000" cy="937912"/>
          </a:xfrm>
          <a:prstGeom prst="rect">
            <a:avLst/>
          </a:prstGeom>
        </p:spPr>
      </p:pic>
      <p:sp>
        <p:nvSpPr>
          <p:cNvPr id="12" name="object 3"/>
          <p:cNvSpPr txBox="1"/>
          <p:nvPr userDrawn="1"/>
        </p:nvSpPr>
        <p:spPr>
          <a:xfrm>
            <a:off x="463067" y="6479035"/>
            <a:ext cx="2636247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 spc="0">
                <a:solidFill>
                  <a:schemeClr val="tx2"/>
                </a:solidFill>
                <a:latin typeface="Arial"/>
                <a:cs typeface="Arial"/>
              </a:rPr>
              <a:t>Generali Head Office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9" name="object 3"/>
          <p:cNvSpPr txBox="1"/>
          <p:nvPr userDrawn="1"/>
        </p:nvSpPr>
        <p:spPr>
          <a:xfrm>
            <a:off x="3266151" y="6479035"/>
            <a:ext cx="1495709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 spc="0">
                <a:solidFill>
                  <a:schemeClr val="tx2"/>
                </a:solidFill>
                <a:latin typeface="Arial"/>
                <a:cs typeface="Arial"/>
              </a:rPr>
              <a:t>Trieste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3552856" y="6427761"/>
            <a:ext cx="2214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700" kern="120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June</a:t>
            </a:r>
            <a:r>
              <a:rPr lang="it-IT" sz="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15th, 2020</a:t>
            </a:r>
            <a:endParaRPr lang="en-US" sz="7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55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730605"/>
            <a:ext cx="11182248" cy="425095"/>
          </a:xfrm>
        </p:spPr>
        <p:txBody>
          <a:bodyPr/>
          <a:lstStyle>
            <a:lvl1pPr>
              <a:lnSpc>
                <a:spcPts val="2933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589009"/>
            <a:ext cx="11182248" cy="8432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Section SubTitle </a:t>
            </a:r>
            <a:br>
              <a:rPr lang="it-IT"/>
            </a:br>
            <a:r>
              <a:rPr lang="it-IT"/>
              <a:t>Arial Regular 20/24pt</a:t>
            </a: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130425"/>
            <a:ext cx="11182248" cy="1407784"/>
          </a:xfrm>
        </p:spPr>
        <p:txBody>
          <a:bodyPr/>
          <a:lstStyle>
            <a:lvl1pPr>
              <a:lnSpc>
                <a:spcPct val="100000"/>
              </a:lnSpc>
              <a:defRPr sz="3300" b="1" i="0" baseline="0"/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2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295"/>
            <a:ext cx="1780813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>
              <a:lnSpc>
                <a:spcPct val="95825"/>
              </a:lnSpc>
              <a:spcBef>
                <a:spcPts val="13"/>
              </a:spcBef>
            </a:pPr>
            <a:r>
              <a:rPr lang="it-IT" sz="2000" spc="0">
                <a:solidFill>
                  <a:schemeClr val="tx2"/>
                </a:solidFill>
                <a:latin typeface="Arial"/>
                <a:cs typeface="Arial"/>
              </a:rPr>
              <a:t>Agenda</a:t>
            </a:r>
            <a:endParaRPr sz="2667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476251" y="1224439"/>
            <a:ext cx="11176000" cy="4861256"/>
          </a:xfrm>
        </p:spPr>
        <p:txBody>
          <a:bodyPr bIns="0" numCol="2" spcCol="216000">
            <a:noAutofit/>
          </a:bodyPr>
          <a:lstStyle>
            <a:lvl1pPr marL="228594" indent="-228594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Lucida Grande"/>
              <a:buChar char="-"/>
              <a:defRPr sz="1600" b="1" i="0" baseline="0"/>
            </a:lvl1pPr>
            <a:lvl2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600" baseline="0"/>
            </a:lvl2pPr>
            <a:lvl3pPr marL="719982" indent="-239994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 sz="1600" baseline="0"/>
            </a:lvl3pPr>
            <a:lvl4pPr marL="979176" indent="-239994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charset="2"/>
              <a:buChar char="²"/>
              <a:defRPr sz="1600" baseline="0"/>
            </a:lvl4pPr>
            <a:lvl5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60000"/>
              <a:defRPr sz="16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8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Slide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EC189D5D-A4EA-4E9E-8FC8-46620544F60E}" type="datetime1">
              <a:rPr lang="en-US" smtClean="0"/>
              <a:t>10/20/2025</a:t>
            </a:fld>
            <a:endParaRPr lang="it-IT"/>
          </a:p>
        </p:txBody>
      </p:sp>
      <p:sp>
        <p:nvSpPr>
          <p:cNvPr id="1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8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6" name="Segnaposto contenuto 2"/>
          <p:cNvSpPr>
            <a:spLocks noGrp="1"/>
          </p:cNvSpPr>
          <p:nvPr>
            <p:ph sz="quarter" idx="15"/>
          </p:nvPr>
        </p:nvSpPr>
        <p:spPr>
          <a:xfrm>
            <a:off x="463553" y="1735759"/>
            <a:ext cx="11188700" cy="43253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613EFA56-5EB2-456B-8E8B-43B2724C16C4}" type="datetime1">
              <a:rPr lang="en-US" smtClean="0"/>
              <a:t>10/20/2025</a:t>
            </a:fld>
            <a:endParaRPr lang="it-IT"/>
          </a:p>
        </p:txBody>
      </p:sp>
      <p:sp>
        <p:nvSpPr>
          <p:cNvPr id="14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Segnaposto contenuto 2"/>
          <p:cNvSpPr>
            <a:spLocks noGrp="1"/>
          </p:cNvSpPr>
          <p:nvPr>
            <p:ph sz="quarter" idx="15"/>
          </p:nvPr>
        </p:nvSpPr>
        <p:spPr>
          <a:xfrm>
            <a:off x="463553" y="1735759"/>
            <a:ext cx="11188700" cy="43253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27146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9DF1249A-0531-462E-984C-575382423404}" type="datetime1">
              <a:rPr lang="en-US" smtClean="0"/>
              <a:t>10/20/2025</a:t>
            </a:fld>
            <a:endParaRPr lang="it-IT"/>
          </a:p>
        </p:txBody>
      </p:sp>
      <p:sp>
        <p:nvSpPr>
          <p:cNvPr id="1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3" y="1682751"/>
            <a:ext cx="11188700" cy="4378325"/>
          </a:xfrm>
        </p:spPr>
        <p:txBody>
          <a:bodyPr wrap="square"/>
          <a:lstStyle>
            <a:lvl1pPr marL="0" indent="0" algn="l">
              <a:lnSpc>
                <a:spcPct val="100000"/>
              </a:lnSpc>
              <a:buClr>
                <a:schemeClr val="tx2"/>
              </a:buClr>
              <a:buFont typeface="Wingdings" charset="2"/>
              <a:buChar char="v"/>
              <a:defRPr sz="2667" b="1" i="0" baseline="0"/>
            </a:lvl1pPr>
            <a:lvl2pPr marL="0" indent="-239994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333" baseline="0"/>
            </a:lvl2pPr>
            <a:lvl3pPr marL="0" indent="-239994">
              <a:lnSpc>
                <a:spcPct val="100000"/>
              </a:lnSpc>
              <a:buFont typeface="Arial"/>
              <a:buChar char="•"/>
              <a:defRPr sz="1333"/>
            </a:lvl3pPr>
            <a:lvl4pPr marL="0" indent="-239994">
              <a:lnSpc>
                <a:spcPct val="100000"/>
              </a:lnSpc>
              <a:defRPr sz="1333"/>
            </a:lvl4pPr>
            <a:lvl5pPr marL="0" indent="-239994">
              <a:lnSpc>
                <a:spcPct val="100000"/>
              </a:lnSpc>
              <a:buFont typeface="Arial"/>
              <a:buChar char="•"/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2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971518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Item + Tex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ED0B153E-A0D2-44C9-B490-82FF5C063495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8"/>
          </p:nvPr>
        </p:nvSpPr>
        <p:spPr>
          <a:xfrm>
            <a:off x="463553" y="4758686"/>
            <a:ext cx="11188700" cy="1302391"/>
          </a:xfrm>
        </p:spPr>
        <p:txBody>
          <a:bodyPr wrap="square" lIns="72000" tIns="72000" rIns="72000"/>
          <a:lstStyle>
            <a:lvl1pPr>
              <a:lnSpc>
                <a:spcPct val="100000"/>
              </a:lnSpc>
              <a:defRPr sz="1067"/>
            </a:lvl1pPr>
            <a:lvl2pPr marL="259194" indent="-259194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chemeClr val="tx2"/>
              </a:buClr>
              <a:buFont typeface="Arial"/>
              <a:buChar char="•"/>
              <a:defRPr sz="1067" b="0" i="0"/>
            </a:lvl2pPr>
            <a:lvl3pPr marL="614385" indent="-259194">
              <a:lnSpc>
                <a:spcPct val="100000"/>
              </a:lnSpc>
              <a:buClr>
                <a:schemeClr val="tx2"/>
              </a:buClr>
              <a:buFont typeface="Wingdings" charset="2"/>
              <a:buChar char="ü"/>
              <a:defRPr sz="1067"/>
            </a:lvl3pPr>
            <a:lvl4pPr marL="614385" indent="-259194">
              <a:lnSpc>
                <a:spcPct val="100000"/>
              </a:lnSpc>
              <a:defRPr sz="1067"/>
            </a:lvl4pPr>
            <a:lvl5pPr marL="614385" indent="-259194">
              <a:lnSpc>
                <a:spcPct val="100000"/>
              </a:lnSpc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ttangolo 3"/>
          <p:cNvSpPr/>
          <p:nvPr userDrawn="1"/>
        </p:nvSpPr>
        <p:spPr>
          <a:xfrm>
            <a:off x="463069" y="4758686"/>
            <a:ext cx="11189428" cy="13023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7" name="Segnaposto contenuto 4"/>
          <p:cNvSpPr>
            <a:spLocks noGrp="1"/>
          </p:cNvSpPr>
          <p:nvPr>
            <p:ph sz="quarter" idx="21"/>
          </p:nvPr>
        </p:nvSpPr>
        <p:spPr>
          <a:xfrm>
            <a:off x="463553" y="1682751"/>
            <a:ext cx="11188700" cy="2976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0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23400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1 + Item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0FF1362D-9E57-4EB8-9B2B-DCB566A0B022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20"/>
          </p:nvPr>
        </p:nvSpPr>
        <p:spPr>
          <a:xfrm>
            <a:off x="463553" y="1682750"/>
            <a:ext cx="11188700" cy="1302391"/>
          </a:xfrm>
        </p:spPr>
        <p:txBody>
          <a:bodyPr wrap="square" lIns="72000" tIns="72000" rIns="72000"/>
          <a:lstStyle>
            <a:lvl1pPr>
              <a:lnSpc>
                <a:spcPct val="100000"/>
              </a:lnSpc>
              <a:defRPr sz="1067"/>
            </a:lvl1pPr>
            <a:lvl2pPr marL="259194" indent="-259194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chemeClr val="tx2"/>
              </a:buClr>
              <a:buFont typeface="Arial"/>
              <a:buChar char="•"/>
              <a:defRPr sz="1067" b="0" i="0"/>
            </a:lvl2pPr>
            <a:lvl3pPr marL="614385" indent="-259194">
              <a:lnSpc>
                <a:spcPct val="100000"/>
              </a:lnSpc>
              <a:buClr>
                <a:schemeClr val="tx2"/>
              </a:buClr>
              <a:buFont typeface="Wingdings" charset="2"/>
              <a:buChar char="ü"/>
              <a:defRPr sz="1067"/>
            </a:lvl3pPr>
            <a:lvl4pPr marL="614385" indent="-259194">
              <a:lnSpc>
                <a:spcPct val="100000"/>
              </a:lnSpc>
              <a:defRPr sz="1067"/>
            </a:lvl4pPr>
            <a:lvl5pPr marL="614385" indent="-259194">
              <a:lnSpc>
                <a:spcPct val="100000"/>
              </a:lnSpc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1" name="Rettangolo 20"/>
          <p:cNvSpPr/>
          <p:nvPr userDrawn="1"/>
        </p:nvSpPr>
        <p:spPr>
          <a:xfrm>
            <a:off x="463069" y="1682750"/>
            <a:ext cx="11189428" cy="13023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20" name="Segnaposto contenuto 2"/>
          <p:cNvSpPr>
            <a:spLocks noGrp="1"/>
          </p:cNvSpPr>
          <p:nvPr>
            <p:ph sz="quarter" idx="22"/>
          </p:nvPr>
        </p:nvSpPr>
        <p:spPr>
          <a:xfrm>
            <a:off x="463553" y="3084513"/>
            <a:ext cx="11188700" cy="2976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97803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+ Item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6870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2F1E75D5-E303-4EF6-B248-B552450BA05A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3" y="1682751"/>
            <a:ext cx="5509737" cy="43783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3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5" name="Segnaposto contenuto 2"/>
          <p:cNvSpPr>
            <a:spLocks noGrp="1"/>
          </p:cNvSpPr>
          <p:nvPr>
            <p:ph sz="quarter" idx="17"/>
          </p:nvPr>
        </p:nvSpPr>
        <p:spPr>
          <a:xfrm>
            <a:off x="6151036" y="1682751"/>
            <a:ext cx="5501217" cy="43783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61216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able + Text Big bullet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AFFC8561-631E-4139-86BF-A09E9DC54582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20" name="Segnaposto tabella 4"/>
          <p:cNvSpPr>
            <a:spLocks noGrp="1"/>
          </p:cNvSpPr>
          <p:nvPr>
            <p:ph type="tbl" sz="quarter" idx="19"/>
          </p:nvPr>
        </p:nvSpPr>
        <p:spPr>
          <a:xfrm>
            <a:off x="463551" y="1682751"/>
            <a:ext cx="11182349" cy="2976563"/>
          </a:xfrm>
        </p:spPr>
        <p:txBody>
          <a:bodyPr/>
          <a:lstStyle/>
          <a:p>
            <a:r>
              <a:rPr lang="en-US"/>
              <a:t>Click icon to add table</a:t>
            </a:r>
            <a:endParaRPr lang="it-IT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6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3" y="4763497"/>
            <a:ext cx="11188700" cy="1302391"/>
          </a:xfrm>
        </p:spPr>
        <p:txBody>
          <a:bodyPr wrap="square"/>
          <a:lstStyle>
            <a:lvl1pPr marL="0" indent="0" algn="l">
              <a:lnSpc>
                <a:spcPct val="100000"/>
              </a:lnSpc>
              <a:buClr>
                <a:schemeClr val="tx2"/>
              </a:buClr>
              <a:buFont typeface="Wingdings" charset="2"/>
              <a:buChar char="v"/>
              <a:defRPr sz="2667" b="1" i="0" baseline="0"/>
            </a:lvl1pPr>
            <a:lvl2pPr marL="547186" indent="-259194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charset="2"/>
              <a:buChar char="§"/>
              <a:defRPr sz="1333" baseline="0"/>
            </a:lvl2pPr>
            <a:lvl3pPr marL="547186" indent="-259194">
              <a:lnSpc>
                <a:spcPct val="100000"/>
              </a:lnSpc>
              <a:buClr>
                <a:schemeClr val="tx1"/>
              </a:buClr>
              <a:buFont typeface="Lucida Grande"/>
              <a:buChar char="-"/>
              <a:defRPr sz="1333"/>
            </a:lvl3pPr>
            <a:lvl4pPr marL="547186" indent="-259194">
              <a:lnSpc>
                <a:spcPct val="100000"/>
              </a:lnSpc>
              <a:defRPr sz="1333"/>
            </a:lvl4pPr>
            <a:lvl5pPr marL="547186" indent="-259194">
              <a:lnSpc>
                <a:spcPct val="100000"/>
              </a:lnSpc>
              <a:buClr>
                <a:schemeClr val="tx1"/>
              </a:buClr>
              <a:buFont typeface="Wingdings" charset="2"/>
              <a:buChar char="Ø"/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</p:spTree>
    <p:extLst>
      <p:ext uri="{BB962C8B-B14F-4D97-AF65-F5344CB8AC3E}">
        <p14:creationId xmlns:p14="http://schemas.microsoft.com/office/powerpoint/2010/main" val="76114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rts + Tables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E2CCFC00-28A6-49A1-8703-7BEBAE422FE4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8" name="Segnaposto grafico 17"/>
          <p:cNvSpPr>
            <a:spLocks noGrp="1"/>
          </p:cNvSpPr>
          <p:nvPr>
            <p:ph type="chart" sz="quarter" idx="17"/>
          </p:nvPr>
        </p:nvSpPr>
        <p:spPr>
          <a:xfrm>
            <a:off x="6151069" y="1698841"/>
            <a:ext cx="5501428" cy="2101273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  <p:sp>
        <p:nvSpPr>
          <p:cNvPr id="24" name="Segnaposto tabella 2"/>
          <p:cNvSpPr>
            <a:spLocks noGrp="1"/>
          </p:cNvSpPr>
          <p:nvPr>
            <p:ph type="tbl" sz="quarter" idx="21"/>
          </p:nvPr>
        </p:nvSpPr>
        <p:spPr>
          <a:xfrm>
            <a:off x="6151068" y="4066644"/>
            <a:ext cx="5494248" cy="2016945"/>
          </a:xfrm>
        </p:spPr>
        <p:txBody>
          <a:bodyPr/>
          <a:lstStyle/>
          <a:p>
            <a:r>
              <a:rPr lang="en-US"/>
              <a:t>Click icon to add table</a:t>
            </a:r>
            <a:endParaRPr lang="it-IT"/>
          </a:p>
        </p:txBody>
      </p:sp>
      <p:sp>
        <p:nvSpPr>
          <p:cNvPr id="25" name="Segnaposto grafico 17"/>
          <p:cNvSpPr>
            <a:spLocks noGrp="1"/>
          </p:cNvSpPr>
          <p:nvPr>
            <p:ph type="chart" sz="quarter" idx="22"/>
          </p:nvPr>
        </p:nvSpPr>
        <p:spPr>
          <a:xfrm>
            <a:off x="463069" y="1698841"/>
            <a:ext cx="5501428" cy="2101273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  <p:sp>
        <p:nvSpPr>
          <p:cNvPr id="26" name="Segnaposto tabella 2"/>
          <p:cNvSpPr>
            <a:spLocks noGrp="1"/>
          </p:cNvSpPr>
          <p:nvPr>
            <p:ph type="tbl" sz="quarter" idx="23"/>
          </p:nvPr>
        </p:nvSpPr>
        <p:spPr>
          <a:xfrm>
            <a:off x="463068" y="4066644"/>
            <a:ext cx="5494248" cy="2016945"/>
          </a:xfrm>
        </p:spPr>
        <p:txBody>
          <a:bodyPr/>
          <a:lstStyle/>
          <a:p>
            <a:r>
              <a:rPr lang="en-US"/>
              <a:t>Click icon to add table</a:t>
            </a:r>
            <a:endParaRPr lang="it-IT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7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7" name="Immagin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9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49051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8368E82C-A309-4288-80B1-197B7D172E88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2" name="Freccia destra 1"/>
          <p:cNvSpPr/>
          <p:nvPr userDrawn="1"/>
        </p:nvSpPr>
        <p:spPr>
          <a:xfrm flipV="1">
            <a:off x="463068" y="3728136"/>
            <a:ext cx="11189427" cy="235527"/>
          </a:xfrm>
          <a:prstGeom prst="rightArrow">
            <a:avLst>
              <a:gd name="adj1" fmla="val 50000"/>
              <a:gd name="adj2" fmla="val 1513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924215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10" name="Connettore 1 9"/>
          <p:cNvCxnSpPr/>
          <p:nvPr userDrawn="1"/>
        </p:nvCxnSpPr>
        <p:spPr>
          <a:xfrm>
            <a:off x="463069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/>
          <p:cNvCxnSpPr/>
          <p:nvPr userDrawn="1"/>
        </p:nvCxnSpPr>
        <p:spPr>
          <a:xfrm flipV="1">
            <a:off x="1396965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2021739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32" name="Connettore 1 31"/>
          <p:cNvCxnSpPr/>
          <p:nvPr userDrawn="1"/>
        </p:nvCxnSpPr>
        <p:spPr>
          <a:xfrm>
            <a:off x="1560593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32"/>
          <p:cNvCxnSpPr/>
          <p:nvPr userDrawn="1"/>
        </p:nvCxnSpPr>
        <p:spPr>
          <a:xfrm flipV="1">
            <a:off x="2494489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egnaposto testo 3"/>
          <p:cNvSpPr>
            <a:spLocks noGrp="1"/>
          </p:cNvSpPr>
          <p:nvPr>
            <p:ph type="body" sz="quarter" idx="16" hasCustomPrompt="1"/>
          </p:nvPr>
        </p:nvSpPr>
        <p:spPr>
          <a:xfrm>
            <a:off x="3074859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35" name="Connettore 1 34"/>
          <p:cNvCxnSpPr/>
          <p:nvPr userDrawn="1"/>
        </p:nvCxnSpPr>
        <p:spPr>
          <a:xfrm>
            <a:off x="2613713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 userDrawn="1"/>
        </p:nvCxnSpPr>
        <p:spPr>
          <a:xfrm flipV="1">
            <a:off x="3547609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egnaposto tes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187152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41" name="Connettore 1 40"/>
          <p:cNvCxnSpPr/>
          <p:nvPr userDrawn="1"/>
        </p:nvCxnSpPr>
        <p:spPr>
          <a:xfrm>
            <a:off x="3726006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/>
          <p:nvPr userDrawn="1"/>
        </p:nvCxnSpPr>
        <p:spPr>
          <a:xfrm flipV="1">
            <a:off x="4659903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egnaposto testo 3"/>
          <p:cNvSpPr>
            <a:spLocks noGrp="1"/>
          </p:cNvSpPr>
          <p:nvPr>
            <p:ph type="body" sz="quarter" idx="18" hasCustomPrompt="1"/>
          </p:nvPr>
        </p:nvSpPr>
        <p:spPr>
          <a:xfrm>
            <a:off x="5228101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44" name="Connettore 1 43"/>
          <p:cNvCxnSpPr/>
          <p:nvPr userDrawn="1"/>
        </p:nvCxnSpPr>
        <p:spPr>
          <a:xfrm>
            <a:off x="4766956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/>
          <p:nvPr userDrawn="1"/>
        </p:nvCxnSpPr>
        <p:spPr>
          <a:xfrm flipV="1">
            <a:off x="5700852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3"/>
          <p:cNvSpPr>
            <a:spLocks noGrp="1"/>
          </p:cNvSpPr>
          <p:nvPr>
            <p:ph type="body" sz="quarter" idx="19" hasCustomPrompt="1"/>
          </p:nvPr>
        </p:nvSpPr>
        <p:spPr>
          <a:xfrm>
            <a:off x="6352565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47" name="Connettore 1 46"/>
          <p:cNvCxnSpPr/>
          <p:nvPr userDrawn="1"/>
        </p:nvCxnSpPr>
        <p:spPr>
          <a:xfrm>
            <a:off x="5891419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/>
          <p:cNvCxnSpPr/>
          <p:nvPr userDrawn="1"/>
        </p:nvCxnSpPr>
        <p:spPr>
          <a:xfrm flipV="1">
            <a:off x="6825316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egnaposto testo 3"/>
          <p:cNvSpPr>
            <a:spLocks noGrp="1"/>
          </p:cNvSpPr>
          <p:nvPr>
            <p:ph type="body" sz="quarter" idx="20" hasCustomPrompt="1"/>
          </p:nvPr>
        </p:nvSpPr>
        <p:spPr>
          <a:xfrm>
            <a:off x="8497455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50" name="Connettore 1 49"/>
          <p:cNvCxnSpPr/>
          <p:nvPr userDrawn="1"/>
        </p:nvCxnSpPr>
        <p:spPr>
          <a:xfrm>
            <a:off x="8036309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50"/>
          <p:cNvCxnSpPr/>
          <p:nvPr userDrawn="1"/>
        </p:nvCxnSpPr>
        <p:spPr>
          <a:xfrm flipV="1">
            <a:off x="8970205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egnaposto testo 3"/>
          <p:cNvSpPr>
            <a:spLocks noGrp="1"/>
          </p:cNvSpPr>
          <p:nvPr>
            <p:ph type="body" sz="quarter" idx="21" hasCustomPrompt="1"/>
          </p:nvPr>
        </p:nvSpPr>
        <p:spPr>
          <a:xfrm>
            <a:off x="7410287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53" name="Connettore 1 52"/>
          <p:cNvCxnSpPr/>
          <p:nvPr userDrawn="1"/>
        </p:nvCxnSpPr>
        <p:spPr>
          <a:xfrm>
            <a:off x="6949141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/>
          <p:cNvCxnSpPr/>
          <p:nvPr userDrawn="1"/>
        </p:nvCxnSpPr>
        <p:spPr>
          <a:xfrm flipV="1">
            <a:off x="7883037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Segnaposto testo 3"/>
          <p:cNvSpPr>
            <a:spLocks noGrp="1"/>
          </p:cNvSpPr>
          <p:nvPr>
            <p:ph type="body" sz="quarter" idx="22" hasCustomPrompt="1"/>
          </p:nvPr>
        </p:nvSpPr>
        <p:spPr>
          <a:xfrm>
            <a:off x="9555133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56" name="Connettore 1 55"/>
          <p:cNvCxnSpPr/>
          <p:nvPr userDrawn="1"/>
        </p:nvCxnSpPr>
        <p:spPr>
          <a:xfrm>
            <a:off x="9093988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1 56"/>
          <p:cNvCxnSpPr/>
          <p:nvPr userDrawn="1"/>
        </p:nvCxnSpPr>
        <p:spPr>
          <a:xfrm flipV="1">
            <a:off x="10027884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egnaposto testo 59"/>
          <p:cNvSpPr>
            <a:spLocks noGrp="1"/>
          </p:cNvSpPr>
          <p:nvPr>
            <p:ph type="body" sz="quarter" idx="23"/>
          </p:nvPr>
        </p:nvSpPr>
        <p:spPr>
          <a:xfrm>
            <a:off x="463551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1" name="Segnaposto testo 59"/>
          <p:cNvSpPr>
            <a:spLocks noGrp="1"/>
          </p:cNvSpPr>
          <p:nvPr>
            <p:ph type="body" sz="quarter" idx="24"/>
          </p:nvPr>
        </p:nvSpPr>
        <p:spPr>
          <a:xfrm>
            <a:off x="2630035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2" name="Segnaposto testo 59"/>
          <p:cNvSpPr>
            <a:spLocks noGrp="1"/>
          </p:cNvSpPr>
          <p:nvPr>
            <p:ph type="body" sz="quarter" idx="25"/>
          </p:nvPr>
        </p:nvSpPr>
        <p:spPr>
          <a:xfrm>
            <a:off x="4766954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3" name="Segnaposto testo 59"/>
          <p:cNvSpPr>
            <a:spLocks noGrp="1"/>
          </p:cNvSpPr>
          <p:nvPr>
            <p:ph type="body" sz="quarter" idx="26"/>
          </p:nvPr>
        </p:nvSpPr>
        <p:spPr>
          <a:xfrm>
            <a:off x="6963826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4" name="Segnaposto testo 59"/>
          <p:cNvSpPr>
            <a:spLocks noGrp="1"/>
          </p:cNvSpPr>
          <p:nvPr>
            <p:ph type="body" sz="quarter" idx="27"/>
          </p:nvPr>
        </p:nvSpPr>
        <p:spPr>
          <a:xfrm>
            <a:off x="9126056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0" name="Segnaposto testo 59"/>
          <p:cNvSpPr>
            <a:spLocks noGrp="1"/>
          </p:cNvSpPr>
          <p:nvPr>
            <p:ph type="body" sz="quarter" idx="29"/>
          </p:nvPr>
        </p:nvSpPr>
        <p:spPr>
          <a:xfrm>
            <a:off x="1563091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1" name="Segnaposto testo 59"/>
          <p:cNvSpPr>
            <a:spLocks noGrp="1"/>
          </p:cNvSpPr>
          <p:nvPr>
            <p:ph type="body" sz="quarter" idx="30"/>
          </p:nvPr>
        </p:nvSpPr>
        <p:spPr>
          <a:xfrm>
            <a:off x="3726616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2" name="Segnaposto testo 59"/>
          <p:cNvSpPr>
            <a:spLocks noGrp="1"/>
          </p:cNvSpPr>
          <p:nvPr>
            <p:ph type="body" sz="quarter" idx="31"/>
          </p:nvPr>
        </p:nvSpPr>
        <p:spPr>
          <a:xfrm>
            <a:off x="5907742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3" name="Segnaposto testo 59"/>
          <p:cNvSpPr>
            <a:spLocks noGrp="1"/>
          </p:cNvSpPr>
          <p:nvPr>
            <p:ph type="body" sz="quarter" idx="32"/>
          </p:nvPr>
        </p:nvSpPr>
        <p:spPr>
          <a:xfrm>
            <a:off x="8036919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6" name="Immagine 6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5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67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004416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6E737B97-21C7-4688-90E3-090BCAD7A83F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825362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A80C8A73-C75C-472E-AB4E-097F6B22E0B8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0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6135580" y="1682751"/>
            <a:ext cx="5509737" cy="4378325"/>
          </a:xfrm>
        </p:spPr>
        <p:txBody>
          <a:bodyPr tIns="46800"/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bla bla bla bla bla bla bla bla </a:t>
            </a:r>
          </a:p>
        </p:txBody>
      </p:sp>
      <p:sp>
        <p:nvSpPr>
          <p:cNvPr id="11" name="Segnaposto testo 18"/>
          <p:cNvSpPr>
            <a:spLocks noGrp="1"/>
          </p:cNvSpPr>
          <p:nvPr>
            <p:ph type="body" sz="quarter" idx="15" hasCustomPrompt="1"/>
          </p:nvPr>
        </p:nvSpPr>
        <p:spPr>
          <a:xfrm>
            <a:off x="463069" y="1682751"/>
            <a:ext cx="5509737" cy="4378325"/>
          </a:xfrm>
        </p:spPr>
        <p:txBody>
          <a:bodyPr tIns="50400"/>
          <a:lstStyle>
            <a:lvl1pPr>
              <a:lnSpc>
                <a:spcPct val="100000"/>
              </a:lnSpc>
              <a:defRPr sz="4800" b="1" i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79%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859099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am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622C189F-D368-417E-9266-651624368B04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295"/>
            <a:ext cx="1780813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>
              <a:lnSpc>
                <a:spcPct val="95825"/>
              </a:lnSpc>
              <a:spcBef>
                <a:spcPts val="13"/>
              </a:spcBef>
            </a:pPr>
            <a:r>
              <a:rPr lang="it-IT" sz="2000" spc="0">
                <a:solidFill>
                  <a:schemeClr val="tx2"/>
                </a:solidFill>
                <a:latin typeface="Arial"/>
                <a:cs typeface="Arial"/>
              </a:rPr>
              <a:t>Team</a:t>
            </a:r>
            <a:endParaRPr sz="2667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5" name="Segnaposto testo 5"/>
          <p:cNvSpPr>
            <a:spLocks noGrp="1"/>
          </p:cNvSpPr>
          <p:nvPr>
            <p:ph type="body" sz="quarter" idx="14" hasCustomPrompt="1"/>
          </p:nvPr>
        </p:nvSpPr>
        <p:spPr>
          <a:xfrm>
            <a:off x="463067" y="1223965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18" name="Segnaposto testo 5"/>
          <p:cNvSpPr>
            <a:spLocks noGrp="1"/>
          </p:cNvSpPr>
          <p:nvPr>
            <p:ph type="body" sz="quarter" idx="16" hasCustomPrompt="1"/>
          </p:nvPr>
        </p:nvSpPr>
        <p:spPr>
          <a:xfrm>
            <a:off x="463067" y="146257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19" name="Segnaposto testo 5"/>
          <p:cNvSpPr>
            <a:spLocks noGrp="1"/>
          </p:cNvSpPr>
          <p:nvPr>
            <p:ph type="body" sz="quarter" idx="17" hasCustomPrompt="1"/>
          </p:nvPr>
        </p:nvSpPr>
        <p:spPr>
          <a:xfrm>
            <a:off x="463551" y="1678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0" name="Segnaposto testo 5"/>
          <p:cNvSpPr>
            <a:spLocks noGrp="1"/>
          </p:cNvSpPr>
          <p:nvPr>
            <p:ph type="body" sz="quarter" idx="18" hasCustomPrompt="1"/>
          </p:nvPr>
        </p:nvSpPr>
        <p:spPr>
          <a:xfrm>
            <a:off x="463067" y="1893602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21" name="Segnaposto testo 5"/>
          <p:cNvSpPr>
            <a:spLocks noGrp="1"/>
          </p:cNvSpPr>
          <p:nvPr>
            <p:ph type="body" sz="quarter" idx="19" hasCustomPrompt="1"/>
          </p:nvPr>
        </p:nvSpPr>
        <p:spPr>
          <a:xfrm>
            <a:off x="463067" y="2216874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2" name="Segnaposto testo 5"/>
          <p:cNvSpPr>
            <a:spLocks noGrp="1"/>
          </p:cNvSpPr>
          <p:nvPr>
            <p:ph type="body" sz="quarter" idx="20" hasCustomPrompt="1"/>
          </p:nvPr>
        </p:nvSpPr>
        <p:spPr>
          <a:xfrm>
            <a:off x="463067" y="245547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23" name="Segnaposto testo 5"/>
          <p:cNvSpPr>
            <a:spLocks noGrp="1"/>
          </p:cNvSpPr>
          <p:nvPr>
            <p:ph type="body" sz="quarter" idx="21" hasCustomPrompt="1"/>
          </p:nvPr>
        </p:nvSpPr>
        <p:spPr>
          <a:xfrm>
            <a:off x="463551" y="2670994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4" name="Segnaposto testo 5"/>
          <p:cNvSpPr>
            <a:spLocks noGrp="1"/>
          </p:cNvSpPr>
          <p:nvPr>
            <p:ph type="body" sz="quarter" idx="22" hasCustomPrompt="1"/>
          </p:nvPr>
        </p:nvSpPr>
        <p:spPr>
          <a:xfrm>
            <a:off x="463067" y="2886511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25" name="Segnaposto testo 5"/>
          <p:cNvSpPr>
            <a:spLocks noGrp="1"/>
          </p:cNvSpPr>
          <p:nvPr>
            <p:ph type="body" sz="quarter" idx="23" hasCustomPrompt="1"/>
          </p:nvPr>
        </p:nvSpPr>
        <p:spPr>
          <a:xfrm>
            <a:off x="463067" y="321747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6" name="Segnaposto testo 5"/>
          <p:cNvSpPr>
            <a:spLocks noGrp="1"/>
          </p:cNvSpPr>
          <p:nvPr>
            <p:ph type="body" sz="quarter" idx="24" hasCustomPrompt="1"/>
          </p:nvPr>
        </p:nvSpPr>
        <p:spPr>
          <a:xfrm>
            <a:off x="463067" y="3456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27" name="Segnaposto testo 5"/>
          <p:cNvSpPr>
            <a:spLocks noGrp="1"/>
          </p:cNvSpPr>
          <p:nvPr>
            <p:ph type="body" sz="quarter" idx="25" hasCustomPrompt="1"/>
          </p:nvPr>
        </p:nvSpPr>
        <p:spPr>
          <a:xfrm>
            <a:off x="463551" y="367160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8" name="Segnaposto testo 5"/>
          <p:cNvSpPr>
            <a:spLocks noGrp="1"/>
          </p:cNvSpPr>
          <p:nvPr>
            <p:ph type="body" sz="quarter" idx="26" hasCustomPrompt="1"/>
          </p:nvPr>
        </p:nvSpPr>
        <p:spPr>
          <a:xfrm>
            <a:off x="463067" y="3887117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29" name="Segnaposto testo 5"/>
          <p:cNvSpPr>
            <a:spLocks noGrp="1"/>
          </p:cNvSpPr>
          <p:nvPr>
            <p:ph type="body" sz="quarter" idx="27" hasCustomPrompt="1"/>
          </p:nvPr>
        </p:nvSpPr>
        <p:spPr>
          <a:xfrm>
            <a:off x="463067" y="421038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30" name="Segnaposto testo 5"/>
          <p:cNvSpPr>
            <a:spLocks noGrp="1"/>
          </p:cNvSpPr>
          <p:nvPr>
            <p:ph type="body" sz="quarter" idx="28" hasCustomPrompt="1"/>
          </p:nvPr>
        </p:nvSpPr>
        <p:spPr>
          <a:xfrm>
            <a:off x="463067" y="444899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31" name="Segnaposto testo 5"/>
          <p:cNvSpPr>
            <a:spLocks noGrp="1"/>
          </p:cNvSpPr>
          <p:nvPr>
            <p:ph type="body" sz="quarter" idx="29" hasCustomPrompt="1"/>
          </p:nvPr>
        </p:nvSpPr>
        <p:spPr>
          <a:xfrm>
            <a:off x="463551" y="4664510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32" name="Segnaposto testo 5"/>
          <p:cNvSpPr>
            <a:spLocks noGrp="1"/>
          </p:cNvSpPr>
          <p:nvPr>
            <p:ph type="body" sz="quarter" idx="30" hasCustomPrompt="1"/>
          </p:nvPr>
        </p:nvSpPr>
        <p:spPr>
          <a:xfrm>
            <a:off x="463067" y="4880026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33" name="Segnaposto testo 5"/>
          <p:cNvSpPr>
            <a:spLocks noGrp="1"/>
          </p:cNvSpPr>
          <p:nvPr>
            <p:ph type="body" sz="quarter" idx="31" hasCustomPrompt="1"/>
          </p:nvPr>
        </p:nvSpPr>
        <p:spPr>
          <a:xfrm>
            <a:off x="463067" y="520329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34" name="Segnaposto testo 5"/>
          <p:cNvSpPr>
            <a:spLocks noGrp="1"/>
          </p:cNvSpPr>
          <p:nvPr>
            <p:ph type="body" sz="quarter" idx="32" hasCustomPrompt="1"/>
          </p:nvPr>
        </p:nvSpPr>
        <p:spPr>
          <a:xfrm>
            <a:off x="463067" y="544190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35" name="Segnaposto testo 5"/>
          <p:cNvSpPr>
            <a:spLocks noGrp="1"/>
          </p:cNvSpPr>
          <p:nvPr>
            <p:ph type="body" sz="quarter" idx="33" hasCustomPrompt="1"/>
          </p:nvPr>
        </p:nvSpPr>
        <p:spPr>
          <a:xfrm>
            <a:off x="463551" y="565741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36" name="Segnaposto testo 5"/>
          <p:cNvSpPr>
            <a:spLocks noGrp="1"/>
          </p:cNvSpPr>
          <p:nvPr>
            <p:ph type="body" sz="quarter" idx="34" hasCustomPrompt="1"/>
          </p:nvPr>
        </p:nvSpPr>
        <p:spPr>
          <a:xfrm>
            <a:off x="463067" y="5872935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37" name="Segnaposto testo 5"/>
          <p:cNvSpPr>
            <a:spLocks noGrp="1"/>
          </p:cNvSpPr>
          <p:nvPr>
            <p:ph type="body" sz="quarter" idx="35" hasCustomPrompt="1"/>
          </p:nvPr>
        </p:nvSpPr>
        <p:spPr>
          <a:xfrm>
            <a:off x="6153460" y="1223965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38" name="Segnaposto testo 5"/>
          <p:cNvSpPr>
            <a:spLocks noGrp="1"/>
          </p:cNvSpPr>
          <p:nvPr>
            <p:ph type="body" sz="quarter" idx="36" hasCustomPrompt="1"/>
          </p:nvPr>
        </p:nvSpPr>
        <p:spPr>
          <a:xfrm>
            <a:off x="6153460" y="146257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39" name="Segnaposto testo 5"/>
          <p:cNvSpPr>
            <a:spLocks noGrp="1"/>
          </p:cNvSpPr>
          <p:nvPr>
            <p:ph type="body" sz="quarter" idx="37" hasCustomPrompt="1"/>
          </p:nvPr>
        </p:nvSpPr>
        <p:spPr>
          <a:xfrm>
            <a:off x="6153944" y="1678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0" name="Segnaposto testo 5"/>
          <p:cNvSpPr>
            <a:spLocks noGrp="1"/>
          </p:cNvSpPr>
          <p:nvPr>
            <p:ph type="body" sz="quarter" idx="38" hasCustomPrompt="1"/>
          </p:nvPr>
        </p:nvSpPr>
        <p:spPr>
          <a:xfrm>
            <a:off x="6153460" y="1893602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41" name="Segnaposto testo 5"/>
          <p:cNvSpPr>
            <a:spLocks noGrp="1"/>
          </p:cNvSpPr>
          <p:nvPr>
            <p:ph type="body" sz="quarter" idx="39" hasCustomPrompt="1"/>
          </p:nvPr>
        </p:nvSpPr>
        <p:spPr>
          <a:xfrm>
            <a:off x="6153460" y="2216874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42" name="Segnaposto testo 5"/>
          <p:cNvSpPr>
            <a:spLocks noGrp="1"/>
          </p:cNvSpPr>
          <p:nvPr>
            <p:ph type="body" sz="quarter" idx="40" hasCustomPrompt="1"/>
          </p:nvPr>
        </p:nvSpPr>
        <p:spPr>
          <a:xfrm>
            <a:off x="6153460" y="245547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43" name="Segnaposto testo 5"/>
          <p:cNvSpPr>
            <a:spLocks noGrp="1"/>
          </p:cNvSpPr>
          <p:nvPr>
            <p:ph type="body" sz="quarter" idx="41" hasCustomPrompt="1"/>
          </p:nvPr>
        </p:nvSpPr>
        <p:spPr>
          <a:xfrm>
            <a:off x="6153944" y="2670994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4" name="Segnaposto testo 5"/>
          <p:cNvSpPr>
            <a:spLocks noGrp="1"/>
          </p:cNvSpPr>
          <p:nvPr>
            <p:ph type="body" sz="quarter" idx="42" hasCustomPrompt="1"/>
          </p:nvPr>
        </p:nvSpPr>
        <p:spPr>
          <a:xfrm>
            <a:off x="6153460" y="2886511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45" name="Segnaposto testo 5"/>
          <p:cNvSpPr>
            <a:spLocks noGrp="1"/>
          </p:cNvSpPr>
          <p:nvPr>
            <p:ph type="body" sz="quarter" idx="43" hasCustomPrompt="1"/>
          </p:nvPr>
        </p:nvSpPr>
        <p:spPr>
          <a:xfrm>
            <a:off x="6153460" y="321747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46" name="Segnaposto testo 5"/>
          <p:cNvSpPr>
            <a:spLocks noGrp="1"/>
          </p:cNvSpPr>
          <p:nvPr>
            <p:ph type="body" sz="quarter" idx="44" hasCustomPrompt="1"/>
          </p:nvPr>
        </p:nvSpPr>
        <p:spPr>
          <a:xfrm>
            <a:off x="6153460" y="3456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47" name="Segnaposto testo 5"/>
          <p:cNvSpPr>
            <a:spLocks noGrp="1"/>
          </p:cNvSpPr>
          <p:nvPr>
            <p:ph type="body" sz="quarter" idx="45" hasCustomPrompt="1"/>
          </p:nvPr>
        </p:nvSpPr>
        <p:spPr>
          <a:xfrm>
            <a:off x="6153944" y="367160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8" name="Segnaposto testo 5"/>
          <p:cNvSpPr>
            <a:spLocks noGrp="1"/>
          </p:cNvSpPr>
          <p:nvPr>
            <p:ph type="body" sz="quarter" idx="46" hasCustomPrompt="1"/>
          </p:nvPr>
        </p:nvSpPr>
        <p:spPr>
          <a:xfrm>
            <a:off x="6153460" y="3887117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49" name="Segnaposto testo 5"/>
          <p:cNvSpPr>
            <a:spLocks noGrp="1"/>
          </p:cNvSpPr>
          <p:nvPr>
            <p:ph type="body" sz="quarter" idx="47" hasCustomPrompt="1"/>
          </p:nvPr>
        </p:nvSpPr>
        <p:spPr>
          <a:xfrm>
            <a:off x="6153460" y="421038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50" name="Segnaposto testo 5"/>
          <p:cNvSpPr>
            <a:spLocks noGrp="1"/>
          </p:cNvSpPr>
          <p:nvPr>
            <p:ph type="body" sz="quarter" idx="48" hasCustomPrompt="1"/>
          </p:nvPr>
        </p:nvSpPr>
        <p:spPr>
          <a:xfrm>
            <a:off x="6153460" y="444899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51" name="Segnaposto testo 5"/>
          <p:cNvSpPr>
            <a:spLocks noGrp="1"/>
          </p:cNvSpPr>
          <p:nvPr>
            <p:ph type="body" sz="quarter" idx="49" hasCustomPrompt="1"/>
          </p:nvPr>
        </p:nvSpPr>
        <p:spPr>
          <a:xfrm>
            <a:off x="6153944" y="4664510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52" name="Segnaposto testo 5"/>
          <p:cNvSpPr>
            <a:spLocks noGrp="1"/>
          </p:cNvSpPr>
          <p:nvPr>
            <p:ph type="body" sz="quarter" idx="50" hasCustomPrompt="1"/>
          </p:nvPr>
        </p:nvSpPr>
        <p:spPr>
          <a:xfrm>
            <a:off x="6153460" y="4880026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53" name="Segnaposto testo 5"/>
          <p:cNvSpPr>
            <a:spLocks noGrp="1"/>
          </p:cNvSpPr>
          <p:nvPr>
            <p:ph type="body" sz="quarter" idx="51" hasCustomPrompt="1"/>
          </p:nvPr>
        </p:nvSpPr>
        <p:spPr>
          <a:xfrm>
            <a:off x="6153460" y="520329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54" name="Segnaposto testo 5"/>
          <p:cNvSpPr>
            <a:spLocks noGrp="1"/>
          </p:cNvSpPr>
          <p:nvPr>
            <p:ph type="body" sz="quarter" idx="52" hasCustomPrompt="1"/>
          </p:nvPr>
        </p:nvSpPr>
        <p:spPr>
          <a:xfrm>
            <a:off x="6153460" y="544190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55" name="Segnaposto testo 5"/>
          <p:cNvSpPr>
            <a:spLocks noGrp="1"/>
          </p:cNvSpPr>
          <p:nvPr>
            <p:ph type="body" sz="quarter" idx="53" hasCustomPrompt="1"/>
          </p:nvPr>
        </p:nvSpPr>
        <p:spPr>
          <a:xfrm>
            <a:off x="6153944" y="565741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56" name="Segnaposto testo 5"/>
          <p:cNvSpPr>
            <a:spLocks noGrp="1"/>
          </p:cNvSpPr>
          <p:nvPr>
            <p:ph type="body" sz="quarter" idx="54" hasCustomPrompt="1"/>
          </p:nvPr>
        </p:nvSpPr>
        <p:spPr>
          <a:xfrm>
            <a:off x="6153460" y="5872935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pic>
        <p:nvPicPr>
          <p:cNvPr id="58" name="Immagine 5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24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1CD66EC7-2FE0-4E22-9274-400F04532668}" type="datetime1">
              <a:rPr lang="en-US" smtClean="0"/>
              <a:t>10/20/2025</a:t>
            </a:fld>
            <a:endParaRPr lang="it-IT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object 3"/>
          <p:cNvSpPr txBox="1"/>
          <p:nvPr userDrawn="1"/>
        </p:nvSpPr>
        <p:spPr>
          <a:xfrm>
            <a:off x="477032" y="716295"/>
            <a:ext cx="3484341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>
              <a:lnSpc>
                <a:spcPct val="95825"/>
              </a:lnSpc>
              <a:spcBef>
                <a:spcPts val="13"/>
              </a:spcBef>
            </a:pPr>
            <a:r>
              <a:rPr lang="it-IT" sz="2000" spc="0" err="1">
                <a:solidFill>
                  <a:schemeClr val="tx2"/>
                </a:solidFill>
                <a:latin typeface="Arial"/>
                <a:cs typeface="Arial"/>
              </a:rPr>
              <a:t>Next</a:t>
            </a:r>
            <a:r>
              <a:rPr lang="it-IT" sz="2000" spc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it-IT" sz="2000" spc="0" err="1">
                <a:solidFill>
                  <a:schemeClr val="tx2"/>
                </a:solidFill>
                <a:latin typeface="Arial"/>
                <a:cs typeface="Arial"/>
              </a:rPr>
              <a:t>steps</a:t>
            </a:r>
            <a:endParaRPr sz="200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1" name="Picture 16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13" name="Segnaposto testo 54"/>
          <p:cNvSpPr>
            <a:spLocks noGrp="1"/>
          </p:cNvSpPr>
          <p:nvPr>
            <p:ph type="body" sz="quarter" idx="57" hasCustomPrompt="1"/>
          </p:nvPr>
        </p:nvSpPr>
        <p:spPr>
          <a:xfrm>
            <a:off x="6151065" y="122396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4" name="Segnaposto testo 54"/>
          <p:cNvSpPr>
            <a:spLocks noGrp="1"/>
          </p:cNvSpPr>
          <p:nvPr>
            <p:ph type="body" sz="quarter" idx="58" hasCustomPrompt="1"/>
          </p:nvPr>
        </p:nvSpPr>
        <p:spPr>
          <a:xfrm>
            <a:off x="6151069" y="150259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pic>
        <p:nvPicPr>
          <p:cNvPr id="37" name="Immagine 3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36" name="Segnaposto testo 54"/>
          <p:cNvSpPr>
            <a:spLocks noGrp="1"/>
          </p:cNvSpPr>
          <p:nvPr>
            <p:ph type="body" sz="quarter" idx="59" hasCustomPrompt="1"/>
          </p:nvPr>
        </p:nvSpPr>
        <p:spPr>
          <a:xfrm>
            <a:off x="515377" y="122396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38" name="Segnaposto testo 54"/>
          <p:cNvSpPr>
            <a:spLocks noGrp="1"/>
          </p:cNvSpPr>
          <p:nvPr>
            <p:ph type="body" sz="quarter" idx="60" hasCustomPrompt="1"/>
          </p:nvPr>
        </p:nvSpPr>
        <p:spPr>
          <a:xfrm>
            <a:off x="515381" y="150259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39" name="Segnaposto testo 54"/>
          <p:cNvSpPr>
            <a:spLocks noGrp="1"/>
          </p:cNvSpPr>
          <p:nvPr>
            <p:ph type="body" sz="quarter" idx="61" hasCustomPrompt="1"/>
          </p:nvPr>
        </p:nvSpPr>
        <p:spPr>
          <a:xfrm>
            <a:off x="6151065" y="2250272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0" name="Segnaposto testo 54"/>
          <p:cNvSpPr>
            <a:spLocks noGrp="1"/>
          </p:cNvSpPr>
          <p:nvPr>
            <p:ph type="body" sz="quarter" idx="62" hasCustomPrompt="1"/>
          </p:nvPr>
        </p:nvSpPr>
        <p:spPr>
          <a:xfrm>
            <a:off x="6151069" y="2528901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1" name="Segnaposto testo 54"/>
          <p:cNvSpPr>
            <a:spLocks noGrp="1"/>
          </p:cNvSpPr>
          <p:nvPr>
            <p:ph type="body" sz="quarter" idx="63" hasCustomPrompt="1"/>
          </p:nvPr>
        </p:nvSpPr>
        <p:spPr>
          <a:xfrm>
            <a:off x="515377" y="2250272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2" name="Segnaposto testo 54"/>
          <p:cNvSpPr>
            <a:spLocks noGrp="1"/>
          </p:cNvSpPr>
          <p:nvPr>
            <p:ph type="body" sz="quarter" idx="64" hasCustomPrompt="1"/>
          </p:nvPr>
        </p:nvSpPr>
        <p:spPr>
          <a:xfrm>
            <a:off x="515381" y="2528901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3" name="Segnaposto testo 54"/>
          <p:cNvSpPr>
            <a:spLocks noGrp="1"/>
          </p:cNvSpPr>
          <p:nvPr>
            <p:ph type="body" sz="quarter" idx="65" hasCustomPrompt="1"/>
          </p:nvPr>
        </p:nvSpPr>
        <p:spPr>
          <a:xfrm>
            <a:off x="6151065" y="327038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4" name="Segnaposto testo 54"/>
          <p:cNvSpPr>
            <a:spLocks noGrp="1"/>
          </p:cNvSpPr>
          <p:nvPr>
            <p:ph type="body" sz="quarter" idx="66" hasCustomPrompt="1"/>
          </p:nvPr>
        </p:nvSpPr>
        <p:spPr>
          <a:xfrm>
            <a:off x="6151069" y="354901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5" name="Segnaposto testo 54"/>
          <p:cNvSpPr>
            <a:spLocks noGrp="1"/>
          </p:cNvSpPr>
          <p:nvPr>
            <p:ph type="body" sz="quarter" idx="67" hasCustomPrompt="1"/>
          </p:nvPr>
        </p:nvSpPr>
        <p:spPr>
          <a:xfrm>
            <a:off x="515377" y="327038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6" name="Segnaposto testo 54"/>
          <p:cNvSpPr>
            <a:spLocks noGrp="1"/>
          </p:cNvSpPr>
          <p:nvPr>
            <p:ph type="body" sz="quarter" idx="68" hasCustomPrompt="1"/>
          </p:nvPr>
        </p:nvSpPr>
        <p:spPr>
          <a:xfrm>
            <a:off x="515381" y="354901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7" name="Segnaposto testo 54"/>
          <p:cNvSpPr>
            <a:spLocks noGrp="1"/>
          </p:cNvSpPr>
          <p:nvPr>
            <p:ph type="body" sz="quarter" idx="69" hasCustomPrompt="1"/>
          </p:nvPr>
        </p:nvSpPr>
        <p:spPr>
          <a:xfrm>
            <a:off x="6151065" y="4290498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8" name="Segnaposto testo 54"/>
          <p:cNvSpPr>
            <a:spLocks noGrp="1"/>
          </p:cNvSpPr>
          <p:nvPr>
            <p:ph type="body" sz="quarter" idx="70" hasCustomPrompt="1"/>
          </p:nvPr>
        </p:nvSpPr>
        <p:spPr>
          <a:xfrm>
            <a:off x="6151069" y="4569128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9" name="Segnaposto testo 54"/>
          <p:cNvSpPr>
            <a:spLocks noGrp="1"/>
          </p:cNvSpPr>
          <p:nvPr>
            <p:ph type="body" sz="quarter" idx="71" hasCustomPrompt="1"/>
          </p:nvPr>
        </p:nvSpPr>
        <p:spPr>
          <a:xfrm>
            <a:off x="515377" y="4290498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50" name="Segnaposto testo 54"/>
          <p:cNvSpPr>
            <a:spLocks noGrp="1"/>
          </p:cNvSpPr>
          <p:nvPr>
            <p:ph type="body" sz="quarter" idx="72" hasCustomPrompt="1"/>
          </p:nvPr>
        </p:nvSpPr>
        <p:spPr>
          <a:xfrm>
            <a:off x="515381" y="4569128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</p:spTree>
    <p:extLst>
      <p:ext uri="{BB962C8B-B14F-4D97-AF65-F5344CB8AC3E}">
        <p14:creationId xmlns:p14="http://schemas.microsoft.com/office/powerpoint/2010/main" val="2153639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rt + Numeric Highligh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AB9C11B8-EE86-4BD2-AD96-547A5DD31C48}" type="datetime1">
              <a:rPr lang="en-US" smtClean="0"/>
              <a:t>10/20/2025</a:t>
            </a:fld>
            <a:endParaRPr lang="it-IT"/>
          </a:p>
        </p:txBody>
      </p:sp>
      <p:sp>
        <p:nvSpPr>
          <p:cNvPr id="10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7" name="Segnaposto grafico 20"/>
          <p:cNvSpPr>
            <a:spLocks noGrp="1"/>
          </p:cNvSpPr>
          <p:nvPr>
            <p:ph type="chart" sz="quarter" idx="17"/>
          </p:nvPr>
        </p:nvSpPr>
        <p:spPr>
          <a:xfrm>
            <a:off x="463069" y="1682751"/>
            <a:ext cx="5501217" cy="4378325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  <p:sp>
        <p:nvSpPr>
          <p:cNvPr id="20" name="Segnaposto tes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061496" y="1682751"/>
            <a:ext cx="5591001" cy="1525588"/>
          </a:xfrm>
        </p:spPr>
        <p:txBody>
          <a:bodyPr numCol="1" spcCol="144000"/>
          <a:lstStyle>
            <a:lvl1pPr>
              <a:lnSpc>
                <a:spcPct val="100000"/>
              </a:lnSpc>
              <a:spcAft>
                <a:spcPts val="2400"/>
              </a:spcAft>
              <a:defRPr sz="9600" b="1" i="0" baseline="0">
                <a:solidFill>
                  <a:srgbClr val="BD0D22"/>
                </a:solidFill>
              </a:defRPr>
            </a:lvl1pPr>
            <a:lvl2pPr marL="0" indent="0">
              <a:buFontTx/>
              <a:buNone/>
              <a:defRPr baseline="0"/>
            </a:lvl2pPr>
          </a:lstStyle>
          <a:p>
            <a:pPr lvl="0"/>
            <a:r>
              <a:rPr lang="it-IT"/>
              <a:t>000,1%</a:t>
            </a:r>
          </a:p>
        </p:txBody>
      </p:sp>
      <p:sp>
        <p:nvSpPr>
          <p:cNvPr id="21" name="Segnaposto testo 2"/>
          <p:cNvSpPr>
            <a:spLocks noGrp="1"/>
          </p:cNvSpPr>
          <p:nvPr>
            <p:ph type="body" sz="quarter" idx="18" hasCustomPrompt="1"/>
          </p:nvPr>
        </p:nvSpPr>
        <p:spPr>
          <a:xfrm>
            <a:off x="6061496" y="3277348"/>
            <a:ext cx="5591001" cy="2783729"/>
          </a:xfrm>
        </p:spPr>
        <p:txBody>
          <a:bodyPr/>
          <a:lstStyle>
            <a:lvl1pPr>
              <a:defRPr b="1" i="0">
                <a:solidFill>
                  <a:schemeClr val="accent4"/>
                </a:solidFill>
              </a:defRPr>
            </a:lvl1pPr>
          </a:lstStyle>
          <a:p>
            <a:pPr lvl="0"/>
            <a:r>
              <a:rPr lang="it-IT"/>
              <a:t>Testo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5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8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819155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0" y="6459985"/>
            <a:ext cx="106560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C76311C7-1EFE-4072-9B11-4E72ED9535AF}" type="datetime1">
              <a:rPr lang="en-US" smtClean="0"/>
              <a:t>10/20/2025</a:t>
            </a:fld>
            <a:endParaRPr lang="it-IT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2" y="0"/>
            <a:ext cx="267377" cy="6858000"/>
          </a:xfrm>
          <a:prstGeom prst="rect">
            <a:avLst/>
          </a:prstGeom>
        </p:spPr>
      </p:pic>
      <p:sp>
        <p:nvSpPr>
          <p:cNvPr id="11" name="CasellaDiTesto 10"/>
          <p:cNvSpPr txBox="1"/>
          <p:nvPr userDrawn="1"/>
        </p:nvSpPr>
        <p:spPr>
          <a:xfrm>
            <a:off x="463068" y="3031069"/>
            <a:ext cx="11199776" cy="5078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4400" b="1" baseline="0" err="1">
                <a:solidFill>
                  <a:schemeClr val="tx2"/>
                </a:solidFill>
              </a:rPr>
              <a:t>Thank</a:t>
            </a:r>
            <a:r>
              <a:rPr lang="it-IT" sz="4400" b="1" baseline="0">
                <a:solidFill>
                  <a:schemeClr val="tx2"/>
                </a:solidFill>
              </a:rPr>
              <a:t> </a:t>
            </a:r>
            <a:r>
              <a:rPr lang="it-IT" sz="4400" b="1" baseline="0" err="1">
                <a:solidFill>
                  <a:schemeClr val="tx2"/>
                </a:solidFill>
              </a:rPr>
              <a:t>You</a:t>
            </a:r>
            <a:r>
              <a:rPr lang="it-IT" sz="4400" b="1" baseline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2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463069" y="5351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17" name="CasellaDiTesto 16"/>
          <p:cNvSpPr txBox="1"/>
          <p:nvPr userDrawn="1"/>
        </p:nvSpPr>
        <p:spPr>
          <a:xfrm>
            <a:off x="463070" y="4645123"/>
            <a:ext cx="6107287" cy="15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1333" b="1" baseline="0" err="1">
                <a:solidFill>
                  <a:schemeClr val="tx2"/>
                </a:solidFill>
              </a:rPr>
              <a:t>Contacts</a:t>
            </a:r>
            <a:r>
              <a:rPr lang="it-IT" sz="1333" b="1" baseline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20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3069" y="5605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r>
              <a:rPr lang="it-IT"/>
              <a:t> +39 / Fax </a:t>
            </a:r>
            <a:r>
              <a:rPr lang="it-IT" err="1"/>
              <a:t>Number</a:t>
            </a:r>
            <a:r>
              <a:rPr lang="it-IT"/>
              <a:t> +39 </a:t>
            </a:r>
          </a:p>
        </p:txBody>
      </p:sp>
      <p:sp>
        <p:nvSpPr>
          <p:cNvPr id="21" name="Segnaposto testo 3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9" y="5859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Website</a:t>
            </a:r>
          </a:p>
        </p:txBody>
      </p:sp>
      <p:sp>
        <p:nvSpPr>
          <p:cNvPr id="22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463069" y="5097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3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463069" y="4838078"/>
            <a:ext cx="6107289" cy="21206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Department</a:t>
            </a:r>
            <a:endParaRPr lang="it-IT"/>
          </a:p>
        </p:txBody>
      </p:sp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067" y="382888"/>
            <a:ext cx="1152000" cy="937912"/>
          </a:xfrm>
          <a:prstGeom prst="rect">
            <a:avLst/>
          </a:prstGeom>
        </p:spPr>
      </p:pic>
      <p:pic>
        <p:nvPicPr>
          <p:cNvPr id="24" name="Picture 2" descr="C:\Users\Shirani\Desktop\Social_logo_red_background\Social_logo_red_background\YouTube-red.em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9501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C:\Users\Shirani\Desktop\Social_logo_red_background\Social_logo_red_background\Facebook-red.emf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016" y="5532266"/>
            <a:ext cx="461813" cy="46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C:\Users\Shirani\Desktop\Social_logo_red_background\Social_logo_red_background\Flickr-red.emf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496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5" descr="C:\Users\Shirani\Desktop\Social_logo_red_background\Social_logo_red_background\Google+_red.emf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506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C:\Users\Shirani\Desktop\Social_logo_red_background\Social_logo_red_background\LinkedIn-red.emf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021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7" descr="C:\Users\Shirani\Desktop\Social_logo_red_background\Social_logo_red_background\SlideShare-red.emf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3493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C:\Users\Shirani\Desktop\Social_logo_red_background\Social_logo_red_background\Twitter-red.emf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512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200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ck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1F2B6987-F2EF-4EF8-A8B6-DE413A5A9AAC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730605"/>
            <a:ext cx="11182248" cy="408081"/>
          </a:xfrm>
        </p:spPr>
        <p:txBody>
          <a:bodyPr/>
          <a:lstStyle>
            <a:lvl1pPr>
              <a:lnSpc>
                <a:spcPts val="2933"/>
              </a:lnSpc>
              <a:defRPr sz="2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Back-Up</a:t>
            </a:r>
          </a:p>
        </p:txBody>
      </p:sp>
      <p:sp>
        <p:nvSpPr>
          <p:cNvPr id="11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461441"/>
            <a:ext cx="11182248" cy="83115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Back-Up </a:t>
            </a:r>
            <a:r>
              <a:rPr lang="it-IT" err="1"/>
              <a:t>Subtitle</a:t>
            </a:r>
            <a:r>
              <a:rPr lang="it-IT"/>
              <a:t>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2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130425"/>
            <a:ext cx="11182248" cy="1235075"/>
          </a:xfrm>
        </p:spPr>
        <p:txBody>
          <a:bodyPr/>
          <a:lstStyle>
            <a:lvl1pPr>
              <a:lnSpc>
                <a:spcPts val="4667"/>
              </a:lnSpc>
              <a:defRPr sz="3300" b="1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Back-Up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36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BAA3-5F54-4237-8E77-21EE4812AD0F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04AB-F757-4307-A6BB-72F47CA40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58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2130425"/>
            <a:ext cx="11182248" cy="1298575"/>
          </a:xfrm>
        </p:spPr>
        <p:txBody>
          <a:bodyPr/>
          <a:lstStyle>
            <a:lvl1pPr>
              <a:lnSpc>
                <a:spcPts val="4667"/>
              </a:lnSpc>
              <a:defRPr sz="33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Presentation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530599"/>
            <a:ext cx="11182248" cy="8763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Presentation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>
            <a:off x="8450561" y="304800"/>
            <a:ext cx="1904431" cy="198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1600" b="1" err="1">
                <a:solidFill>
                  <a:schemeClr val="tx2"/>
                </a:solidFill>
              </a:rPr>
              <a:t>Department</a:t>
            </a:r>
            <a:r>
              <a:rPr lang="it-IT" sz="1600" b="1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8450561" y="952501"/>
            <a:ext cx="1904431" cy="2070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1600" b="1">
                <a:solidFill>
                  <a:schemeClr val="tx2"/>
                </a:solidFill>
              </a:rPr>
              <a:t>Country:</a:t>
            </a:r>
          </a:p>
        </p:txBody>
      </p:sp>
      <p:sp>
        <p:nvSpPr>
          <p:cNvPr id="15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8451585" y="574579"/>
            <a:ext cx="3183467" cy="3556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it-IT" sz="1200" baseline="0" dirty="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Department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  <p:sp>
        <p:nvSpPr>
          <p:cNvPr id="16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451585" y="1223051"/>
            <a:ext cx="3183467" cy="3556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it-IT" sz="1200" baseline="0" dirty="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it-IT"/>
              <a:t>Insert Country Name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2" y="0"/>
            <a:ext cx="267377" cy="6858000"/>
          </a:xfrm>
          <a:prstGeom prst="rect">
            <a:avLst/>
          </a:prstGeom>
        </p:spPr>
      </p:pic>
      <p:pic>
        <p:nvPicPr>
          <p:cNvPr id="11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067" y="382888"/>
            <a:ext cx="1152000" cy="937912"/>
          </a:xfrm>
          <a:prstGeom prst="rect">
            <a:avLst/>
          </a:prstGeom>
        </p:spPr>
      </p:pic>
      <p:sp>
        <p:nvSpPr>
          <p:cNvPr id="12" name="object 3"/>
          <p:cNvSpPr txBox="1"/>
          <p:nvPr userDrawn="1"/>
        </p:nvSpPr>
        <p:spPr>
          <a:xfrm>
            <a:off x="463067" y="6479035"/>
            <a:ext cx="2636247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 spc="0">
                <a:solidFill>
                  <a:schemeClr val="tx2"/>
                </a:solidFill>
                <a:latin typeface="Arial"/>
                <a:cs typeface="Arial"/>
              </a:rPr>
              <a:t>Generali Head Office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9" name="object 3"/>
          <p:cNvSpPr txBox="1"/>
          <p:nvPr userDrawn="1"/>
        </p:nvSpPr>
        <p:spPr>
          <a:xfrm>
            <a:off x="3266151" y="6479035"/>
            <a:ext cx="1495709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 spc="0">
                <a:solidFill>
                  <a:schemeClr val="tx2"/>
                </a:solidFill>
                <a:latin typeface="Arial"/>
                <a:cs typeface="Arial"/>
              </a:rPr>
              <a:t>Trieste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3552856" y="6427761"/>
            <a:ext cx="2214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January 30th, 2020</a:t>
            </a:r>
            <a:endParaRPr lang="en-US" sz="7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566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811A5A99-BB44-4401-B06E-E109C8CF944B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730605"/>
            <a:ext cx="11182248" cy="425095"/>
          </a:xfrm>
        </p:spPr>
        <p:txBody>
          <a:bodyPr/>
          <a:lstStyle>
            <a:lvl1pPr>
              <a:lnSpc>
                <a:spcPts val="2933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589009"/>
            <a:ext cx="11182248" cy="8432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Section SubTitle </a:t>
            </a:r>
            <a:br>
              <a:rPr lang="it-IT"/>
            </a:br>
            <a:r>
              <a:rPr lang="it-IT"/>
              <a:t>Arial Regular 20/24pt</a:t>
            </a: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130425"/>
            <a:ext cx="11182248" cy="1407784"/>
          </a:xfrm>
        </p:spPr>
        <p:txBody>
          <a:bodyPr/>
          <a:lstStyle>
            <a:lvl1pPr>
              <a:lnSpc>
                <a:spcPct val="100000"/>
              </a:lnSpc>
              <a:defRPr sz="3300" b="1" i="0" baseline="0"/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35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BB80D1AC-7ABA-455F-BBA3-0BEC00ED8EFB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295"/>
            <a:ext cx="1780813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>
              <a:lnSpc>
                <a:spcPct val="95825"/>
              </a:lnSpc>
              <a:spcBef>
                <a:spcPts val="13"/>
              </a:spcBef>
            </a:pPr>
            <a:r>
              <a:rPr lang="it-IT" sz="2000" spc="0">
                <a:solidFill>
                  <a:schemeClr val="tx2"/>
                </a:solidFill>
                <a:latin typeface="Arial"/>
                <a:cs typeface="Arial"/>
              </a:rPr>
              <a:t>Agenda</a:t>
            </a:r>
            <a:endParaRPr sz="2667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476251" y="1224439"/>
            <a:ext cx="11176000" cy="4861256"/>
          </a:xfrm>
        </p:spPr>
        <p:txBody>
          <a:bodyPr bIns="0" numCol="2" spcCol="216000">
            <a:noAutofit/>
          </a:bodyPr>
          <a:lstStyle>
            <a:lvl1pPr marL="228594" indent="-228594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Lucida Grande"/>
              <a:buChar char="-"/>
              <a:defRPr sz="1600" b="1" i="0" baseline="0"/>
            </a:lvl1pPr>
            <a:lvl2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600" baseline="0"/>
            </a:lvl2pPr>
            <a:lvl3pPr marL="719982" indent="-239994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 sz="1600" baseline="0"/>
            </a:lvl3pPr>
            <a:lvl4pPr marL="979176" indent="-239994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charset="2"/>
              <a:buChar char="²"/>
              <a:defRPr sz="1600" baseline="0"/>
            </a:lvl4pPr>
            <a:lvl5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60000"/>
              <a:defRPr sz="16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0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Slide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EC189D5D-A4EA-4E9E-8FC8-46620544F60E}" type="datetime1">
              <a:rPr lang="en-US" smtClean="0"/>
              <a:t>10/20/2025</a:t>
            </a:fld>
            <a:endParaRPr lang="it-IT"/>
          </a:p>
        </p:txBody>
      </p:sp>
      <p:sp>
        <p:nvSpPr>
          <p:cNvPr id="1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8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6" name="Segnaposto contenuto 2"/>
          <p:cNvSpPr>
            <a:spLocks noGrp="1"/>
          </p:cNvSpPr>
          <p:nvPr>
            <p:ph sz="quarter" idx="15"/>
          </p:nvPr>
        </p:nvSpPr>
        <p:spPr>
          <a:xfrm>
            <a:off x="463553" y="1735759"/>
            <a:ext cx="11188700" cy="43253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27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613EFA56-5EB2-456B-8E8B-43B2724C16C4}" type="datetime1">
              <a:rPr lang="en-US" smtClean="0"/>
              <a:t>10/20/2025</a:t>
            </a:fld>
            <a:endParaRPr lang="it-IT"/>
          </a:p>
        </p:txBody>
      </p:sp>
      <p:sp>
        <p:nvSpPr>
          <p:cNvPr id="14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Segnaposto contenuto 2"/>
          <p:cNvSpPr>
            <a:spLocks noGrp="1"/>
          </p:cNvSpPr>
          <p:nvPr>
            <p:ph sz="quarter" idx="15"/>
          </p:nvPr>
        </p:nvSpPr>
        <p:spPr>
          <a:xfrm>
            <a:off x="463553" y="1735759"/>
            <a:ext cx="11188700" cy="43253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8023385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9DF1249A-0531-462E-984C-575382423404}" type="datetime1">
              <a:rPr lang="en-US" smtClean="0"/>
              <a:t>10/20/2025</a:t>
            </a:fld>
            <a:endParaRPr lang="it-IT"/>
          </a:p>
        </p:txBody>
      </p:sp>
      <p:sp>
        <p:nvSpPr>
          <p:cNvPr id="1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3" y="1682751"/>
            <a:ext cx="11188700" cy="4378325"/>
          </a:xfrm>
        </p:spPr>
        <p:txBody>
          <a:bodyPr wrap="square"/>
          <a:lstStyle>
            <a:lvl1pPr marL="0" indent="0" algn="l">
              <a:lnSpc>
                <a:spcPct val="100000"/>
              </a:lnSpc>
              <a:buClr>
                <a:schemeClr val="tx2"/>
              </a:buClr>
              <a:buFont typeface="Wingdings" charset="2"/>
              <a:buChar char="v"/>
              <a:defRPr sz="2667" b="1" i="0" baseline="0"/>
            </a:lvl1pPr>
            <a:lvl2pPr marL="0" indent="-239994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333" baseline="0"/>
            </a:lvl2pPr>
            <a:lvl3pPr marL="0" indent="-239994">
              <a:lnSpc>
                <a:spcPct val="100000"/>
              </a:lnSpc>
              <a:buFont typeface="Arial"/>
              <a:buChar char="•"/>
              <a:defRPr sz="1333"/>
            </a:lvl3pPr>
            <a:lvl4pPr marL="0" indent="-239994">
              <a:lnSpc>
                <a:spcPct val="100000"/>
              </a:lnSpc>
              <a:defRPr sz="1333"/>
            </a:lvl4pPr>
            <a:lvl5pPr marL="0" indent="-239994">
              <a:lnSpc>
                <a:spcPct val="100000"/>
              </a:lnSpc>
              <a:buFont typeface="Arial"/>
              <a:buChar char="•"/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2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462915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Item + Tex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ED0B153E-A0D2-44C9-B490-82FF5C063495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8"/>
          </p:nvPr>
        </p:nvSpPr>
        <p:spPr>
          <a:xfrm>
            <a:off x="463553" y="4758686"/>
            <a:ext cx="11188700" cy="1302391"/>
          </a:xfrm>
        </p:spPr>
        <p:txBody>
          <a:bodyPr wrap="square" lIns="72000" tIns="72000" rIns="72000"/>
          <a:lstStyle>
            <a:lvl1pPr>
              <a:lnSpc>
                <a:spcPct val="100000"/>
              </a:lnSpc>
              <a:defRPr sz="1067"/>
            </a:lvl1pPr>
            <a:lvl2pPr marL="259194" indent="-259194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chemeClr val="tx2"/>
              </a:buClr>
              <a:buFont typeface="Arial"/>
              <a:buChar char="•"/>
              <a:defRPr sz="1067" b="0" i="0"/>
            </a:lvl2pPr>
            <a:lvl3pPr marL="614385" indent="-259194">
              <a:lnSpc>
                <a:spcPct val="100000"/>
              </a:lnSpc>
              <a:buClr>
                <a:schemeClr val="tx2"/>
              </a:buClr>
              <a:buFont typeface="Wingdings" charset="2"/>
              <a:buChar char="ü"/>
              <a:defRPr sz="1067"/>
            </a:lvl3pPr>
            <a:lvl4pPr marL="614385" indent="-259194">
              <a:lnSpc>
                <a:spcPct val="100000"/>
              </a:lnSpc>
              <a:defRPr sz="1067"/>
            </a:lvl4pPr>
            <a:lvl5pPr marL="614385" indent="-259194">
              <a:lnSpc>
                <a:spcPct val="100000"/>
              </a:lnSpc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ttangolo 3"/>
          <p:cNvSpPr/>
          <p:nvPr userDrawn="1"/>
        </p:nvSpPr>
        <p:spPr>
          <a:xfrm>
            <a:off x="463069" y="4758686"/>
            <a:ext cx="11189428" cy="13023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7" name="Segnaposto contenuto 4"/>
          <p:cNvSpPr>
            <a:spLocks noGrp="1"/>
          </p:cNvSpPr>
          <p:nvPr>
            <p:ph sz="quarter" idx="21"/>
          </p:nvPr>
        </p:nvSpPr>
        <p:spPr>
          <a:xfrm>
            <a:off x="463553" y="1682751"/>
            <a:ext cx="11188700" cy="2976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0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12548122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1 + Item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0FF1362D-9E57-4EB8-9B2B-DCB566A0B022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20"/>
          </p:nvPr>
        </p:nvSpPr>
        <p:spPr>
          <a:xfrm>
            <a:off x="463553" y="1682750"/>
            <a:ext cx="11188700" cy="1302391"/>
          </a:xfrm>
        </p:spPr>
        <p:txBody>
          <a:bodyPr wrap="square" lIns="72000" tIns="72000" rIns="72000"/>
          <a:lstStyle>
            <a:lvl1pPr>
              <a:lnSpc>
                <a:spcPct val="100000"/>
              </a:lnSpc>
              <a:defRPr sz="1067"/>
            </a:lvl1pPr>
            <a:lvl2pPr marL="259194" indent="-259194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>
                <a:schemeClr val="tx2"/>
              </a:buClr>
              <a:buFont typeface="Arial"/>
              <a:buChar char="•"/>
              <a:defRPr sz="1067" b="0" i="0"/>
            </a:lvl2pPr>
            <a:lvl3pPr marL="614385" indent="-259194">
              <a:lnSpc>
                <a:spcPct val="100000"/>
              </a:lnSpc>
              <a:buClr>
                <a:schemeClr val="tx2"/>
              </a:buClr>
              <a:buFont typeface="Wingdings" charset="2"/>
              <a:buChar char="ü"/>
              <a:defRPr sz="1067"/>
            </a:lvl3pPr>
            <a:lvl4pPr marL="614385" indent="-259194">
              <a:lnSpc>
                <a:spcPct val="100000"/>
              </a:lnSpc>
              <a:defRPr sz="1067"/>
            </a:lvl4pPr>
            <a:lvl5pPr marL="614385" indent="-259194">
              <a:lnSpc>
                <a:spcPct val="100000"/>
              </a:lnSpc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1" name="Rettangolo 20"/>
          <p:cNvSpPr/>
          <p:nvPr userDrawn="1"/>
        </p:nvSpPr>
        <p:spPr>
          <a:xfrm>
            <a:off x="463069" y="1682750"/>
            <a:ext cx="11189428" cy="13023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20" name="Segnaposto contenuto 2"/>
          <p:cNvSpPr>
            <a:spLocks noGrp="1"/>
          </p:cNvSpPr>
          <p:nvPr>
            <p:ph sz="quarter" idx="22"/>
          </p:nvPr>
        </p:nvSpPr>
        <p:spPr>
          <a:xfrm>
            <a:off x="463553" y="3084513"/>
            <a:ext cx="11188700" cy="2976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1295996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+ Item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6870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2F1E75D5-E303-4EF6-B248-B552450BA05A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3" y="1682751"/>
            <a:ext cx="5509737" cy="43783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3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5" name="Segnaposto contenuto 2"/>
          <p:cNvSpPr>
            <a:spLocks noGrp="1"/>
          </p:cNvSpPr>
          <p:nvPr>
            <p:ph sz="quarter" idx="17"/>
          </p:nvPr>
        </p:nvSpPr>
        <p:spPr>
          <a:xfrm>
            <a:off x="6151036" y="1682751"/>
            <a:ext cx="5501217" cy="43783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0812295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able + Text Big bullet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AFFC8561-631E-4139-86BF-A09E9DC54582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20" name="Segnaposto tabella 4"/>
          <p:cNvSpPr>
            <a:spLocks noGrp="1"/>
          </p:cNvSpPr>
          <p:nvPr>
            <p:ph type="tbl" sz="quarter" idx="19"/>
          </p:nvPr>
        </p:nvSpPr>
        <p:spPr>
          <a:xfrm>
            <a:off x="463551" y="1682751"/>
            <a:ext cx="11182349" cy="2976563"/>
          </a:xfrm>
        </p:spPr>
        <p:txBody>
          <a:bodyPr/>
          <a:lstStyle/>
          <a:p>
            <a:r>
              <a:rPr lang="en-US"/>
              <a:t>Click icon to add table</a:t>
            </a:r>
            <a:endParaRPr lang="it-IT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6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3" y="4763497"/>
            <a:ext cx="11188700" cy="1302391"/>
          </a:xfrm>
        </p:spPr>
        <p:txBody>
          <a:bodyPr wrap="square"/>
          <a:lstStyle>
            <a:lvl1pPr marL="0" indent="0" algn="l">
              <a:lnSpc>
                <a:spcPct val="100000"/>
              </a:lnSpc>
              <a:buClr>
                <a:schemeClr val="tx2"/>
              </a:buClr>
              <a:buFont typeface="Wingdings" charset="2"/>
              <a:buChar char="v"/>
              <a:defRPr sz="2667" b="1" i="0" baseline="0"/>
            </a:lvl1pPr>
            <a:lvl2pPr marL="547186" indent="-259194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charset="2"/>
              <a:buChar char="§"/>
              <a:defRPr sz="1333" baseline="0"/>
            </a:lvl2pPr>
            <a:lvl3pPr marL="547186" indent="-259194">
              <a:lnSpc>
                <a:spcPct val="100000"/>
              </a:lnSpc>
              <a:buClr>
                <a:schemeClr val="tx1"/>
              </a:buClr>
              <a:buFont typeface="Lucida Grande"/>
              <a:buChar char="-"/>
              <a:defRPr sz="1333"/>
            </a:lvl3pPr>
            <a:lvl4pPr marL="547186" indent="-259194">
              <a:lnSpc>
                <a:spcPct val="100000"/>
              </a:lnSpc>
              <a:defRPr sz="1333"/>
            </a:lvl4pPr>
            <a:lvl5pPr marL="547186" indent="-259194">
              <a:lnSpc>
                <a:spcPct val="100000"/>
              </a:lnSpc>
              <a:buClr>
                <a:schemeClr val="tx1"/>
              </a:buClr>
              <a:buFont typeface="Wingdings" charset="2"/>
              <a:buChar char="Ø"/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</p:spTree>
    <p:extLst>
      <p:ext uri="{BB962C8B-B14F-4D97-AF65-F5344CB8AC3E}">
        <p14:creationId xmlns:p14="http://schemas.microsoft.com/office/powerpoint/2010/main" val="32028372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rts + Tables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E2CCFC00-28A6-49A1-8703-7BEBAE422FE4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8" name="Segnaposto grafico 17"/>
          <p:cNvSpPr>
            <a:spLocks noGrp="1"/>
          </p:cNvSpPr>
          <p:nvPr>
            <p:ph type="chart" sz="quarter" idx="17"/>
          </p:nvPr>
        </p:nvSpPr>
        <p:spPr>
          <a:xfrm>
            <a:off x="6151069" y="1698841"/>
            <a:ext cx="5501428" cy="2101273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  <p:sp>
        <p:nvSpPr>
          <p:cNvPr id="24" name="Segnaposto tabella 2"/>
          <p:cNvSpPr>
            <a:spLocks noGrp="1"/>
          </p:cNvSpPr>
          <p:nvPr>
            <p:ph type="tbl" sz="quarter" idx="21"/>
          </p:nvPr>
        </p:nvSpPr>
        <p:spPr>
          <a:xfrm>
            <a:off x="6151068" y="4066644"/>
            <a:ext cx="5494248" cy="2016945"/>
          </a:xfrm>
        </p:spPr>
        <p:txBody>
          <a:bodyPr/>
          <a:lstStyle/>
          <a:p>
            <a:r>
              <a:rPr lang="en-US"/>
              <a:t>Click icon to add table</a:t>
            </a:r>
            <a:endParaRPr lang="it-IT"/>
          </a:p>
        </p:txBody>
      </p:sp>
      <p:sp>
        <p:nvSpPr>
          <p:cNvPr id="25" name="Segnaposto grafico 17"/>
          <p:cNvSpPr>
            <a:spLocks noGrp="1"/>
          </p:cNvSpPr>
          <p:nvPr>
            <p:ph type="chart" sz="quarter" idx="22"/>
          </p:nvPr>
        </p:nvSpPr>
        <p:spPr>
          <a:xfrm>
            <a:off x="463069" y="1698841"/>
            <a:ext cx="5501428" cy="2101273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  <p:sp>
        <p:nvSpPr>
          <p:cNvPr id="26" name="Segnaposto tabella 2"/>
          <p:cNvSpPr>
            <a:spLocks noGrp="1"/>
          </p:cNvSpPr>
          <p:nvPr>
            <p:ph type="tbl" sz="quarter" idx="23"/>
          </p:nvPr>
        </p:nvSpPr>
        <p:spPr>
          <a:xfrm>
            <a:off x="463068" y="4066644"/>
            <a:ext cx="5494248" cy="2016945"/>
          </a:xfrm>
        </p:spPr>
        <p:txBody>
          <a:bodyPr/>
          <a:lstStyle/>
          <a:p>
            <a:r>
              <a:rPr lang="en-US"/>
              <a:t>Click icon to add table</a:t>
            </a:r>
            <a:endParaRPr lang="it-IT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7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7" name="Immagin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9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1456155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8368E82C-A309-4288-80B1-197B7D172E88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2" name="Freccia destra 1"/>
          <p:cNvSpPr/>
          <p:nvPr userDrawn="1"/>
        </p:nvSpPr>
        <p:spPr>
          <a:xfrm flipV="1">
            <a:off x="463068" y="3728136"/>
            <a:ext cx="11189427" cy="235527"/>
          </a:xfrm>
          <a:prstGeom prst="rightArrow">
            <a:avLst>
              <a:gd name="adj1" fmla="val 50000"/>
              <a:gd name="adj2" fmla="val 1513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924215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10" name="Connettore 1 9"/>
          <p:cNvCxnSpPr/>
          <p:nvPr userDrawn="1"/>
        </p:nvCxnSpPr>
        <p:spPr>
          <a:xfrm>
            <a:off x="463069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/>
          <p:cNvCxnSpPr/>
          <p:nvPr userDrawn="1"/>
        </p:nvCxnSpPr>
        <p:spPr>
          <a:xfrm flipV="1">
            <a:off x="1396965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2021739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32" name="Connettore 1 31"/>
          <p:cNvCxnSpPr/>
          <p:nvPr userDrawn="1"/>
        </p:nvCxnSpPr>
        <p:spPr>
          <a:xfrm>
            <a:off x="1560593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32"/>
          <p:cNvCxnSpPr/>
          <p:nvPr userDrawn="1"/>
        </p:nvCxnSpPr>
        <p:spPr>
          <a:xfrm flipV="1">
            <a:off x="2494489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egnaposto testo 3"/>
          <p:cNvSpPr>
            <a:spLocks noGrp="1"/>
          </p:cNvSpPr>
          <p:nvPr>
            <p:ph type="body" sz="quarter" idx="16" hasCustomPrompt="1"/>
          </p:nvPr>
        </p:nvSpPr>
        <p:spPr>
          <a:xfrm>
            <a:off x="3074859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35" name="Connettore 1 34"/>
          <p:cNvCxnSpPr/>
          <p:nvPr userDrawn="1"/>
        </p:nvCxnSpPr>
        <p:spPr>
          <a:xfrm>
            <a:off x="2613713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 userDrawn="1"/>
        </p:nvCxnSpPr>
        <p:spPr>
          <a:xfrm flipV="1">
            <a:off x="3547609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egnaposto tes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187152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41" name="Connettore 1 40"/>
          <p:cNvCxnSpPr/>
          <p:nvPr userDrawn="1"/>
        </p:nvCxnSpPr>
        <p:spPr>
          <a:xfrm>
            <a:off x="3726006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/>
          <p:nvPr userDrawn="1"/>
        </p:nvCxnSpPr>
        <p:spPr>
          <a:xfrm flipV="1">
            <a:off x="4659903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egnaposto testo 3"/>
          <p:cNvSpPr>
            <a:spLocks noGrp="1"/>
          </p:cNvSpPr>
          <p:nvPr>
            <p:ph type="body" sz="quarter" idx="18" hasCustomPrompt="1"/>
          </p:nvPr>
        </p:nvSpPr>
        <p:spPr>
          <a:xfrm>
            <a:off x="5228101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44" name="Connettore 1 43"/>
          <p:cNvCxnSpPr/>
          <p:nvPr userDrawn="1"/>
        </p:nvCxnSpPr>
        <p:spPr>
          <a:xfrm>
            <a:off x="4766956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/>
          <p:nvPr userDrawn="1"/>
        </p:nvCxnSpPr>
        <p:spPr>
          <a:xfrm flipV="1">
            <a:off x="5700852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3"/>
          <p:cNvSpPr>
            <a:spLocks noGrp="1"/>
          </p:cNvSpPr>
          <p:nvPr>
            <p:ph type="body" sz="quarter" idx="19" hasCustomPrompt="1"/>
          </p:nvPr>
        </p:nvSpPr>
        <p:spPr>
          <a:xfrm>
            <a:off x="6352565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47" name="Connettore 1 46"/>
          <p:cNvCxnSpPr/>
          <p:nvPr userDrawn="1"/>
        </p:nvCxnSpPr>
        <p:spPr>
          <a:xfrm>
            <a:off x="5891419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/>
          <p:cNvCxnSpPr/>
          <p:nvPr userDrawn="1"/>
        </p:nvCxnSpPr>
        <p:spPr>
          <a:xfrm flipV="1">
            <a:off x="6825316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egnaposto testo 3"/>
          <p:cNvSpPr>
            <a:spLocks noGrp="1"/>
          </p:cNvSpPr>
          <p:nvPr>
            <p:ph type="body" sz="quarter" idx="20" hasCustomPrompt="1"/>
          </p:nvPr>
        </p:nvSpPr>
        <p:spPr>
          <a:xfrm>
            <a:off x="8497455" y="3963663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50" name="Connettore 1 49"/>
          <p:cNvCxnSpPr/>
          <p:nvPr userDrawn="1"/>
        </p:nvCxnSpPr>
        <p:spPr>
          <a:xfrm>
            <a:off x="8036309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50"/>
          <p:cNvCxnSpPr/>
          <p:nvPr userDrawn="1"/>
        </p:nvCxnSpPr>
        <p:spPr>
          <a:xfrm flipV="1">
            <a:off x="8970205" y="4217941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egnaposto testo 3"/>
          <p:cNvSpPr>
            <a:spLocks noGrp="1"/>
          </p:cNvSpPr>
          <p:nvPr>
            <p:ph type="body" sz="quarter" idx="21" hasCustomPrompt="1"/>
          </p:nvPr>
        </p:nvSpPr>
        <p:spPr>
          <a:xfrm>
            <a:off x="7410287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53" name="Connettore 1 52"/>
          <p:cNvCxnSpPr/>
          <p:nvPr userDrawn="1"/>
        </p:nvCxnSpPr>
        <p:spPr>
          <a:xfrm>
            <a:off x="6949141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/>
          <p:cNvCxnSpPr/>
          <p:nvPr userDrawn="1"/>
        </p:nvCxnSpPr>
        <p:spPr>
          <a:xfrm flipV="1">
            <a:off x="7883037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Segnaposto testo 3"/>
          <p:cNvSpPr>
            <a:spLocks noGrp="1"/>
          </p:cNvSpPr>
          <p:nvPr>
            <p:ph type="body" sz="quarter" idx="22" hasCustomPrompt="1"/>
          </p:nvPr>
        </p:nvSpPr>
        <p:spPr>
          <a:xfrm>
            <a:off x="9555133" y="3543602"/>
            <a:ext cx="943584" cy="1845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Data</a:t>
            </a:r>
          </a:p>
        </p:txBody>
      </p:sp>
      <p:cxnSp>
        <p:nvCxnSpPr>
          <p:cNvPr id="56" name="Connettore 1 55"/>
          <p:cNvCxnSpPr/>
          <p:nvPr userDrawn="1"/>
        </p:nvCxnSpPr>
        <p:spPr>
          <a:xfrm>
            <a:off x="9093988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1 56"/>
          <p:cNvCxnSpPr/>
          <p:nvPr userDrawn="1"/>
        </p:nvCxnSpPr>
        <p:spPr>
          <a:xfrm flipV="1">
            <a:off x="10027884" y="3171154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egnaposto testo 59"/>
          <p:cNvSpPr>
            <a:spLocks noGrp="1"/>
          </p:cNvSpPr>
          <p:nvPr>
            <p:ph type="body" sz="quarter" idx="23"/>
          </p:nvPr>
        </p:nvSpPr>
        <p:spPr>
          <a:xfrm>
            <a:off x="463551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1" name="Segnaposto testo 59"/>
          <p:cNvSpPr>
            <a:spLocks noGrp="1"/>
          </p:cNvSpPr>
          <p:nvPr>
            <p:ph type="body" sz="quarter" idx="24"/>
          </p:nvPr>
        </p:nvSpPr>
        <p:spPr>
          <a:xfrm>
            <a:off x="2630035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2" name="Segnaposto testo 59"/>
          <p:cNvSpPr>
            <a:spLocks noGrp="1"/>
          </p:cNvSpPr>
          <p:nvPr>
            <p:ph type="body" sz="quarter" idx="25"/>
          </p:nvPr>
        </p:nvSpPr>
        <p:spPr>
          <a:xfrm>
            <a:off x="4766954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3" name="Segnaposto testo 59"/>
          <p:cNvSpPr>
            <a:spLocks noGrp="1"/>
          </p:cNvSpPr>
          <p:nvPr>
            <p:ph type="body" sz="quarter" idx="26"/>
          </p:nvPr>
        </p:nvSpPr>
        <p:spPr>
          <a:xfrm>
            <a:off x="6963826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4" name="Segnaposto testo 59"/>
          <p:cNvSpPr>
            <a:spLocks noGrp="1"/>
          </p:cNvSpPr>
          <p:nvPr>
            <p:ph type="body" sz="quarter" idx="27"/>
          </p:nvPr>
        </p:nvSpPr>
        <p:spPr>
          <a:xfrm>
            <a:off x="9126056" y="1662546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0" name="Segnaposto testo 59"/>
          <p:cNvSpPr>
            <a:spLocks noGrp="1"/>
          </p:cNvSpPr>
          <p:nvPr>
            <p:ph type="body" sz="quarter" idx="29"/>
          </p:nvPr>
        </p:nvSpPr>
        <p:spPr>
          <a:xfrm>
            <a:off x="1563091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1" name="Segnaposto testo 59"/>
          <p:cNvSpPr>
            <a:spLocks noGrp="1"/>
          </p:cNvSpPr>
          <p:nvPr>
            <p:ph type="body" sz="quarter" idx="30"/>
          </p:nvPr>
        </p:nvSpPr>
        <p:spPr>
          <a:xfrm>
            <a:off x="3726616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2" name="Segnaposto testo 59"/>
          <p:cNvSpPr>
            <a:spLocks noGrp="1"/>
          </p:cNvSpPr>
          <p:nvPr>
            <p:ph type="body" sz="quarter" idx="31"/>
          </p:nvPr>
        </p:nvSpPr>
        <p:spPr>
          <a:xfrm>
            <a:off x="5907742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3" name="Segnaposto testo 59"/>
          <p:cNvSpPr>
            <a:spLocks noGrp="1"/>
          </p:cNvSpPr>
          <p:nvPr>
            <p:ph type="body" sz="quarter" idx="32"/>
          </p:nvPr>
        </p:nvSpPr>
        <p:spPr>
          <a:xfrm>
            <a:off x="8036919" y="4633577"/>
            <a:ext cx="1835149" cy="13854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66" name="Immagine 6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5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67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28630726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6E737B97-21C7-4688-90E3-090BCAD7A83F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30277264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A80C8A73-C75C-472E-AB4E-097F6B22E0B8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0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6135580" y="1682751"/>
            <a:ext cx="5509737" cy="4378325"/>
          </a:xfrm>
        </p:spPr>
        <p:txBody>
          <a:bodyPr tIns="46800"/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 bla bla bla bla bla bla bla bla </a:t>
            </a:r>
          </a:p>
        </p:txBody>
      </p:sp>
      <p:sp>
        <p:nvSpPr>
          <p:cNvPr id="11" name="Segnaposto testo 18"/>
          <p:cNvSpPr>
            <a:spLocks noGrp="1"/>
          </p:cNvSpPr>
          <p:nvPr>
            <p:ph type="body" sz="quarter" idx="15" hasCustomPrompt="1"/>
          </p:nvPr>
        </p:nvSpPr>
        <p:spPr>
          <a:xfrm>
            <a:off x="463069" y="1682751"/>
            <a:ext cx="5509737" cy="4378325"/>
          </a:xfrm>
        </p:spPr>
        <p:txBody>
          <a:bodyPr tIns="50400"/>
          <a:lstStyle>
            <a:lvl1pPr>
              <a:lnSpc>
                <a:spcPct val="100000"/>
              </a:lnSpc>
              <a:defRPr sz="4800" b="1" i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79%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538569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am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622C189F-D368-417E-9266-651624368B04}" type="datetime1">
              <a:rPr lang="en-US" smtClean="0"/>
              <a:t>10/20/2025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295"/>
            <a:ext cx="1780813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>
              <a:lnSpc>
                <a:spcPct val="95825"/>
              </a:lnSpc>
              <a:spcBef>
                <a:spcPts val="13"/>
              </a:spcBef>
            </a:pPr>
            <a:r>
              <a:rPr lang="it-IT" sz="2000" spc="0">
                <a:solidFill>
                  <a:schemeClr val="tx2"/>
                </a:solidFill>
                <a:latin typeface="Arial"/>
                <a:cs typeface="Arial"/>
              </a:rPr>
              <a:t>Team</a:t>
            </a:r>
            <a:endParaRPr sz="2667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5" name="Segnaposto testo 5"/>
          <p:cNvSpPr>
            <a:spLocks noGrp="1"/>
          </p:cNvSpPr>
          <p:nvPr>
            <p:ph type="body" sz="quarter" idx="14" hasCustomPrompt="1"/>
          </p:nvPr>
        </p:nvSpPr>
        <p:spPr>
          <a:xfrm>
            <a:off x="463067" y="1223965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18" name="Segnaposto testo 5"/>
          <p:cNvSpPr>
            <a:spLocks noGrp="1"/>
          </p:cNvSpPr>
          <p:nvPr>
            <p:ph type="body" sz="quarter" idx="16" hasCustomPrompt="1"/>
          </p:nvPr>
        </p:nvSpPr>
        <p:spPr>
          <a:xfrm>
            <a:off x="463067" y="146257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19" name="Segnaposto testo 5"/>
          <p:cNvSpPr>
            <a:spLocks noGrp="1"/>
          </p:cNvSpPr>
          <p:nvPr>
            <p:ph type="body" sz="quarter" idx="17" hasCustomPrompt="1"/>
          </p:nvPr>
        </p:nvSpPr>
        <p:spPr>
          <a:xfrm>
            <a:off x="463551" y="1678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0" name="Segnaposto testo 5"/>
          <p:cNvSpPr>
            <a:spLocks noGrp="1"/>
          </p:cNvSpPr>
          <p:nvPr>
            <p:ph type="body" sz="quarter" idx="18" hasCustomPrompt="1"/>
          </p:nvPr>
        </p:nvSpPr>
        <p:spPr>
          <a:xfrm>
            <a:off x="463067" y="1893602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21" name="Segnaposto testo 5"/>
          <p:cNvSpPr>
            <a:spLocks noGrp="1"/>
          </p:cNvSpPr>
          <p:nvPr>
            <p:ph type="body" sz="quarter" idx="19" hasCustomPrompt="1"/>
          </p:nvPr>
        </p:nvSpPr>
        <p:spPr>
          <a:xfrm>
            <a:off x="463067" y="2216874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2" name="Segnaposto testo 5"/>
          <p:cNvSpPr>
            <a:spLocks noGrp="1"/>
          </p:cNvSpPr>
          <p:nvPr>
            <p:ph type="body" sz="quarter" idx="20" hasCustomPrompt="1"/>
          </p:nvPr>
        </p:nvSpPr>
        <p:spPr>
          <a:xfrm>
            <a:off x="463067" y="245547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23" name="Segnaposto testo 5"/>
          <p:cNvSpPr>
            <a:spLocks noGrp="1"/>
          </p:cNvSpPr>
          <p:nvPr>
            <p:ph type="body" sz="quarter" idx="21" hasCustomPrompt="1"/>
          </p:nvPr>
        </p:nvSpPr>
        <p:spPr>
          <a:xfrm>
            <a:off x="463551" y="2670994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4" name="Segnaposto testo 5"/>
          <p:cNvSpPr>
            <a:spLocks noGrp="1"/>
          </p:cNvSpPr>
          <p:nvPr>
            <p:ph type="body" sz="quarter" idx="22" hasCustomPrompt="1"/>
          </p:nvPr>
        </p:nvSpPr>
        <p:spPr>
          <a:xfrm>
            <a:off x="463067" y="2886511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25" name="Segnaposto testo 5"/>
          <p:cNvSpPr>
            <a:spLocks noGrp="1"/>
          </p:cNvSpPr>
          <p:nvPr>
            <p:ph type="body" sz="quarter" idx="23" hasCustomPrompt="1"/>
          </p:nvPr>
        </p:nvSpPr>
        <p:spPr>
          <a:xfrm>
            <a:off x="463067" y="321747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6" name="Segnaposto testo 5"/>
          <p:cNvSpPr>
            <a:spLocks noGrp="1"/>
          </p:cNvSpPr>
          <p:nvPr>
            <p:ph type="body" sz="quarter" idx="24" hasCustomPrompt="1"/>
          </p:nvPr>
        </p:nvSpPr>
        <p:spPr>
          <a:xfrm>
            <a:off x="463067" y="3456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27" name="Segnaposto testo 5"/>
          <p:cNvSpPr>
            <a:spLocks noGrp="1"/>
          </p:cNvSpPr>
          <p:nvPr>
            <p:ph type="body" sz="quarter" idx="25" hasCustomPrompt="1"/>
          </p:nvPr>
        </p:nvSpPr>
        <p:spPr>
          <a:xfrm>
            <a:off x="463551" y="367160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8" name="Segnaposto testo 5"/>
          <p:cNvSpPr>
            <a:spLocks noGrp="1"/>
          </p:cNvSpPr>
          <p:nvPr>
            <p:ph type="body" sz="quarter" idx="26" hasCustomPrompt="1"/>
          </p:nvPr>
        </p:nvSpPr>
        <p:spPr>
          <a:xfrm>
            <a:off x="463067" y="3887117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29" name="Segnaposto testo 5"/>
          <p:cNvSpPr>
            <a:spLocks noGrp="1"/>
          </p:cNvSpPr>
          <p:nvPr>
            <p:ph type="body" sz="quarter" idx="27" hasCustomPrompt="1"/>
          </p:nvPr>
        </p:nvSpPr>
        <p:spPr>
          <a:xfrm>
            <a:off x="463067" y="421038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30" name="Segnaposto testo 5"/>
          <p:cNvSpPr>
            <a:spLocks noGrp="1"/>
          </p:cNvSpPr>
          <p:nvPr>
            <p:ph type="body" sz="quarter" idx="28" hasCustomPrompt="1"/>
          </p:nvPr>
        </p:nvSpPr>
        <p:spPr>
          <a:xfrm>
            <a:off x="463067" y="444899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31" name="Segnaposto testo 5"/>
          <p:cNvSpPr>
            <a:spLocks noGrp="1"/>
          </p:cNvSpPr>
          <p:nvPr>
            <p:ph type="body" sz="quarter" idx="29" hasCustomPrompt="1"/>
          </p:nvPr>
        </p:nvSpPr>
        <p:spPr>
          <a:xfrm>
            <a:off x="463551" y="4664510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32" name="Segnaposto testo 5"/>
          <p:cNvSpPr>
            <a:spLocks noGrp="1"/>
          </p:cNvSpPr>
          <p:nvPr>
            <p:ph type="body" sz="quarter" idx="30" hasCustomPrompt="1"/>
          </p:nvPr>
        </p:nvSpPr>
        <p:spPr>
          <a:xfrm>
            <a:off x="463067" y="4880026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33" name="Segnaposto testo 5"/>
          <p:cNvSpPr>
            <a:spLocks noGrp="1"/>
          </p:cNvSpPr>
          <p:nvPr>
            <p:ph type="body" sz="quarter" idx="31" hasCustomPrompt="1"/>
          </p:nvPr>
        </p:nvSpPr>
        <p:spPr>
          <a:xfrm>
            <a:off x="463067" y="520329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34" name="Segnaposto testo 5"/>
          <p:cNvSpPr>
            <a:spLocks noGrp="1"/>
          </p:cNvSpPr>
          <p:nvPr>
            <p:ph type="body" sz="quarter" idx="32" hasCustomPrompt="1"/>
          </p:nvPr>
        </p:nvSpPr>
        <p:spPr>
          <a:xfrm>
            <a:off x="463067" y="544190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35" name="Segnaposto testo 5"/>
          <p:cNvSpPr>
            <a:spLocks noGrp="1"/>
          </p:cNvSpPr>
          <p:nvPr>
            <p:ph type="body" sz="quarter" idx="33" hasCustomPrompt="1"/>
          </p:nvPr>
        </p:nvSpPr>
        <p:spPr>
          <a:xfrm>
            <a:off x="463551" y="565741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36" name="Segnaposto testo 5"/>
          <p:cNvSpPr>
            <a:spLocks noGrp="1"/>
          </p:cNvSpPr>
          <p:nvPr>
            <p:ph type="body" sz="quarter" idx="34" hasCustomPrompt="1"/>
          </p:nvPr>
        </p:nvSpPr>
        <p:spPr>
          <a:xfrm>
            <a:off x="463067" y="5872935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37" name="Segnaposto testo 5"/>
          <p:cNvSpPr>
            <a:spLocks noGrp="1"/>
          </p:cNvSpPr>
          <p:nvPr>
            <p:ph type="body" sz="quarter" idx="35" hasCustomPrompt="1"/>
          </p:nvPr>
        </p:nvSpPr>
        <p:spPr>
          <a:xfrm>
            <a:off x="6153460" y="1223965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38" name="Segnaposto testo 5"/>
          <p:cNvSpPr>
            <a:spLocks noGrp="1"/>
          </p:cNvSpPr>
          <p:nvPr>
            <p:ph type="body" sz="quarter" idx="36" hasCustomPrompt="1"/>
          </p:nvPr>
        </p:nvSpPr>
        <p:spPr>
          <a:xfrm>
            <a:off x="6153460" y="146257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39" name="Segnaposto testo 5"/>
          <p:cNvSpPr>
            <a:spLocks noGrp="1"/>
          </p:cNvSpPr>
          <p:nvPr>
            <p:ph type="body" sz="quarter" idx="37" hasCustomPrompt="1"/>
          </p:nvPr>
        </p:nvSpPr>
        <p:spPr>
          <a:xfrm>
            <a:off x="6153944" y="1678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0" name="Segnaposto testo 5"/>
          <p:cNvSpPr>
            <a:spLocks noGrp="1"/>
          </p:cNvSpPr>
          <p:nvPr>
            <p:ph type="body" sz="quarter" idx="38" hasCustomPrompt="1"/>
          </p:nvPr>
        </p:nvSpPr>
        <p:spPr>
          <a:xfrm>
            <a:off x="6153460" y="1893602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41" name="Segnaposto testo 5"/>
          <p:cNvSpPr>
            <a:spLocks noGrp="1"/>
          </p:cNvSpPr>
          <p:nvPr>
            <p:ph type="body" sz="quarter" idx="39" hasCustomPrompt="1"/>
          </p:nvPr>
        </p:nvSpPr>
        <p:spPr>
          <a:xfrm>
            <a:off x="6153460" y="2216874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42" name="Segnaposto testo 5"/>
          <p:cNvSpPr>
            <a:spLocks noGrp="1"/>
          </p:cNvSpPr>
          <p:nvPr>
            <p:ph type="body" sz="quarter" idx="40" hasCustomPrompt="1"/>
          </p:nvPr>
        </p:nvSpPr>
        <p:spPr>
          <a:xfrm>
            <a:off x="6153460" y="245547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43" name="Segnaposto testo 5"/>
          <p:cNvSpPr>
            <a:spLocks noGrp="1"/>
          </p:cNvSpPr>
          <p:nvPr>
            <p:ph type="body" sz="quarter" idx="41" hasCustomPrompt="1"/>
          </p:nvPr>
        </p:nvSpPr>
        <p:spPr>
          <a:xfrm>
            <a:off x="6153944" y="2670994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4" name="Segnaposto testo 5"/>
          <p:cNvSpPr>
            <a:spLocks noGrp="1"/>
          </p:cNvSpPr>
          <p:nvPr>
            <p:ph type="body" sz="quarter" idx="42" hasCustomPrompt="1"/>
          </p:nvPr>
        </p:nvSpPr>
        <p:spPr>
          <a:xfrm>
            <a:off x="6153460" y="2886511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45" name="Segnaposto testo 5"/>
          <p:cNvSpPr>
            <a:spLocks noGrp="1"/>
          </p:cNvSpPr>
          <p:nvPr>
            <p:ph type="body" sz="quarter" idx="43" hasCustomPrompt="1"/>
          </p:nvPr>
        </p:nvSpPr>
        <p:spPr>
          <a:xfrm>
            <a:off x="6153460" y="321747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46" name="Segnaposto testo 5"/>
          <p:cNvSpPr>
            <a:spLocks noGrp="1"/>
          </p:cNvSpPr>
          <p:nvPr>
            <p:ph type="body" sz="quarter" idx="44" hasCustomPrompt="1"/>
          </p:nvPr>
        </p:nvSpPr>
        <p:spPr>
          <a:xfrm>
            <a:off x="6153460" y="3456086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47" name="Segnaposto testo 5"/>
          <p:cNvSpPr>
            <a:spLocks noGrp="1"/>
          </p:cNvSpPr>
          <p:nvPr>
            <p:ph type="body" sz="quarter" idx="45" hasCustomPrompt="1"/>
          </p:nvPr>
        </p:nvSpPr>
        <p:spPr>
          <a:xfrm>
            <a:off x="6153944" y="3671601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8" name="Segnaposto testo 5"/>
          <p:cNvSpPr>
            <a:spLocks noGrp="1"/>
          </p:cNvSpPr>
          <p:nvPr>
            <p:ph type="body" sz="quarter" idx="46" hasCustomPrompt="1"/>
          </p:nvPr>
        </p:nvSpPr>
        <p:spPr>
          <a:xfrm>
            <a:off x="6153460" y="3887117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49" name="Segnaposto testo 5"/>
          <p:cNvSpPr>
            <a:spLocks noGrp="1"/>
          </p:cNvSpPr>
          <p:nvPr>
            <p:ph type="body" sz="quarter" idx="47" hasCustomPrompt="1"/>
          </p:nvPr>
        </p:nvSpPr>
        <p:spPr>
          <a:xfrm>
            <a:off x="6153460" y="421038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50" name="Segnaposto testo 5"/>
          <p:cNvSpPr>
            <a:spLocks noGrp="1"/>
          </p:cNvSpPr>
          <p:nvPr>
            <p:ph type="body" sz="quarter" idx="48" hasCustomPrompt="1"/>
          </p:nvPr>
        </p:nvSpPr>
        <p:spPr>
          <a:xfrm>
            <a:off x="6153460" y="444899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51" name="Segnaposto testo 5"/>
          <p:cNvSpPr>
            <a:spLocks noGrp="1"/>
          </p:cNvSpPr>
          <p:nvPr>
            <p:ph type="body" sz="quarter" idx="49" hasCustomPrompt="1"/>
          </p:nvPr>
        </p:nvSpPr>
        <p:spPr>
          <a:xfrm>
            <a:off x="6153944" y="4664510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52" name="Segnaposto testo 5"/>
          <p:cNvSpPr>
            <a:spLocks noGrp="1"/>
          </p:cNvSpPr>
          <p:nvPr>
            <p:ph type="body" sz="quarter" idx="50" hasCustomPrompt="1"/>
          </p:nvPr>
        </p:nvSpPr>
        <p:spPr>
          <a:xfrm>
            <a:off x="6153460" y="4880026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sp>
        <p:nvSpPr>
          <p:cNvPr id="53" name="Segnaposto testo 5"/>
          <p:cNvSpPr>
            <a:spLocks noGrp="1"/>
          </p:cNvSpPr>
          <p:nvPr>
            <p:ph type="body" sz="quarter" idx="51" hasCustomPrompt="1"/>
          </p:nvPr>
        </p:nvSpPr>
        <p:spPr>
          <a:xfrm>
            <a:off x="6153460" y="5203299"/>
            <a:ext cx="5499035" cy="161492"/>
          </a:xfrm>
        </p:spPr>
        <p:txBody>
          <a:bodyPr/>
          <a:lstStyle>
            <a:lvl1pPr>
              <a:defRPr sz="1600" b="1" i="0"/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54" name="Segnaposto testo 5"/>
          <p:cNvSpPr>
            <a:spLocks noGrp="1"/>
          </p:cNvSpPr>
          <p:nvPr>
            <p:ph type="body" sz="quarter" idx="52" hasCustomPrompt="1"/>
          </p:nvPr>
        </p:nvSpPr>
        <p:spPr>
          <a:xfrm>
            <a:off x="6153460" y="5441905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Job</a:t>
            </a:r>
          </a:p>
        </p:txBody>
      </p:sp>
      <p:sp>
        <p:nvSpPr>
          <p:cNvPr id="55" name="Segnaposto testo 5"/>
          <p:cNvSpPr>
            <a:spLocks noGrp="1"/>
          </p:cNvSpPr>
          <p:nvPr>
            <p:ph type="body" sz="quarter" idx="53" hasCustomPrompt="1"/>
          </p:nvPr>
        </p:nvSpPr>
        <p:spPr>
          <a:xfrm>
            <a:off x="6153944" y="5657419"/>
            <a:ext cx="5499035" cy="161492"/>
          </a:xfrm>
        </p:spPr>
        <p:txBody>
          <a:bodyPr/>
          <a:lstStyle>
            <a:lvl1pPr>
              <a:defRPr sz="1333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56" name="Segnaposto testo 5"/>
          <p:cNvSpPr>
            <a:spLocks noGrp="1"/>
          </p:cNvSpPr>
          <p:nvPr>
            <p:ph type="body" sz="quarter" idx="54" hasCustomPrompt="1"/>
          </p:nvPr>
        </p:nvSpPr>
        <p:spPr>
          <a:xfrm>
            <a:off x="6153460" y="5872935"/>
            <a:ext cx="5499035" cy="161492"/>
          </a:xfrm>
        </p:spPr>
        <p:txBody>
          <a:bodyPr/>
          <a:lstStyle>
            <a:lvl1pPr>
              <a:defRPr sz="1333" b="0" i="0" baseline="0"/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endParaRPr lang="it-IT"/>
          </a:p>
        </p:txBody>
      </p:sp>
      <p:pic>
        <p:nvPicPr>
          <p:cNvPr id="58" name="Immagine 5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47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1CD66EC7-2FE0-4E22-9274-400F04532668}" type="datetime1">
              <a:rPr lang="en-US" smtClean="0"/>
              <a:t>10/20/2025</a:t>
            </a:fld>
            <a:endParaRPr lang="it-IT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object 3"/>
          <p:cNvSpPr txBox="1"/>
          <p:nvPr userDrawn="1"/>
        </p:nvSpPr>
        <p:spPr>
          <a:xfrm>
            <a:off x="477032" y="716295"/>
            <a:ext cx="3484341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>
              <a:lnSpc>
                <a:spcPct val="95825"/>
              </a:lnSpc>
              <a:spcBef>
                <a:spcPts val="13"/>
              </a:spcBef>
            </a:pPr>
            <a:r>
              <a:rPr lang="it-IT" sz="2000" spc="0" err="1">
                <a:solidFill>
                  <a:schemeClr val="tx2"/>
                </a:solidFill>
                <a:latin typeface="Arial"/>
                <a:cs typeface="Arial"/>
              </a:rPr>
              <a:t>Next</a:t>
            </a:r>
            <a:r>
              <a:rPr lang="it-IT" sz="2000" spc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it-IT" sz="2000" spc="0" err="1">
                <a:solidFill>
                  <a:schemeClr val="tx2"/>
                </a:solidFill>
                <a:latin typeface="Arial"/>
                <a:cs typeface="Arial"/>
              </a:rPr>
              <a:t>steps</a:t>
            </a:r>
            <a:endParaRPr sz="200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11" name="Picture 16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113" name="Segnaposto testo 54"/>
          <p:cNvSpPr>
            <a:spLocks noGrp="1"/>
          </p:cNvSpPr>
          <p:nvPr>
            <p:ph type="body" sz="quarter" idx="57" hasCustomPrompt="1"/>
          </p:nvPr>
        </p:nvSpPr>
        <p:spPr>
          <a:xfrm>
            <a:off x="6151065" y="122396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4" name="Segnaposto testo 54"/>
          <p:cNvSpPr>
            <a:spLocks noGrp="1"/>
          </p:cNvSpPr>
          <p:nvPr>
            <p:ph type="body" sz="quarter" idx="58" hasCustomPrompt="1"/>
          </p:nvPr>
        </p:nvSpPr>
        <p:spPr>
          <a:xfrm>
            <a:off x="6151069" y="150259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pic>
        <p:nvPicPr>
          <p:cNvPr id="37" name="Immagine 3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36" name="Segnaposto testo 54"/>
          <p:cNvSpPr>
            <a:spLocks noGrp="1"/>
          </p:cNvSpPr>
          <p:nvPr>
            <p:ph type="body" sz="quarter" idx="59" hasCustomPrompt="1"/>
          </p:nvPr>
        </p:nvSpPr>
        <p:spPr>
          <a:xfrm>
            <a:off x="515377" y="122396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38" name="Segnaposto testo 54"/>
          <p:cNvSpPr>
            <a:spLocks noGrp="1"/>
          </p:cNvSpPr>
          <p:nvPr>
            <p:ph type="body" sz="quarter" idx="60" hasCustomPrompt="1"/>
          </p:nvPr>
        </p:nvSpPr>
        <p:spPr>
          <a:xfrm>
            <a:off x="515381" y="150259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39" name="Segnaposto testo 54"/>
          <p:cNvSpPr>
            <a:spLocks noGrp="1"/>
          </p:cNvSpPr>
          <p:nvPr>
            <p:ph type="body" sz="quarter" idx="61" hasCustomPrompt="1"/>
          </p:nvPr>
        </p:nvSpPr>
        <p:spPr>
          <a:xfrm>
            <a:off x="6151065" y="2250272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0" name="Segnaposto testo 54"/>
          <p:cNvSpPr>
            <a:spLocks noGrp="1"/>
          </p:cNvSpPr>
          <p:nvPr>
            <p:ph type="body" sz="quarter" idx="62" hasCustomPrompt="1"/>
          </p:nvPr>
        </p:nvSpPr>
        <p:spPr>
          <a:xfrm>
            <a:off x="6151069" y="2528901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1" name="Segnaposto testo 54"/>
          <p:cNvSpPr>
            <a:spLocks noGrp="1"/>
          </p:cNvSpPr>
          <p:nvPr>
            <p:ph type="body" sz="quarter" idx="63" hasCustomPrompt="1"/>
          </p:nvPr>
        </p:nvSpPr>
        <p:spPr>
          <a:xfrm>
            <a:off x="515377" y="2250272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2" name="Segnaposto testo 54"/>
          <p:cNvSpPr>
            <a:spLocks noGrp="1"/>
          </p:cNvSpPr>
          <p:nvPr>
            <p:ph type="body" sz="quarter" idx="64" hasCustomPrompt="1"/>
          </p:nvPr>
        </p:nvSpPr>
        <p:spPr>
          <a:xfrm>
            <a:off x="515381" y="2528901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3" name="Segnaposto testo 54"/>
          <p:cNvSpPr>
            <a:spLocks noGrp="1"/>
          </p:cNvSpPr>
          <p:nvPr>
            <p:ph type="body" sz="quarter" idx="65" hasCustomPrompt="1"/>
          </p:nvPr>
        </p:nvSpPr>
        <p:spPr>
          <a:xfrm>
            <a:off x="6151065" y="327038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4" name="Segnaposto testo 54"/>
          <p:cNvSpPr>
            <a:spLocks noGrp="1"/>
          </p:cNvSpPr>
          <p:nvPr>
            <p:ph type="body" sz="quarter" idx="66" hasCustomPrompt="1"/>
          </p:nvPr>
        </p:nvSpPr>
        <p:spPr>
          <a:xfrm>
            <a:off x="6151069" y="354901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5" name="Segnaposto testo 54"/>
          <p:cNvSpPr>
            <a:spLocks noGrp="1"/>
          </p:cNvSpPr>
          <p:nvPr>
            <p:ph type="body" sz="quarter" idx="67" hasCustomPrompt="1"/>
          </p:nvPr>
        </p:nvSpPr>
        <p:spPr>
          <a:xfrm>
            <a:off x="515377" y="3270385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6" name="Segnaposto testo 54"/>
          <p:cNvSpPr>
            <a:spLocks noGrp="1"/>
          </p:cNvSpPr>
          <p:nvPr>
            <p:ph type="body" sz="quarter" idx="68" hasCustomPrompt="1"/>
          </p:nvPr>
        </p:nvSpPr>
        <p:spPr>
          <a:xfrm>
            <a:off x="515381" y="3549014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7" name="Segnaposto testo 54"/>
          <p:cNvSpPr>
            <a:spLocks noGrp="1"/>
          </p:cNvSpPr>
          <p:nvPr>
            <p:ph type="body" sz="quarter" idx="69" hasCustomPrompt="1"/>
          </p:nvPr>
        </p:nvSpPr>
        <p:spPr>
          <a:xfrm>
            <a:off x="6151065" y="4290498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48" name="Segnaposto testo 54"/>
          <p:cNvSpPr>
            <a:spLocks noGrp="1"/>
          </p:cNvSpPr>
          <p:nvPr>
            <p:ph type="body" sz="quarter" idx="70" hasCustomPrompt="1"/>
          </p:nvPr>
        </p:nvSpPr>
        <p:spPr>
          <a:xfrm>
            <a:off x="6151069" y="4569128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49" name="Segnaposto testo 54"/>
          <p:cNvSpPr>
            <a:spLocks noGrp="1"/>
          </p:cNvSpPr>
          <p:nvPr>
            <p:ph type="body" sz="quarter" idx="71" hasCustomPrompt="1"/>
          </p:nvPr>
        </p:nvSpPr>
        <p:spPr>
          <a:xfrm>
            <a:off x="515377" y="4290498"/>
            <a:ext cx="5490147" cy="240529"/>
          </a:xfrm>
        </p:spPr>
        <p:txBody>
          <a:bodyPr/>
          <a:lstStyle>
            <a:lvl1pPr>
              <a:defRPr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50" name="Segnaposto testo 54"/>
          <p:cNvSpPr>
            <a:spLocks noGrp="1"/>
          </p:cNvSpPr>
          <p:nvPr>
            <p:ph type="body" sz="quarter" idx="72" hasCustomPrompt="1"/>
          </p:nvPr>
        </p:nvSpPr>
        <p:spPr>
          <a:xfrm>
            <a:off x="515381" y="4569128"/>
            <a:ext cx="5490143" cy="643705"/>
          </a:xfrm>
        </p:spPr>
        <p:txBody>
          <a:bodyPr/>
          <a:lstStyle>
            <a:lvl1pPr>
              <a:lnSpc>
                <a:spcPts val="2267"/>
              </a:lnSpc>
              <a:defRPr sz="2000" b="1" i="0" baseline="0"/>
            </a:lvl1pPr>
            <a:lvl4pPr marL="977876" indent="-239178">
              <a:tabLst>
                <a:tab pos="482588" algn="l"/>
                <a:tab pos="717533" algn="l"/>
                <a:tab pos="1077357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</p:spTree>
    <p:extLst>
      <p:ext uri="{BB962C8B-B14F-4D97-AF65-F5344CB8AC3E}">
        <p14:creationId xmlns:p14="http://schemas.microsoft.com/office/powerpoint/2010/main" val="10711608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rt + Numeric Highligh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AB9C11B8-EE86-4BD2-AD96-547A5DD31C48}" type="datetime1">
              <a:rPr lang="en-US" smtClean="0"/>
              <a:t>10/20/2025</a:t>
            </a:fld>
            <a:endParaRPr lang="it-IT"/>
          </a:p>
        </p:txBody>
      </p:sp>
      <p:sp>
        <p:nvSpPr>
          <p:cNvPr id="10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7" name="Segnaposto grafico 20"/>
          <p:cNvSpPr>
            <a:spLocks noGrp="1"/>
          </p:cNvSpPr>
          <p:nvPr>
            <p:ph type="chart" sz="quarter" idx="17"/>
          </p:nvPr>
        </p:nvSpPr>
        <p:spPr>
          <a:xfrm>
            <a:off x="463069" y="1682751"/>
            <a:ext cx="5501217" cy="4378325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  <p:sp>
        <p:nvSpPr>
          <p:cNvPr id="20" name="Segnaposto tes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061496" y="1682751"/>
            <a:ext cx="5591001" cy="1525588"/>
          </a:xfrm>
        </p:spPr>
        <p:txBody>
          <a:bodyPr numCol="1" spcCol="144000"/>
          <a:lstStyle>
            <a:lvl1pPr>
              <a:lnSpc>
                <a:spcPct val="100000"/>
              </a:lnSpc>
              <a:spcAft>
                <a:spcPts val="2400"/>
              </a:spcAft>
              <a:defRPr sz="9600" b="1" i="0" baseline="0">
                <a:solidFill>
                  <a:srgbClr val="BD0D22"/>
                </a:solidFill>
              </a:defRPr>
            </a:lvl1pPr>
            <a:lvl2pPr marL="0" indent="0">
              <a:buFontTx/>
              <a:buNone/>
              <a:defRPr baseline="0"/>
            </a:lvl2pPr>
          </a:lstStyle>
          <a:p>
            <a:pPr lvl="0"/>
            <a:r>
              <a:rPr lang="it-IT"/>
              <a:t>000,1%</a:t>
            </a:r>
          </a:p>
        </p:txBody>
      </p:sp>
      <p:sp>
        <p:nvSpPr>
          <p:cNvPr id="21" name="Segnaposto testo 2"/>
          <p:cNvSpPr>
            <a:spLocks noGrp="1"/>
          </p:cNvSpPr>
          <p:nvPr>
            <p:ph type="body" sz="quarter" idx="18" hasCustomPrompt="1"/>
          </p:nvPr>
        </p:nvSpPr>
        <p:spPr>
          <a:xfrm>
            <a:off x="6061496" y="3277348"/>
            <a:ext cx="5591001" cy="2783729"/>
          </a:xfrm>
        </p:spPr>
        <p:txBody>
          <a:bodyPr/>
          <a:lstStyle>
            <a:lvl1pPr>
              <a:defRPr b="1" i="0">
                <a:solidFill>
                  <a:schemeClr val="accent4"/>
                </a:solidFill>
              </a:defRPr>
            </a:lvl1pPr>
          </a:lstStyle>
          <a:p>
            <a:pPr lvl="0"/>
            <a:r>
              <a:rPr lang="it-IT"/>
              <a:t>Testo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sp>
        <p:nvSpPr>
          <p:cNvPr id="25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73559"/>
            <a:ext cx="2964165" cy="115991"/>
          </a:xfrm>
        </p:spPr>
        <p:txBody>
          <a:bodyPr>
            <a:normAutofit/>
          </a:bodyPr>
          <a:lstStyle>
            <a:lvl1pPr>
              <a:lnSpc>
                <a:spcPts val="933"/>
              </a:lnSpc>
              <a:defRPr sz="7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  <p:sp>
        <p:nvSpPr>
          <p:cNvPr id="16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1123631"/>
            <a:ext cx="11182248" cy="38711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8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464578"/>
            <a:ext cx="11182248" cy="623719"/>
          </a:xfrm>
        </p:spPr>
        <p:txBody>
          <a:bodyPr/>
          <a:lstStyle>
            <a:lvl1pPr>
              <a:lnSpc>
                <a:spcPct val="1000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Slide Title </a:t>
            </a: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</p:spTree>
    <p:extLst>
      <p:ext uri="{BB962C8B-B14F-4D97-AF65-F5344CB8AC3E}">
        <p14:creationId xmlns:p14="http://schemas.microsoft.com/office/powerpoint/2010/main" val="40228574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0" y="6459985"/>
            <a:ext cx="106560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C76311C7-1EFE-4072-9B11-4E72ED9535AF}" type="datetime1">
              <a:rPr lang="en-US" smtClean="0"/>
              <a:t>10/20/2025</a:t>
            </a:fld>
            <a:endParaRPr lang="it-IT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2" y="0"/>
            <a:ext cx="267377" cy="6858000"/>
          </a:xfrm>
          <a:prstGeom prst="rect">
            <a:avLst/>
          </a:prstGeom>
        </p:spPr>
      </p:pic>
      <p:sp>
        <p:nvSpPr>
          <p:cNvPr id="11" name="CasellaDiTesto 10"/>
          <p:cNvSpPr txBox="1"/>
          <p:nvPr userDrawn="1"/>
        </p:nvSpPr>
        <p:spPr>
          <a:xfrm>
            <a:off x="463068" y="3031069"/>
            <a:ext cx="11199776" cy="5078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4400" b="1" baseline="0" err="1">
                <a:solidFill>
                  <a:schemeClr val="tx2"/>
                </a:solidFill>
              </a:rPr>
              <a:t>Thank</a:t>
            </a:r>
            <a:r>
              <a:rPr lang="it-IT" sz="4400" b="1" baseline="0">
                <a:solidFill>
                  <a:schemeClr val="tx2"/>
                </a:solidFill>
              </a:rPr>
              <a:t> </a:t>
            </a:r>
            <a:r>
              <a:rPr lang="it-IT" sz="4400" b="1" baseline="0" err="1">
                <a:solidFill>
                  <a:schemeClr val="tx2"/>
                </a:solidFill>
              </a:rPr>
              <a:t>You</a:t>
            </a:r>
            <a:r>
              <a:rPr lang="it-IT" sz="4400" b="1" baseline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2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463069" y="5351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17" name="CasellaDiTesto 16"/>
          <p:cNvSpPr txBox="1"/>
          <p:nvPr userDrawn="1"/>
        </p:nvSpPr>
        <p:spPr>
          <a:xfrm>
            <a:off x="463070" y="4645123"/>
            <a:ext cx="6107287" cy="15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it-IT" sz="1333" b="1" baseline="0" err="1">
                <a:solidFill>
                  <a:schemeClr val="tx2"/>
                </a:solidFill>
              </a:rPr>
              <a:t>Contacts</a:t>
            </a:r>
            <a:r>
              <a:rPr lang="it-IT" sz="1333" b="1" baseline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20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3069" y="5605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r>
              <a:rPr lang="it-IT"/>
              <a:t> +39 / Fax </a:t>
            </a:r>
            <a:r>
              <a:rPr lang="it-IT" err="1"/>
              <a:t>Number</a:t>
            </a:r>
            <a:r>
              <a:rPr lang="it-IT"/>
              <a:t> +39 </a:t>
            </a:r>
          </a:p>
        </p:txBody>
      </p:sp>
      <p:sp>
        <p:nvSpPr>
          <p:cNvPr id="21" name="Segnaposto testo 3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9" y="5859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Website</a:t>
            </a:r>
          </a:p>
        </p:txBody>
      </p:sp>
      <p:sp>
        <p:nvSpPr>
          <p:cNvPr id="22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463069" y="5097463"/>
            <a:ext cx="6107289" cy="1688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3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463069" y="4838078"/>
            <a:ext cx="6107289" cy="21206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Department</a:t>
            </a:r>
            <a:endParaRPr lang="it-IT"/>
          </a:p>
        </p:txBody>
      </p:sp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067" y="382888"/>
            <a:ext cx="1152000" cy="937912"/>
          </a:xfrm>
          <a:prstGeom prst="rect">
            <a:avLst/>
          </a:prstGeom>
        </p:spPr>
      </p:pic>
      <p:pic>
        <p:nvPicPr>
          <p:cNvPr id="24" name="Picture 2" descr="C:\Users\Shirani\Desktop\Social_logo_red_background\Social_logo_red_background\YouTube-red.emf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9501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C:\Users\Shirani\Desktop\Social_logo_red_background\Social_logo_red_background\Facebook-red.emf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016" y="5532266"/>
            <a:ext cx="461813" cy="46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C:\Users\Shirani\Desktop\Social_logo_red_background\Social_logo_red_background\Flickr-red.emf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496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5" descr="C:\Users\Shirani\Desktop\Social_logo_red_background\Social_logo_red_background\Google+_red.emf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506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C:\Users\Shirani\Desktop\Social_logo_red_background\Social_logo_red_background\LinkedIn-red.emf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021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7" descr="C:\Users\Shirani\Desktop\Social_logo_red_background\Social_logo_red_background\SlideShare-red.emf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3493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C:\Users\Shirani\Desktop\Social_logo_red_background\Social_logo_red_background\Twitter-red.emf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512" y="5531769"/>
            <a:ext cx="462313" cy="4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8953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ck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02" y="6459985"/>
            <a:ext cx="1066420" cy="114300"/>
          </a:xfrm>
        </p:spPr>
        <p:txBody>
          <a:bodyPr lIns="0" tIns="0" rIns="0" bIns="0" anchor="t" anchorCtr="0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1F2B6987-F2EF-4EF8-A8B6-DE413A5A9AAC}" type="datetime1">
              <a:rPr lang="en-US" smtClean="0"/>
              <a:t>10/20/2025</a:t>
            </a:fld>
            <a:endParaRPr lang="it-IT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730605"/>
            <a:ext cx="11182248" cy="408081"/>
          </a:xfrm>
        </p:spPr>
        <p:txBody>
          <a:bodyPr/>
          <a:lstStyle>
            <a:lvl1pPr>
              <a:lnSpc>
                <a:spcPts val="2933"/>
              </a:lnSpc>
              <a:defRPr sz="2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Back-Up</a:t>
            </a:r>
          </a:p>
        </p:txBody>
      </p:sp>
      <p:sp>
        <p:nvSpPr>
          <p:cNvPr id="11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461441"/>
            <a:ext cx="11182248" cy="83115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buNone/>
              <a:defRPr sz="200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Back-Up </a:t>
            </a:r>
            <a:r>
              <a:rPr lang="it-IT" err="1"/>
              <a:t>Subtitle</a:t>
            </a:r>
            <a:r>
              <a:rPr lang="it-IT"/>
              <a:t>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2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130425"/>
            <a:ext cx="11182248" cy="1235075"/>
          </a:xfrm>
        </p:spPr>
        <p:txBody>
          <a:bodyPr/>
          <a:lstStyle>
            <a:lvl1pPr>
              <a:lnSpc>
                <a:spcPts val="4667"/>
              </a:lnSpc>
              <a:defRPr sz="3300" b="1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Back-Up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69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BAA3-5F54-4237-8E77-21EE4812AD0F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04AB-F757-4307-A6BB-72F47CA40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7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0F15A4-D2D9-1918-1885-0E8CC1269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0ED6C9F-88F8-81B9-3FEC-1F5AF6274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B87D79-03EA-76CC-906D-5D3BC022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70462E-D0F1-69C9-C24C-7EC32187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3EBBAE-FAD8-FBEC-EA32-172B9A0F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032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778A80-8106-DE12-01A3-98361CED6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EF3CC2-EB4A-1419-6FFB-95E2F875A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3B902B-F315-7FB3-8CD4-03B00A34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54F7AF-AD3F-6FE9-CE6F-18C3D8FF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33F1DF-96BB-9A90-F770-B68E2DD6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162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62B89D-0FB8-8530-D8A6-4C8BBAC9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C89E96-0D89-1E25-DFF3-7C4E32952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115925-11B2-E26C-786C-B679DF59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0872CE-A08A-06E9-6198-B922591C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634313-C673-5CB6-1D63-B5CEE6F8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8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AC12D1-BDC1-6254-CE4E-BBE35104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550D9C-88C5-E00C-70B1-0EF8F4EDE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42CF4D7-B710-014B-FABD-510328729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673BD43-9828-F702-7CF7-EA1A100F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3D53C04-2854-51F0-049F-E342C6F6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48F538-6A2C-9895-93F5-ED3DC7D7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572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12E63-7895-0310-5B22-F9BF69E3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996069-BEC7-4676-5D71-5EC85EC46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C1F9E4F-0B9E-974D-C823-8D61F0FD8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B37B55B-4A19-DD4C-8A98-A381536FE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52B9B41-1D75-181A-DACE-6E9AF60C2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6062B40-A11D-4B7E-7FF2-A51BA3C6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46508F4-43BC-5AD8-6887-9C45C16B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C744A06-23A1-F877-A41B-AB3E6063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867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37AF42-FE5C-F602-49D9-8D7C4233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B334FE6-83E3-01DC-B15F-661A9A75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138D3EC-2BCC-BF2E-1F26-52727362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DE3F08-EA08-8257-F913-6B1A5B9E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177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0FA4D5F-B225-BB60-DB4C-EDFDC841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F6714E-82E5-C04F-B541-1A41F49C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279513-1D84-727B-F5F0-A3718D4C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555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F50AA5-3791-9BFA-AACB-5334F54E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92C741-A187-CE83-0BD2-6EF8ADEB9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35904D5-01B2-C929-FE30-EC82A0BBC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AF14FC6-4F5E-1FA5-8994-4BD6112C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640E0E-6096-EE84-17C5-3C081955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26380D-445D-61BF-9E21-BFC93CC39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507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E3DBF2-582B-5111-6DD4-55ED83A77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ECFAA95-CE4B-7919-AC4C-F221F5193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8C6D33-5D00-A624-2DD4-A54C41478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15C7EC8-3D54-BD52-5655-9A02599B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C85F31-EED2-5343-8E11-362F42FE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006DBE8-4305-C888-E5AD-AE81ADED0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830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D60269-1249-DD23-B932-F1576CF3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D9E9B18-866A-6BE7-81A2-E9BEE0974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99560A-7D6E-6ADB-99B0-848F18C0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1EBE31-BB7E-3E7A-B190-48B8637B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EDA3E7-B684-8B49-4D39-778B5504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607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4C6BF2C-A349-52CB-2265-A0D8C2E4B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45B005B-314D-7D1E-B621-B18F0E389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D6D146-D3E7-E408-F9A4-3CA320AD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839252-AE2F-C48E-F606-875ED3116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EB141F-464B-B5DF-1217-311642DF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181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8" y="273559"/>
            <a:ext cx="266889" cy="178319"/>
          </a:xfrm>
        </p:spPr>
        <p:txBody>
          <a:bodyPr lIns="0" tIns="0" rIns="0" bIns="0" anchor="t" anchorCtr="0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7" y="6459986"/>
            <a:ext cx="3860800" cy="114300"/>
          </a:xfrm>
        </p:spPr>
        <p:txBody>
          <a:bodyPr lIns="0" tIns="0" rIns="0" bIns="0"/>
          <a:lstStyle>
            <a:lvl1pPr algn="l">
              <a:defRPr sz="933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730605"/>
            <a:ext cx="11182248" cy="425095"/>
          </a:xfrm>
        </p:spPr>
        <p:txBody>
          <a:bodyPr/>
          <a:lstStyle>
            <a:lvl1pPr>
              <a:lnSpc>
                <a:spcPts val="2933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7" y="3589009"/>
            <a:ext cx="11182248" cy="8432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aseline="0">
                <a:solidFill>
                  <a:srgbClr val="7F7F7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Section SubTitle </a:t>
            </a:r>
            <a:br>
              <a:rPr lang="it-IT"/>
            </a:br>
            <a:r>
              <a:rPr lang="it-IT"/>
              <a:t>Arial Regular 20/24pt</a:t>
            </a: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7" y="2130425"/>
            <a:ext cx="11182248" cy="1407784"/>
          </a:xfrm>
        </p:spPr>
        <p:txBody>
          <a:bodyPr/>
          <a:lstStyle>
            <a:lvl1pPr>
              <a:lnSpc>
                <a:spcPct val="100000"/>
              </a:lnSpc>
              <a:defRPr sz="3300" b="1" i="0" baseline="0"/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43717" y="6202132"/>
            <a:ext cx="5923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2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610350" y="6356351"/>
            <a:ext cx="19240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DD6173C-593E-4AAF-8C80-D88ED189D490}" type="datetime1">
              <a:rPr lang="en-US" smtClean="0"/>
              <a:t>10/20/2025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8620607" y="6356351"/>
            <a:ext cx="2052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1022061" y="6356351"/>
            <a:ext cx="5603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82350" y="248919"/>
            <a:ext cx="432047" cy="1892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02304AB-F757-4307-A6BB-72F47CA40522}" type="slidenum">
              <a:rPr lang="en-US" sz="800" smtClean="0">
                <a:solidFill>
                  <a:srgbClr val="C00000"/>
                </a:solidFill>
              </a:rPr>
              <a:pPr algn="r"/>
              <a:t>‹#›</a:t>
            </a:fld>
            <a:endParaRPr lang="en-US" sz="800">
              <a:solidFill>
                <a:srgbClr val="C00000"/>
              </a:solidFill>
            </a:endParaRPr>
          </a:p>
        </p:txBody>
      </p:sp>
      <p:sp>
        <p:nvSpPr>
          <p:cNvPr id="18" name="object 3"/>
          <p:cNvSpPr txBox="1"/>
          <p:nvPr userDrawn="1"/>
        </p:nvSpPr>
        <p:spPr>
          <a:xfrm>
            <a:off x="463067" y="6479035"/>
            <a:ext cx="2636247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 spc="0">
                <a:solidFill>
                  <a:schemeClr val="tx2"/>
                </a:solidFill>
                <a:latin typeface="Arial"/>
                <a:cs typeface="Arial"/>
              </a:rPr>
              <a:t>Generali Head Office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20" name="object 3"/>
          <p:cNvSpPr txBox="1"/>
          <p:nvPr userDrawn="1"/>
        </p:nvSpPr>
        <p:spPr>
          <a:xfrm>
            <a:off x="3266151" y="6479035"/>
            <a:ext cx="1495709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>
                <a:solidFill>
                  <a:schemeClr val="tx2"/>
                </a:solidFill>
                <a:latin typeface="Arial"/>
                <a:cs typeface="Arial"/>
              </a:rPr>
              <a:t>Trieste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552856" y="6427761"/>
            <a:ext cx="2214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700" kern="120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June</a:t>
            </a:r>
            <a:r>
              <a:rPr lang="it-IT" sz="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15th, 2020</a:t>
            </a:r>
            <a:endParaRPr lang="en-US" sz="7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MSIPCMContentMarking" descr="{&quot;HashCode&quot;:1262666206,&quot;Placement&quot;:&quot;Footer&quot;}">
            <a:extLst>
              <a:ext uri="{FF2B5EF4-FFF2-40B4-BE49-F238E27FC236}">
                <a16:creationId xmlns:a16="http://schemas.microsoft.com/office/drawing/2014/main" id="{99C3B4C7-0C67-44B5-B45F-BE4A2CF5740E}"/>
              </a:ext>
            </a:extLst>
          </p:cNvPr>
          <p:cNvSpPr txBox="1"/>
          <p:nvPr userDrawn="1"/>
        </p:nvSpPr>
        <p:spPr>
          <a:xfrm>
            <a:off x="0" y="6608802"/>
            <a:ext cx="806042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   Internal </a:t>
            </a:r>
          </a:p>
        </p:txBody>
      </p:sp>
      <p:sp>
        <p:nvSpPr>
          <p:cNvPr id="23" name="fl" descr=" Internal"/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endParaRPr lang="en-US" sz="800" b="0" i="0" u="none" baseline="0">
              <a:solidFill>
                <a:srgbClr val="99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 ftr="0" dt="0"/>
  <p:txStyles>
    <p:titleStyle>
      <a:lvl1pPr algn="l" defTabSz="609585" rtl="0" eaLnBrk="1" latinLnBrk="0" hangingPunct="1">
        <a:lnSpc>
          <a:spcPts val="4267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ts val="1600"/>
        </a:lnSpc>
        <a:spcBef>
          <a:spcPts val="0"/>
        </a:spcBef>
        <a:buFontTx/>
        <a:buNone/>
        <a:defRPr sz="1333" kern="1200">
          <a:solidFill>
            <a:schemeClr val="tx1"/>
          </a:solidFill>
          <a:latin typeface="+mn-lt"/>
          <a:ea typeface="+mn-ea"/>
          <a:cs typeface="+mn-cs"/>
        </a:defRPr>
      </a:lvl1pPr>
      <a:lvl2pPr marL="479988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Clr>
          <a:schemeClr val="tx2"/>
        </a:buClr>
        <a:buFont typeface="Wingdings" charset="2"/>
        <a:buChar char="§"/>
        <a:defRPr sz="1333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19982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Font typeface="Lucida Grande"/>
        <a:buChar char="-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979176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Font typeface="Arial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214370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Font typeface="Wingdings" charset="2"/>
        <a:buChar char="Ø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610350" y="6356351"/>
            <a:ext cx="19240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DD6173C-593E-4AAF-8C80-D88ED189D490}" type="datetime1">
              <a:rPr lang="en-US" smtClean="0"/>
              <a:t>10/20/2025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8620607" y="6356351"/>
            <a:ext cx="2052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1022061" y="6356351"/>
            <a:ext cx="5603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465A074-71B0-1C47-A455-7677837C124E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82350" y="248919"/>
            <a:ext cx="432047" cy="1892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02304AB-F757-4307-A6BB-72F47CA40522}" type="slidenum">
              <a:rPr lang="en-US" sz="800" smtClean="0">
                <a:solidFill>
                  <a:srgbClr val="C00000"/>
                </a:solidFill>
              </a:rPr>
              <a:pPr algn="r"/>
              <a:t>‹#›</a:t>
            </a:fld>
            <a:endParaRPr lang="en-US" sz="800">
              <a:solidFill>
                <a:srgbClr val="C00000"/>
              </a:solidFill>
            </a:endParaRPr>
          </a:p>
        </p:txBody>
      </p:sp>
      <p:sp>
        <p:nvSpPr>
          <p:cNvPr id="18" name="object 3"/>
          <p:cNvSpPr txBox="1"/>
          <p:nvPr userDrawn="1"/>
        </p:nvSpPr>
        <p:spPr>
          <a:xfrm>
            <a:off x="463067" y="6479035"/>
            <a:ext cx="2636247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 spc="0">
                <a:solidFill>
                  <a:schemeClr val="tx2"/>
                </a:solidFill>
                <a:latin typeface="Arial"/>
                <a:cs typeface="Arial"/>
              </a:rPr>
              <a:t>Generali Head Office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20" name="object 3"/>
          <p:cNvSpPr txBox="1"/>
          <p:nvPr userDrawn="1"/>
        </p:nvSpPr>
        <p:spPr>
          <a:xfrm>
            <a:off x="3266151" y="6479035"/>
            <a:ext cx="1495709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933" marR="0" indent="0" algn="l" defTabSz="609585" rtl="0" eaLnBrk="1" fontAlgn="auto" latinLnBrk="0" hangingPunct="1">
              <a:lnSpc>
                <a:spcPct val="95825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700">
                <a:solidFill>
                  <a:schemeClr val="tx2"/>
                </a:solidFill>
                <a:latin typeface="Arial"/>
                <a:cs typeface="Arial"/>
              </a:rPr>
              <a:t>Trieste</a:t>
            </a:r>
            <a:endParaRPr sz="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552856" y="6427761"/>
            <a:ext cx="2214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January 30th, 2020</a:t>
            </a:r>
            <a:endParaRPr lang="en-US" sz="7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5767765" y="6427762"/>
            <a:ext cx="15183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Title</a:t>
            </a:r>
            <a:endParaRPr lang="en-US" sz="7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MSIPCMContentMarking" descr="{&quot;HashCode&quot;:1262666206,&quot;Placement&quot;:&quot;Footer&quot;}">
            <a:extLst>
              <a:ext uri="{FF2B5EF4-FFF2-40B4-BE49-F238E27FC236}">
                <a16:creationId xmlns:a16="http://schemas.microsoft.com/office/drawing/2014/main" id="{99C3B4C7-0C67-44B5-B45F-BE4A2CF5740E}"/>
              </a:ext>
            </a:extLst>
          </p:cNvPr>
          <p:cNvSpPr txBox="1"/>
          <p:nvPr userDrawn="1"/>
        </p:nvSpPr>
        <p:spPr>
          <a:xfrm>
            <a:off x="0" y="6608802"/>
            <a:ext cx="806042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   Internal </a:t>
            </a:r>
          </a:p>
        </p:txBody>
      </p:sp>
      <p:sp>
        <p:nvSpPr>
          <p:cNvPr id="23" name="fl" descr=" Internal"/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endParaRPr lang="en-US" sz="800" b="0" i="0" u="none" baseline="0">
              <a:solidFill>
                <a:srgbClr val="99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48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</p:sldLayoutIdLst>
  <p:hf sldNum="0" hdr="0" ftr="0" dt="0"/>
  <p:txStyles>
    <p:titleStyle>
      <a:lvl1pPr algn="l" defTabSz="609585" rtl="0" eaLnBrk="1" latinLnBrk="0" hangingPunct="1">
        <a:lnSpc>
          <a:spcPts val="4267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lnSpc>
          <a:spcPts val="1600"/>
        </a:lnSpc>
        <a:spcBef>
          <a:spcPts val="0"/>
        </a:spcBef>
        <a:buFontTx/>
        <a:buNone/>
        <a:defRPr sz="1333" kern="1200">
          <a:solidFill>
            <a:schemeClr val="tx1"/>
          </a:solidFill>
          <a:latin typeface="+mn-lt"/>
          <a:ea typeface="+mn-ea"/>
          <a:cs typeface="+mn-cs"/>
        </a:defRPr>
      </a:lvl1pPr>
      <a:lvl2pPr marL="479988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Clr>
          <a:schemeClr val="tx2"/>
        </a:buClr>
        <a:buFont typeface="Wingdings" charset="2"/>
        <a:buChar char="§"/>
        <a:defRPr sz="1333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19982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Font typeface="Lucida Grande"/>
        <a:buChar char="-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979176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Font typeface="Arial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214370" indent="-239994" algn="l" defTabSz="609585" rtl="0" eaLnBrk="1" latinLnBrk="0" hangingPunct="1">
        <a:lnSpc>
          <a:spcPts val="1600"/>
        </a:lnSpc>
        <a:spcBef>
          <a:spcPts val="0"/>
        </a:spcBef>
        <a:spcAft>
          <a:spcPts val="0"/>
        </a:spcAft>
        <a:buFont typeface="Wingdings" charset="2"/>
        <a:buChar char="Ø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7E50C4D-3E2A-6179-539A-4F15244A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024A09-437B-2FA2-63C4-036C7B1FE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A9F347-FE89-DB37-C31C-1271D96D4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1F678-26C6-4E72-B7B3-4AB1EE53D64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2259851-8CC2-CBA6-8F5E-20BF39B00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1AECEA-CCC8-EC1F-0182-B443AB580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ADF1A-1BAB-4F23-952E-D391976E0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9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emf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emf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1.png"/><Relationship Id="rId21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2.emf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23" Type="http://schemas.openxmlformats.org/officeDocument/2006/relationships/image" Target="../media/image37.jpeg"/><Relationship Id="rId10" Type="http://schemas.openxmlformats.org/officeDocument/2006/relationships/image" Target="../media/image21.emf"/><Relationship Id="rId19" Type="http://schemas.openxmlformats.org/officeDocument/2006/relationships/image" Target="../media/image30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1.png"/><Relationship Id="rId21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2.emf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10" Type="http://schemas.openxmlformats.org/officeDocument/2006/relationships/image" Target="../media/image21.emf"/><Relationship Id="rId19" Type="http://schemas.openxmlformats.org/officeDocument/2006/relationships/image" Target="../media/image30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1.png"/><Relationship Id="rId21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2.emf"/><Relationship Id="rId24" Type="http://schemas.openxmlformats.org/officeDocument/2006/relationships/image" Target="../media/image33.png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23" Type="http://schemas.openxmlformats.org/officeDocument/2006/relationships/image" Target="../media/image35.png"/><Relationship Id="rId10" Type="http://schemas.openxmlformats.org/officeDocument/2006/relationships/image" Target="../media/image21.emf"/><Relationship Id="rId19" Type="http://schemas.openxmlformats.org/officeDocument/2006/relationships/image" Target="../media/image30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1.png"/><Relationship Id="rId21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2.emf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23" Type="http://schemas.openxmlformats.org/officeDocument/2006/relationships/image" Target="../media/image37.jpeg"/><Relationship Id="rId10" Type="http://schemas.openxmlformats.org/officeDocument/2006/relationships/image" Target="../media/image21.emf"/><Relationship Id="rId19" Type="http://schemas.openxmlformats.org/officeDocument/2006/relationships/image" Target="../media/image30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emf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7.jpe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emf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emf"/><Relationship Id="rId18" Type="http://schemas.openxmlformats.org/officeDocument/2006/relationships/image" Target="../media/image26.png"/><Relationship Id="rId26" Type="http://schemas.openxmlformats.org/officeDocument/2006/relationships/image" Target="../media/image37.jpeg"/><Relationship Id="rId3" Type="http://schemas.openxmlformats.org/officeDocument/2006/relationships/image" Target="../media/image11.png"/><Relationship Id="rId21" Type="http://schemas.openxmlformats.org/officeDocument/2006/relationships/image" Target="../media/image29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6.png"/><Relationship Id="rId24" Type="http://schemas.openxmlformats.org/officeDocument/2006/relationships/image" Target="../media/image34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3.pn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4" Type="http://schemas.openxmlformats.org/officeDocument/2006/relationships/image" Target="../media/image22.emf"/><Relationship Id="rId22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9.svg"/><Relationship Id="rId5" Type="http://schemas.openxmlformats.org/officeDocument/2006/relationships/image" Target="../media/image17.png"/><Relationship Id="rId15" Type="http://schemas.openxmlformats.org/officeDocument/2006/relationships/image" Target="../media/image37.jpeg"/><Relationship Id="rId10" Type="http://schemas.openxmlformats.org/officeDocument/2006/relationships/image" Target="../media/image28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2.png"/><Relationship Id="rId3" Type="http://schemas.openxmlformats.org/officeDocument/2006/relationships/image" Target="../media/image38.png"/><Relationship Id="rId21" Type="http://schemas.openxmlformats.org/officeDocument/2006/relationships/image" Target="../media/image55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sv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7.svg"/><Relationship Id="rId10" Type="http://schemas.openxmlformats.org/officeDocument/2006/relationships/image" Target="../media/image45.svg"/><Relationship Id="rId19" Type="http://schemas.openxmlformats.org/officeDocument/2006/relationships/image" Target="../media/image53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Relationship Id="rId22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sv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7.svg"/><Relationship Id="rId3" Type="http://schemas.openxmlformats.org/officeDocument/2006/relationships/image" Target="../media/image45.svg"/><Relationship Id="rId7" Type="http://schemas.openxmlformats.org/officeDocument/2006/relationships/image" Target="../media/image41.svg"/><Relationship Id="rId12" Type="http://schemas.openxmlformats.org/officeDocument/2006/relationships/image" Target="../media/image5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7.svg"/><Relationship Id="rId5" Type="http://schemas.openxmlformats.org/officeDocument/2006/relationships/image" Target="../media/image62.svg"/><Relationship Id="rId10" Type="http://schemas.openxmlformats.org/officeDocument/2006/relationships/image" Target="../media/image46.png"/><Relationship Id="rId4" Type="http://schemas.openxmlformats.org/officeDocument/2006/relationships/image" Target="../media/image61.png"/><Relationship Id="rId9" Type="http://schemas.openxmlformats.org/officeDocument/2006/relationships/image" Target="../media/image4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64.svg"/><Relationship Id="rId3" Type="http://schemas.openxmlformats.org/officeDocument/2006/relationships/image" Target="../media/image45.svg"/><Relationship Id="rId7" Type="http://schemas.openxmlformats.org/officeDocument/2006/relationships/image" Target="../media/image41.svg"/><Relationship Id="rId12" Type="http://schemas.openxmlformats.org/officeDocument/2006/relationships/image" Target="../media/image6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7.svg"/><Relationship Id="rId5" Type="http://schemas.openxmlformats.org/officeDocument/2006/relationships/image" Target="../media/image62.svg"/><Relationship Id="rId15" Type="http://schemas.openxmlformats.org/officeDocument/2006/relationships/image" Target="../media/image66.svg"/><Relationship Id="rId10" Type="http://schemas.openxmlformats.org/officeDocument/2006/relationships/image" Target="../media/image46.png"/><Relationship Id="rId4" Type="http://schemas.openxmlformats.org/officeDocument/2006/relationships/image" Target="../media/image61.png"/><Relationship Id="rId9" Type="http://schemas.openxmlformats.org/officeDocument/2006/relationships/image" Target="../media/image43.svg"/><Relationship Id="rId1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62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62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68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45.svg"/><Relationship Id="rId7" Type="http://schemas.openxmlformats.org/officeDocument/2006/relationships/image" Target="../media/image70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3.svg"/><Relationship Id="rId5" Type="http://schemas.openxmlformats.org/officeDocument/2006/relationships/image" Target="../media/image62.svg"/><Relationship Id="rId10" Type="http://schemas.openxmlformats.org/officeDocument/2006/relationships/image" Target="../media/image40.png"/><Relationship Id="rId4" Type="http://schemas.openxmlformats.org/officeDocument/2006/relationships/image" Target="../media/image61.png"/><Relationship Id="rId9" Type="http://schemas.openxmlformats.org/officeDocument/2006/relationships/image" Target="../media/image7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42.png"/><Relationship Id="rId3" Type="http://schemas.openxmlformats.org/officeDocument/2006/relationships/image" Target="../media/image25.png"/><Relationship Id="rId7" Type="http://schemas.openxmlformats.org/officeDocument/2006/relationships/image" Target="../media/image39.svg"/><Relationship Id="rId12" Type="http://schemas.openxmlformats.org/officeDocument/2006/relationships/image" Target="../media/image78.svg"/><Relationship Id="rId17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8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77.png"/><Relationship Id="rId5" Type="http://schemas.openxmlformats.org/officeDocument/2006/relationships/image" Target="../media/image45.svg"/><Relationship Id="rId15" Type="http://schemas.openxmlformats.org/officeDocument/2006/relationships/image" Target="../media/image79.png"/><Relationship Id="rId10" Type="http://schemas.openxmlformats.org/officeDocument/2006/relationships/image" Target="../media/image76.svg"/><Relationship Id="rId4" Type="http://schemas.openxmlformats.org/officeDocument/2006/relationships/image" Target="../media/image44.png"/><Relationship Id="rId9" Type="http://schemas.openxmlformats.org/officeDocument/2006/relationships/image" Target="../media/image75.png"/><Relationship Id="rId14" Type="http://schemas.openxmlformats.org/officeDocument/2006/relationships/image" Target="../media/image43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81.png"/><Relationship Id="rId3" Type="http://schemas.openxmlformats.org/officeDocument/2006/relationships/image" Target="../media/image42.png"/><Relationship Id="rId7" Type="http://schemas.openxmlformats.org/officeDocument/2006/relationships/image" Target="../media/image56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11" Type="http://schemas.openxmlformats.org/officeDocument/2006/relationships/image" Target="../media/image40.png"/><Relationship Id="rId5" Type="http://schemas.openxmlformats.org/officeDocument/2006/relationships/image" Target="../media/image46.png"/><Relationship Id="rId10" Type="http://schemas.openxmlformats.org/officeDocument/2006/relationships/image" Target="../media/image39.svg"/><Relationship Id="rId4" Type="http://schemas.openxmlformats.org/officeDocument/2006/relationships/image" Target="../media/image43.svg"/><Relationship Id="rId9" Type="http://schemas.openxmlformats.org/officeDocument/2006/relationships/image" Target="../media/image38.png"/><Relationship Id="rId1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97.png"/><Relationship Id="rId18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52.png"/><Relationship Id="rId12" Type="http://schemas.openxmlformats.org/officeDocument/2006/relationships/image" Target="../media/image96.png"/><Relationship Id="rId17" Type="http://schemas.openxmlformats.org/officeDocument/2006/relationships/image" Target="../media/image100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93.svg"/><Relationship Id="rId11" Type="http://schemas.openxmlformats.org/officeDocument/2006/relationships/image" Target="../media/image95.svg"/><Relationship Id="rId5" Type="http://schemas.openxmlformats.org/officeDocument/2006/relationships/image" Target="../media/image92.png"/><Relationship Id="rId15" Type="http://schemas.openxmlformats.org/officeDocument/2006/relationships/image" Target="../media/image98.svg"/><Relationship Id="rId10" Type="http://schemas.openxmlformats.org/officeDocument/2006/relationships/image" Target="../media/image94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49.svg"/><Relationship Id="rId3" Type="http://schemas.openxmlformats.org/officeDocument/2006/relationships/image" Target="../media/image91.png"/><Relationship Id="rId7" Type="http://schemas.openxmlformats.org/officeDocument/2006/relationships/image" Target="../media/image95.svg"/><Relationship Id="rId12" Type="http://schemas.openxmlformats.org/officeDocument/2006/relationships/image" Target="../media/image48.png"/><Relationship Id="rId17" Type="http://schemas.openxmlformats.org/officeDocument/2006/relationships/image" Target="../media/image100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94.png"/><Relationship Id="rId11" Type="http://schemas.openxmlformats.org/officeDocument/2006/relationships/image" Target="../media/image47.svg"/><Relationship Id="rId5" Type="http://schemas.openxmlformats.org/officeDocument/2006/relationships/image" Target="../media/image32.png"/><Relationship Id="rId15" Type="http://schemas.openxmlformats.org/officeDocument/2006/relationships/image" Target="../media/image98.svg"/><Relationship Id="rId10" Type="http://schemas.openxmlformats.org/officeDocument/2006/relationships/image" Target="../media/image46.png"/><Relationship Id="rId4" Type="http://schemas.openxmlformats.org/officeDocument/2006/relationships/image" Target="../media/image27.png"/><Relationship Id="rId9" Type="http://schemas.openxmlformats.org/officeDocument/2006/relationships/image" Target="../media/image57.svg"/><Relationship Id="rId1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2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3.png"/><Relationship Id="rId5" Type="http://schemas.openxmlformats.org/officeDocument/2006/relationships/image" Target="../media/image102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02.png"/><Relationship Id="rId5" Type="http://schemas.openxmlformats.org/officeDocument/2006/relationships/image" Target="../media/image103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3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3.png"/><Relationship Id="rId5" Type="http://schemas.openxmlformats.org/officeDocument/2006/relationships/image" Target="../media/image103.png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3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23.png"/><Relationship Id="rId5" Type="http://schemas.openxmlformats.org/officeDocument/2006/relationships/image" Target="../media/image103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Project ADA</a:t>
            </a:r>
            <a:endParaRPr lang="en-US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it-IT"/>
              <a:t>Reference Architecture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/>
              <a:t>Group Operations &amp; Processes – </a:t>
            </a:r>
          </a:p>
          <a:p>
            <a:r>
              <a:rPr lang="it-IT"/>
              <a:t>IT Strategy &amp; Delivery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/>
              <a:t>GHO</a:t>
            </a:r>
            <a:endParaRPr lang="en-US"/>
          </a:p>
        </p:txBody>
      </p:sp>
      <p:sp>
        <p:nvSpPr>
          <p:cNvPr id="4" name="hlFirstPage" descr="Internal"/>
          <p:cNvSpPr txBox="1"/>
          <p:nvPr/>
        </p:nvSpPr>
        <p:spPr>
          <a:xfrm>
            <a:off x="254000" y="4381500"/>
            <a:ext cx="74090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b="1">
                <a:solidFill>
                  <a:srgbClr val="999999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1147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661CC52E-BA34-4986-81FD-4BDD57D9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2305789"/>
            <a:ext cx="11182248" cy="1298575"/>
          </a:xfrm>
        </p:spPr>
        <p:txBody>
          <a:bodyPr/>
          <a:lstStyle/>
          <a:p>
            <a:pPr algn="ctr"/>
            <a:r>
              <a:rPr lang="it-IT" sz="3600" b="1"/>
              <a:t>ARCHITECTURE AND COMPONENTS VIEW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234266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037768" y="7207892"/>
            <a:ext cx="453970" cy="215444"/>
          </a:xfrm>
          <a:prstGeom prst="rect">
            <a:avLst/>
          </a:prstGeom>
          <a:solidFill>
            <a:srgbClr val="F2F2F2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HTTPS</a:t>
            </a:r>
          </a:p>
        </p:txBody>
      </p:sp>
      <p:grpSp>
        <p:nvGrpSpPr>
          <p:cNvPr id="143" name="Group 142"/>
          <p:cNvGrpSpPr/>
          <p:nvPr/>
        </p:nvGrpSpPr>
        <p:grpSpPr>
          <a:xfrm>
            <a:off x="5400155" y="2491667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523587" y="2527678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5261521"/>
            <a:ext cx="2187872" cy="687152"/>
            <a:chOff x="6790177" y="6485982"/>
            <a:chExt cx="1276786" cy="687152"/>
          </a:xfrm>
        </p:grpSpPr>
        <p:sp>
          <p:nvSpPr>
            <p:cNvPr id="279" name="Rectangle 278"/>
            <p:cNvSpPr/>
            <p:nvPr/>
          </p:nvSpPr>
          <p:spPr>
            <a:xfrm>
              <a:off x="6790177" y="648598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pic>
        <p:nvPicPr>
          <p:cNvPr id="131" name="Picture 1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114" y="3338962"/>
            <a:ext cx="455094" cy="455094"/>
          </a:xfrm>
          <a:prstGeom prst="rect">
            <a:avLst/>
          </a:prstGeom>
        </p:spPr>
      </p:pic>
      <p:sp>
        <p:nvSpPr>
          <p:cNvPr id="322" name="Rectangle 321"/>
          <p:cNvSpPr/>
          <p:nvPr/>
        </p:nvSpPr>
        <p:spPr>
          <a:xfrm>
            <a:off x="9666834" y="2972870"/>
            <a:ext cx="1919356" cy="22694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9887169" y="2947607"/>
            <a:ext cx="1540806" cy="500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Business Information</a:t>
            </a:r>
            <a:endParaRPr lang="en-US" sz="1200" b="1" kern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Consumption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7" name="Picture 20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6059" y="3677470"/>
              <a:ext cx="481013" cy="481013"/>
            </a:xfrm>
            <a:prstGeom prst="rect">
              <a:avLst/>
            </a:prstGeom>
          </p:spPr>
        </p:pic>
        <p:pic>
          <p:nvPicPr>
            <p:cNvPr id="209" name="Picture 208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0280" y="3608893"/>
              <a:ext cx="476250" cy="476250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8200825" y="1677953"/>
            <a:ext cx="1551419" cy="576183"/>
            <a:chOff x="7781676" y="3379918"/>
            <a:chExt cx="1919356" cy="1005840"/>
          </a:xfrm>
        </p:grpSpPr>
        <p:sp>
          <p:nvSpPr>
            <p:cNvPr id="169" name="Rectangle 168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072247" y="3454878"/>
              <a:ext cx="1190302" cy="80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Informatica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Axon</a:t>
              </a:r>
              <a:endPara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grpSp>
        <p:nvGrpSpPr>
          <p:cNvPr id="119" name="Group 118"/>
          <p:cNvGrpSpPr/>
          <p:nvPr/>
        </p:nvGrpSpPr>
        <p:grpSpPr>
          <a:xfrm>
            <a:off x="9766916" y="3819894"/>
            <a:ext cx="1738732" cy="1384891"/>
            <a:chOff x="8337559" y="4415586"/>
            <a:chExt cx="1738732" cy="1384891"/>
          </a:xfrm>
        </p:grpSpPr>
        <p:sp>
          <p:nvSpPr>
            <p:cNvPr id="120" name="Rectangle 119"/>
            <p:cNvSpPr/>
            <p:nvPr/>
          </p:nvSpPr>
          <p:spPr>
            <a:xfrm>
              <a:off x="8337559" y="4415586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Static Reporting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8337559" y="4650273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Interactive Dashboard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8337559" y="4884960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Self-Service BI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8337559" y="5119646"/>
              <a:ext cx="1738732" cy="680831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Self-Service Data Preparation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pic>
          <p:nvPicPr>
            <p:cNvPr id="125" name="Picture 1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38253" y="5358473"/>
              <a:ext cx="365792" cy="365792"/>
            </a:xfrm>
            <a:prstGeom prst="rect">
              <a:avLst/>
            </a:prstGeom>
          </p:spPr>
        </p:pic>
      </p:grpSp>
      <p:pic>
        <p:nvPicPr>
          <p:cNvPr id="128" name="Picture 1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cxnSpLocks/>
            <a:stCxn id="1026" idx="0"/>
            <a:endCxn id="201" idx="0"/>
          </p:cNvCxnSpPr>
          <p:nvPr/>
        </p:nvCxnSpPr>
        <p:spPr>
          <a:xfrm rot="5400000" flipH="1" flipV="1">
            <a:off x="5706024" y="-1982379"/>
            <a:ext cx="459089" cy="6315435"/>
          </a:xfrm>
          <a:prstGeom prst="bentConnector3">
            <a:avLst>
              <a:gd name="adj1" fmla="val 14979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C0E63ED-FAF3-4184-9726-8BD42F55607D}"/>
              </a:ext>
            </a:extLst>
          </p:cNvPr>
          <p:cNvGrpSpPr/>
          <p:nvPr/>
        </p:nvGrpSpPr>
        <p:grpSpPr>
          <a:xfrm>
            <a:off x="9946835" y="1677953"/>
            <a:ext cx="1612258" cy="584135"/>
            <a:chOff x="7781676" y="3379918"/>
            <a:chExt cx="1919356" cy="1005840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508640-7FF5-4EBC-9257-050E3939D183}"/>
                </a:ext>
              </a:extLst>
            </p:cNvPr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C497C3D-7DBB-47A4-B40E-586900079C0D}"/>
                </a:ext>
              </a:extLst>
            </p:cNvPr>
            <p:cNvSpPr txBox="1"/>
            <p:nvPr/>
          </p:nvSpPr>
          <p:spPr>
            <a:xfrm>
              <a:off x="8077061" y="3472286"/>
              <a:ext cx="1328585" cy="794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Informatica**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DEQ</a:t>
              </a:r>
            </a:p>
          </p:txBody>
        </p:sp>
      </p:grp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37" idx="1"/>
          </p:cNvCxnSpPr>
          <p:nvPr/>
        </p:nvCxnSpPr>
        <p:spPr>
          <a:xfrm rot="5400000" flipH="1" flipV="1">
            <a:off x="2536831" y="4119087"/>
            <a:ext cx="751015" cy="5091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37" idx="3"/>
            <a:endCxn id="191" idx="1"/>
          </p:cNvCxnSpPr>
          <p:nvPr/>
        </p:nvCxnSpPr>
        <p:spPr>
          <a:xfrm>
            <a:off x="5185566" y="3998174"/>
            <a:ext cx="404385" cy="1355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8747C7CD-0B3B-445A-8B27-038E2DABE80E}"/>
              </a:ext>
            </a:extLst>
          </p:cNvPr>
          <p:cNvCxnSpPr>
            <a:cxnSpLocks/>
            <a:stCxn id="191" idx="3"/>
            <a:endCxn id="322" idx="1"/>
          </p:cNvCxnSpPr>
          <p:nvPr/>
        </p:nvCxnSpPr>
        <p:spPr>
          <a:xfrm flipV="1">
            <a:off x="9317224" y="4107578"/>
            <a:ext cx="349610" cy="1246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5123982" y="46070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4530F4E-5B90-4A32-A781-F0A6091C69C0}"/>
              </a:ext>
            </a:extLst>
          </p:cNvPr>
          <p:cNvSpPr txBox="1"/>
          <p:nvPr/>
        </p:nvSpPr>
        <p:spPr>
          <a:xfrm>
            <a:off x="7421152" y="390947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3FB228-27A3-4276-A78F-FABEB6D2EBF4}"/>
              </a:ext>
            </a:extLst>
          </p:cNvPr>
          <p:cNvCxnSpPr>
            <a:cxnSpLocks/>
            <a:stCxn id="209" idx="0"/>
            <a:endCxn id="135" idx="2"/>
          </p:cNvCxnSpPr>
          <p:nvPr/>
        </p:nvCxnSpPr>
        <p:spPr>
          <a:xfrm rot="16200000" flipV="1">
            <a:off x="5798513" y="846777"/>
            <a:ext cx="1187682" cy="3948735"/>
          </a:xfrm>
          <a:prstGeom prst="bentConnector3">
            <a:avLst>
              <a:gd name="adj1" fmla="val 56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1795BA8B-CEAF-4C38-95AE-F430FA6A3304}"/>
              </a:ext>
            </a:extLst>
          </p:cNvPr>
          <p:cNvCxnSpPr>
            <a:cxnSpLocks/>
            <a:stCxn id="209" idx="0"/>
            <a:endCxn id="200" idx="2"/>
          </p:cNvCxnSpPr>
          <p:nvPr/>
        </p:nvCxnSpPr>
        <p:spPr>
          <a:xfrm rot="5400000" flipH="1" flipV="1">
            <a:off x="8208711" y="2530450"/>
            <a:ext cx="1042547" cy="726527"/>
          </a:xfrm>
          <a:prstGeom prst="bentConnector3">
            <a:avLst>
              <a:gd name="adj1" fmla="val 64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771" y="3371900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7595" y="1216621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598942" y="3261686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EA036B-80F8-4955-B36F-01F26209C93D}"/>
              </a:ext>
            </a:extLst>
          </p:cNvPr>
          <p:cNvSpPr txBox="1"/>
          <p:nvPr/>
        </p:nvSpPr>
        <p:spPr>
          <a:xfrm>
            <a:off x="8145979" y="2554588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0D0C5-87D3-41FC-8CBB-DE7E810407F2}"/>
              </a:ext>
            </a:extLst>
          </p:cNvPr>
          <p:cNvGrpSpPr/>
          <p:nvPr/>
        </p:nvGrpSpPr>
        <p:grpSpPr>
          <a:xfrm>
            <a:off x="3166933" y="2810281"/>
            <a:ext cx="2018633" cy="2375786"/>
            <a:chOff x="3151555" y="3108617"/>
            <a:chExt cx="2018633" cy="3002268"/>
          </a:xfrm>
        </p:grpSpPr>
        <p:grpSp>
          <p:nvGrpSpPr>
            <p:cNvPr id="16" name="Group 15"/>
            <p:cNvGrpSpPr/>
            <p:nvPr/>
          </p:nvGrpSpPr>
          <p:grpSpPr>
            <a:xfrm>
              <a:off x="3200995" y="4332754"/>
              <a:ext cx="1873251" cy="765022"/>
              <a:chOff x="5103747" y="4840052"/>
              <a:chExt cx="1919356" cy="790062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5103747" y="4840052"/>
                <a:ext cx="1919356" cy="790062"/>
                <a:chOff x="7758507" y="3525282"/>
                <a:chExt cx="1919356" cy="790062"/>
              </a:xfrm>
            </p:grpSpPr>
            <p:sp>
              <p:nvSpPr>
                <p:cNvPr id="188" name="Rectangle 187"/>
                <p:cNvSpPr/>
                <p:nvPr/>
              </p:nvSpPr>
              <p:spPr>
                <a:xfrm>
                  <a:off x="7758507" y="3568691"/>
                  <a:ext cx="1919356" cy="746653"/>
                </a:xfrm>
                <a:prstGeom prst="rect">
                  <a:avLst/>
                </a:prstGeom>
                <a:noFill/>
                <a:ln w="635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8261784" y="3525282"/>
                  <a:ext cx="882327" cy="361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rPr>
                    <a:t>Databricks</a:t>
                  </a:r>
                </a:p>
              </p:txBody>
            </p:sp>
          </p:grpSp>
          <p:pic>
            <p:nvPicPr>
              <p:cNvPr id="210" name="Picture 209"/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2094" y="5209982"/>
                <a:ext cx="356280" cy="371770"/>
              </a:xfrm>
              <a:prstGeom prst="rect">
                <a:avLst/>
              </a:prstGeom>
            </p:spPr>
          </p:pic>
        </p:grpSp>
        <p:sp>
          <p:nvSpPr>
            <p:cNvPr id="137" name="Rectangle 136"/>
            <p:cNvSpPr/>
            <p:nvPr/>
          </p:nvSpPr>
          <p:spPr>
            <a:xfrm>
              <a:off x="3151555" y="3108617"/>
              <a:ext cx="2018633" cy="3002268"/>
            </a:xfrm>
            <a:prstGeom prst="rect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3301066" y="3579272"/>
              <a:ext cx="1768493" cy="672274"/>
              <a:chOff x="7727935" y="3546841"/>
              <a:chExt cx="1957658" cy="1251655"/>
            </a:xfrm>
          </p:grpSpPr>
          <p:sp>
            <p:nvSpPr>
              <p:cNvPr id="154" name="Rectangle 153"/>
              <p:cNvSpPr/>
              <p:nvPr/>
            </p:nvSpPr>
            <p:spPr>
              <a:xfrm>
                <a:off x="7727935" y="3546841"/>
                <a:ext cx="1957658" cy="1251655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8049380" y="3629167"/>
                <a:ext cx="1490908" cy="1086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Engineering DEI**</a:t>
                </a:r>
              </a:p>
            </p:txBody>
          </p:sp>
        </p:grp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708" y="3950944"/>
              <a:ext cx="314721" cy="40504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006" y="3429999"/>
              <a:ext cx="304729" cy="439738"/>
            </a:xfrm>
            <a:prstGeom prst="rect">
              <a:avLst/>
            </a:prstGeom>
          </p:spPr>
        </p:pic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BEA4CE48-2846-43FB-8122-351CCD3EB86A}"/>
                </a:ext>
              </a:extLst>
            </p:cNvPr>
            <p:cNvGrpSpPr/>
            <p:nvPr/>
          </p:nvGrpSpPr>
          <p:grpSpPr>
            <a:xfrm>
              <a:off x="3270178" y="5387378"/>
              <a:ext cx="1798519" cy="540244"/>
              <a:chOff x="7685556" y="3529248"/>
              <a:chExt cx="1990896" cy="1005839"/>
            </a:xfrm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5315E4C-08EE-48A2-9E5E-2CE01AE5550C}"/>
                  </a:ext>
                </a:extLst>
              </p:cNvPr>
              <p:cNvSpPr/>
              <p:nvPr/>
            </p:nvSpPr>
            <p:spPr>
              <a:xfrm>
                <a:off x="7685556" y="3529248"/>
                <a:ext cx="1990896" cy="1005839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707C91F-90FB-4A47-8A7D-A9F593657FA6}"/>
                  </a:ext>
                </a:extLst>
              </p:cNvPr>
              <p:cNvSpPr txBox="1"/>
              <p:nvPr/>
            </p:nvSpPr>
            <p:spPr>
              <a:xfrm>
                <a:off x="8007297" y="3761123"/>
                <a:ext cx="1471388" cy="651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Calibri" panose="020F0502020204030204"/>
                  </a:rPr>
                  <a:t>MDM</a:t>
                </a:r>
              </a:p>
            </p:txBody>
          </p:sp>
        </p:grpSp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A5106231-8B2E-41AA-A398-1EBAE7582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382" y="5130605"/>
              <a:ext cx="304729" cy="436057"/>
            </a:xfrm>
            <a:prstGeom prst="rect">
              <a:avLst/>
            </a:prstGeom>
          </p:spPr>
        </p:pic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89C56C72-E93B-413D-ABC5-6B48C3943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958" y="5375267"/>
            <a:ext cx="50482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07666EAA-DDAC-489A-9F24-45979668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929" y="5550960"/>
            <a:ext cx="476250" cy="47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3E22483-059E-4AB9-B06C-16FBF7EB7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248" y="5485653"/>
            <a:ext cx="487928" cy="48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" name="Rectangle 222">
            <a:extLst>
              <a:ext uri="{FF2B5EF4-FFF2-40B4-BE49-F238E27FC236}">
                <a16:creationId xmlns:a16="http://schemas.microsoft.com/office/drawing/2014/main" id="{1953DCA5-97B8-4743-B4F8-DDD9EB4C7249}"/>
              </a:ext>
            </a:extLst>
          </p:cNvPr>
          <p:cNvSpPr/>
          <p:nvPr/>
        </p:nvSpPr>
        <p:spPr>
          <a:xfrm>
            <a:off x="9967838" y="5325441"/>
            <a:ext cx="1466602" cy="812858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58E1292B-08FB-44DD-9ACC-9B37617CCC68}"/>
              </a:ext>
            </a:extLst>
          </p:cNvPr>
          <p:cNvCxnSpPr>
            <a:cxnSpLocks/>
            <a:stCxn id="223" idx="1"/>
          </p:cNvCxnSpPr>
          <p:nvPr/>
        </p:nvCxnSpPr>
        <p:spPr>
          <a:xfrm rot="10800000">
            <a:off x="9498326" y="5718142"/>
            <a:ext cx="469512" cy="137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F70954FD-5340-4532-A337-86A17DDFFC1A}"/>
              </a:ext>
            </a:extLst>
          </p:cNvPr>
          <p:cNvCxnSpPr>
            <a:cxnSpLocks/>
            <a:stCxn id="1028" idx="1"/>
            <a:endCxn id="282" idx="3"/>
          </p:cNvCxnSpPr>
          <p:nvPr/>
        </p:nvCxnSpPr>
        <p:spPr>
          <a:xfrm rot="10800000" flipV="1">
            <a:off x="7884232" y="5726364"/>
            <a:ext cx="1209017" cy="1210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A186B93A-971B-4A79-8556-0A23BEEC2DBA}"/>
              </a:ext>
            </a:extLst>
          </p:cNvPr>
          <p:cNvSpPr txBox="1"/>
          <p:nvPr/>
        </p:nvSpPr>
        <p:spPr>
          <a:xfrm>
            <a:off x="9077346" y="426330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pic>
        <p:nvPicPr>
          <p:cNvPr id="221" name="Picture 220">
            <a:extLst>
              <a:ext uri="{FF2B5EF4-FFF2-40B4-BE49-F238E27FC236}">
                <a16:creationId xmlns:a16="http://schemas.microsoft.com/office/drawing/2014/main" id="{C80C06DD-CA64-41AE-99B7-3B6CD8F570A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53" y="4828635"/>
            <a:ext cx="314721" cy="314721"/>
          </a:xfrm>
          <a:prstGeom prst="rect">
            <a:avLst/>
          </a:prstGeom>
        </p:spPr>
      </p:pic>
      <p:sp>
        <p:nvSpPr>
          <p:cNvPr id="241" name="Rectangle 240">
            <a:extLst>
              <a:ext uri="{FF2B5EF4-FFF2-40B4-BE49-F238E27FC236}">
                <a16:creationId xmlns:a16="http://schemas.microsoft.com/office/drawing/2014/main" id="{7C2FA7DF-366C-4869-9CC6-268DA2EE22C3}"/>
              </a:ext>
            </a:extLst>
          </p:cNvPr>
          <p:cNvSpPr/>
          <p:nvPr/>
        </p:nvSpPr>
        <p:spPr>
          <a:xfrm>
            <a:off x="3181331" y="5235110"/>
            <a:ext cx="2018633" cy="697044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latin typeface="Calibri" panose="020F0502020204030204"/>
              </a:rPr>
              <a:t>SFTP Server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0CBF9B6B-4ABB-4248-9698-46C0341BC5E1}"/>
              </a:ext>
            </a:extLst>
          </p:cNvPr>
          <p:cNvCxnSpPr>
            <a:cxnSpLocks/>
            <a:stCxn id="124" idx="2"/>
            <a:endCxn id="241" idx="1"/>
          </p:cNvCxnSpPr>
          <p:nvPr/>
        </p:nvCxnSpPr>
        <p:spPr>
          <a:xfrm rot="16200000" flipH="1">
            <a:off x="2685877" y="5088178"/>
            <a:ext cx="467320" cy="5235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6" name="Picture 235">
            <a:extLst>
              <a:ext uri="{FF2B5EF4-FFF2-40B4-BE49-F238E27FC236}">
                <a16:creationId xmlns:a16="http://schemas.microsoft.com/office/drawing/2014/main" id="{D86EB5B2-F351-45DC-B779-E276BED102A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08" y="5713985"/>
            <a:ext cx="314721" cy="314721"/>
          </a:xfrm>
          <a:prstGeom prst="rect">
            <a:avLst/>
          </a:prstGeom>
        </p:spPr>
      </p:pic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1052D418-B00C-43E9-A287-15B101166717}"/>
              </a:ext>
            </a:extLst>
          </p:cNvPr>
          <p:cNvCxnSpPr>
            <a:cxnSpLocks/>
            <a:stCxn id="241" idx="3"/>
            <a:endCxn id="191" idx="1"/>
          </p:cNvCxnSpPr>
          <p:nvPr/>
        </p:nvCxnSpPr>
        <p:spPr>
          <a:xfrm flipV="1">
            <a:off x="5199964" y="5354101"/>
            <a:ext cx="389988" cy="229531"/>
          </a:xfrm>
          <a:prstGeom prst="bentConnector3">
            <a:avLst>
              <a:gd name="adj1" fmla="val 4784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CEBBF096-F349-49F2-B6B2-2C0B8ABDA282}"/>
              </a:ext>
            </a:extLst>
          </p:cNvPr>
          <p:cNvSpPr txBox="1"/>
          <p:nvPr/>
        </p:nvSpPr>
        <p:spPr>
          <a:xfrm>
            <a:off x="5145859" y="559642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B13BDF-434D-4D5D-B3CD-7E33287CB932}"/>
              </a:ext>
            </a:extLst>
          </p:cNvPr>
          <p:cNvSpPr txBox="1"/>
          <p:nvPr/>
        </p:nvSpPr>
        <p:spPr>
          <a:xfrm>
            <a:off x="2595642" y="5379554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ADA Architecture overall – AS IS</a:t>
            </a:r>
            <a:endParaRPr lang="it-IT">
              <a:cs typeface="Arial"/>
            </a:endParaRP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1C06B89E-E68A-471F-A419-9E304665D869}"/>
              </a:ext>
            </a:extLst>
          </p:cNvPr>
          <p:cNvCxnSpPr>
            <a:cxnSpLocks/>
            <a:stCxn id="154" idx="3"/>
            <a:endCxn id="209" idx="1"/>
          </p:cNvCxnSpPr>
          <p:nvPr/>
        </p:nvCxnSpPr>
        <p:spPr>
          <a:xfrm>
            <a:off x="5084937" y="3448721"/>
            <a:ext cx="3043659" cy="210260"/>
          </a:xfrm>
          <a:prstGeom prst="bentConnector3">
            <a:avLst>
              <a:gd name="adj1" fmla="val 87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886FBCA8-3040-4489-ACA5-AFFA729CFE58}"/>
              </a:ext>
            </a:extLst>
          </p:cNvPr>
          <p:cNvCxnSpPr>
            <a:cxnSpLocks/>
            <a:stCxn id="207" idx="2"/>
            <a:endCxn id="322" idx="1"/>
          </p:cNvCxnSpPr>
          <p:nvPr/>
        </p:nvCxnSpPr>
        <p:spPr>
          <a:xfrm rot="16200000" flipH="1">
            <a:off x="8086132" y="2526875"/>
            <a:ext cx="129453" cy="3031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DC09B-D174-48B8-8A0A-C90CB795E6D9}"/>
              </a:ext>
            </a:extLst>
          </p:cNvPr>
          <p:cNvSpPr txBox="1"/>
          <p:nvPr/>
        </p:nvSpPr>
        <p:spPr>
          <a:xfrm>
            <a:off x="5817599" y="2529310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pic>
        <p:nvPicPr>
          <p:cNvPr id="168" name="Picture 16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971" y="1593213"/>
            <a:ext cx="314721" cy="314721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B2965542-DCD9-4633-B08C-158DE9952F3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58" y="1566139"/>
            <a:ext cx="314721" cy="314721"/>
          </a:xfrm>
          <a:prstGeom prst="rect">
            <a:avLst/>
          </a:prstGeom>
        </p:spPr>
      </p:pic>
      <p:pic>
        <p:nvPicPr>
          <p:cNvPr id="166" name="Picture 1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071" y="1969731"/>
            <a:ext cx="304729" cy="304729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7DC17730-160F-4DE3-BD74-0D986041C75B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959" y="2032508"/>
            <a:ext cx="304729" cy="304729"/>
          </a:xfrm>
          <a:prstGeom prst="rect">
            <a:avLst/>
          </a:prstGeom>
        </p:spPr>
      </p:pic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1EC58104-8881-4AF6-AE2D-6456A567EB46}"/>
              </a:ext>
            </a:extLst>
          </p:cNvPr>
          <p:cNvCxnSpPr>
            <a:cxnSpLocks/>
            <a:stCxn id="191" idx="0"/>
            <a:endCxn id="207" idx="1"/>
          </p:cNvCxnSpPr>
          <p:nvPr/>
        </p:nvCxnSpPr>
        <p:spPr>
          <a:xfrm rot="16200000" flipV="1">
            <a:off x="6459524" y="3666542"/>
            <a:ext cx="928917" cy="1059214"/>
          </a:xfrm>
          <a:prstGeom prst="bentConnector4">
            <a:avLst>
              <a:gd name="adj1" fmla="val 36735"/>
              <a:gd name="adj2" fmla="val 130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A02EAB7-B4C9-4BD8-ABAF-ACFC8D17F2D3}"/>
              </a:ext>
            </a:extLst>
          </p:cNvPr>
          <p:cNvGrpSpPr/>
          <p:nvPr/>
        </p:nvGrpSpPr>
        <p:grpSpPr>
          <a:xfrm>
            <a:off x="6605563" y="1677954"/>
            <a:ext cx="1318690" cy="561900"/>
            <a:chOff x="7808089" y="4504479"/>
            <a:chExt cx="1919356" cy="1005840"/>
          </a:xfrm>
        </p:grpSpPr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0AC9DFAD-70BF-4DF8-A937-19A0C392BE1C}"/>
                </a:ext>
              </a:extLst>
            </p:cNvPr>
            <p:cNvSpPr/>
            <p:nvPr/>
          </p:nvSpPr>
          <p:spPr>
            <a:xfrm>
              <a:off x="7808089" y="4504479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3E51C0E-64EE-41DF-8C44-0432C0A4E0B7}"/>
                </a:ext>
              </a:extLst>
            </p:cNvPr>
            <p:cNvSpPr txBox="1"/>
            <p:nvPr/>
          </p:nvSpPr>
          <p:spPr>
            <a:xfrm>
              <a:off x="8057120" y="4603624"/>
              <a:ext cx="1400371" cy="826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solidFill>
                    <a:schemeClr val="accent5">
                      <a:lumMod val="75000"/>
                    </a:schemeClr>
                  </a:solidFill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/>
                </a:rPr>
                <a:t>EDC</a:t>
              </a:r>
            </a:p>
          </p:txBody>
        </p: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D99EA8A8-E33E-4B9D-8F0F-473C3348229A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211" y="1998307"/>
            <a:ext cx="304729" cy="304729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A0977253-C544-4E5C-8C07-7C23019A9C00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529" y="1573492"/>
            <a:ext cx="345248" cy="376826"/>
          </a:xfrm>
          <a:prstGeom prst="rect">
            <a:avLst/>
          </a:prstGeom>
        </p:spPr>
      </p:pic>
      <p:sp>
        <p:nvSpPr>
          <p:cNvPr id="277" name="TextBox 276">
            <a:extLst>
              <a:ext uri="{FF2B5EF4-FFF2-40B4-BE49-F238E27FC236}">
                <a16:creationId xmlns:a16="http://schemas.microsoft.com/office/drawing/2014/main" id="{C103B3EB-221A-4FA1-9033-FD93A5C739B2}"/>
              </a:ext>
            </a:extLst>
          </p:cNvPr>
          <p:cNvSpPr txBox="1"/>
          <p:nvPr/>
        </p:nvSpPr>
        <p:spPr>
          <a:xfrm>
            <a:off x="6820000" y="3583291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Synapse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18D96D1-4A6D-414F-8669-77A00DB583BD}"/>
              </a:ext>
            </a:extLst>
          </p:cNvPr>
          <p:cNvSpPr txBox="1"/>
          <p:nvPr/>
        </p:nvSpPr>
        <p:spPr>
          <a:xfrm>
            <a:off x="8498961" y="3583290"/>
            <a:ext cx="870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SQL Server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C8FE5236-FCB5-4BEC-B304-F9664AC53FDB}"/>
              </a:ext>
            </a:extLst>
          </p:cNvPr>
          <p:cNvSpPr txBox="1"/>
          <p:nvPr/>
        </p:nvSpPr>
        <p:spPr>
          <a:xfrm>
            <a:off x="8518847" y="55436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CDD6FB9D-3157-D2AE-6592-305D28054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600" y="1374275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8766BA-6A8F-F453-F44A-DB489E0CCB02}"/>
              </a:ext>
            </a:extLst>
          </p:cNvPr>
          <p:cNvSpPr txBox="1"/>
          <p:nvPr/>
        </p:nvSpPr>
        <p:spPr>
          <a:xfrm>
            <a:off x="3998134" y="6578998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** Both services are on the same IaaS server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B10B5D-39B5-0612-FE6C-0CC569CD0F5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504" y="3977753"/>
            <a:ext cx="314721" cy="3147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986F53-8B0C-D854-4E9D-63D7BB9B8966}"/>
              </a:ext>
            </a:extLst>
          </p:cNvPr>
          <p:cNvSpPr txBox="1"/>
          <p:nvPr/>
        </p:nvSpPr>
        <p:spPr>
          <a:xfrm>
            <a:off x="8536101" y="3896267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it-IT"/>
              <a:t>PowerBi </a:t>
            </a:r>
          </a:p>
          <a:p>
            <a:r>
              <a:rPr lang="it-IT"/>
              <a:t>Gateway</a:t>
            </a:r>
          </a:p>
        </p:txBody>
      </p:sp>
    </p:spTree>
    <p:extLst>
      <p:ext uri="{BB962C8B-B14F-4D97-AF65-F5344CB8AC3E}">
        <p14:creationId xmlns:p14="http://schemas.microsoft.com/office/powerpoint/2010/main" val="43117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661CC52E-BA34-4986-81FD-4BDD57D9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2305789"/>
            <a:ext cx="11182248" cy="1298575"/>
          </a:xfrm>
        </p:spPr>
        <p:txBody>
          <a:bodyPr/>
          <a:lstStyle/>
          <a:p>
            <a:pPr algn="ctr"/>
            <a:r>
              <a:rPr lang="it-IT" sz="3600" b="1"/>
              <a:t>ARCHITECTURE VIEW PER SERVICES</a:t>
            </a:r>
            <a:endParaRPr lang="en-US" sz="36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ECDF0-830A-FEBB-48E7-1AB187B17738}"/>
              </a:ext>
            </a:extLst>
          </p:cNvPr>
          <p:cNvSpPr txBox="1"/>
          <p:nvPr/>
        </p:nvSpPr>
        <p:spPr>
          <a:xfrm>
            <a:off x="3365900" y="3238854"/>
            <a:ext cx="67230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ITCF-APP-0258	Opti.Mo System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ITCF-APP-0214	Passthrough TEAM Tool (Data hub IFRS17)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ITCF-APP-0215	Data hub IFRS9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ITCF-APP-0216	Data Quality &amp; Governance (DDT)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ITCF-APP-0217	GCFO Datalake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ITCF-APP-0241	ECDM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ITCF-APP-0271	Annual Integrated Reporting (AIR)</a:t>
            </a:r>
          </a:p>
          <a:p>
            <a:r>
              <a:rPr lang="it-IT">
                <a:solidFill>
                  <a:schemeClr val="tx2">
                    <a:lumMod val="75000"/>
                  </a:schemeClr>
                </a:solidFill>
              </a:rPr>
              <a:t>ITCF-APP-0286	IDQS Dashboard</a:t>
            </a:r>
          </a:p>
        </p:txBody>
      </p:sp>
    </p:spTree>
    <p:extLst>
      <p:ext uri="{BB962C8B-B14F-4D97-AF65-F5344CB8AC3E}">
        <p14:creationId xmlns:p14="http://schemas.microsoft.com/office/powerpoint/2010/main" val="252685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grpSp>
        <p:nvGrpSpPr>
          <p:cNvPr id="143" name="Group 142"/>
          <p:cNvGrpSpPr/>
          <p:nvPr/>
        </p:nvGrpSpPr>
        <p:grpSpPr>
          <a:xfrm>
            <a:off x="5415148" y="2484716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12357" y="2476593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4807414"/>
            <a:ext cx="2187872" cy="1141259"/>
            <a:chOff x="6790177" y="6031875"/>
            <a:chExt cx="1276786" cy="1141259"/>
          </a:xfrm>
        </p:grpSpPr>
        <p:sp>
          <p:nvSpPr>
            <p:cNvPr id="276" name="Rectangle 275"/>
            <p:cNvSpPr/>
            <p:nvPr/>
          </p:nvSpPr>
          <p:spPr>
            <a:xfrm>
              <a:off x="6790177" y="6031875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/reference/quality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90177" y="626656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90177" y="6501249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/staging/quality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9" name="Picture 20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0280" y="3608893"/>
              <a:ext cx="476250" cy="476250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C0E63ED-FAF3-4184-9726-8BD42F55607D}"/>
              </a:ext>
            </a:extLst>
          </p:cNvPr>
          <p:cNvGrpSpPr/>
          <p:nvPr/>
        </p:nvGrpSpPr>
        <p:grpSpPr>
          <a:xfrm>
            <a:off x="9946835" y="1677953"/>
            <a:ext cx="1612258" cy="584135"/>
            <a:chOff x="7781676" y="3379918"/>
            <a:chExt cx="1919356" cy="1005840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508640-7FF5-4EBC-9257-050E3939D183}"/>
                </a:ext>
              </a:extLst>
            </p:cNvPr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C497C3D-7DBB-47A4-B40E-586900079C0D}"/>
                </a:ext>
              </a:extLst>
            </p:cNvPr>
            <p:cNvSpPr txBox="1"/>
            <p:nvPr/>
          </p:nvSpPr>
          <p:spPr>
            <a:xfrm>
              <a:off x="8168661" y="3472286"/>
              <a:ext cx="1145385" cy="794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DEQ**</a:t>
              </a:r>
            </a:p>
          </p:txBody>
        </p:sp>
      </p:grp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37" idx="1"/>
          </p:cNvCxnSpPr>
          <p:nvPr/>
        </p:nvCxnSpPr>
        <p:spPr>
          <a:xfrm rot="5400000" flipH="1" flipV="1">
            <a:off x="2536831" y="4119087"/>
            <a:ext cx="751015" cy="5091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37" idx="3"/>
            <a:endCxn id="191" idx="1"/>
          </p:cNvCxnSpPr>
          <p:nvPr/>
        </p:nvCxnSpPr>
        <p:spPr>
          <a:xfrm>
            <a:off x="5185566" y="3998174"/>
            <a:ext cx="404385" cy="1355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5123982" y="46070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3FB228-27A3-4276-A78F-FABEB6D2EBF4}"/>
              </a:ext>
            </a:extLst>
          </p:cNvPr>
          <p:cNvCxnSpPr>
            <a:cxnSpLocks/>
            <a:stCxn id="209" idx="0"/>
            <a:endCxn id="135" idx="2"/>
          </p:cNvCxnSpPr>
          <p:nvPr/>
        </p:nvCxnSpPr>
        <p:spPr>
          <a:xfrm rot="16200000" flipV="1">
            <a:off x="5798513" y="846777"/>
            <a:ext cx="1187682" cy="3948735"/>
          </a:xfrm>
          <a:prstGeom prst="bentConnector3">
            <a:avLst>
              <a:gd name="adj1" fmla="val 56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1795BA8B-CEAF-4C38-95AE-F430FA6A3304}"/>
              </a:ext>
            </a:extLst>
          </p:cNvPr>
          <p:cNvCxnSpPr>
            <a:cxnSpLocks/>
            <a:stCxn id="209" idx="0"/>
            <a:endCxn id="200" idx="2"/>
          </p:cNvCxnSpPr>
          <p:nvPr/>
        </p:nvCxnSpPr>
        <p:spPr>
          <a:xfrm rot="5400000" flipH="1" flipV="1">
            <a:off x="8208711" y="2530450"/>
            <a:ext cx="1042547" cy="726527"/>
          </a:xfrm>
          <a:prstGeom prst="bentConnector3">
            <a:avLst>
              <a:gd name="adj1" fmla="val 64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27771" y="3393365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4808" y="145068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622080" y="324553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EA036B-80F8-4955-B36F-01F26209C93D}"/>
              </a:ext>
            </a:extLst>
          </p:cNvPr>
          <p:cNvSpPr txBox="1"/>
          <p:nvPr/>
        </p:nvSpPr>
        <p:spPr>
          <a:xfrm>
            <a:off x="8145979" y="2554588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0D0C5-87D3-41FC-8CBB-DE7E810407F2}"/>
              </a:ext>
            </a:extLst>
          </p:cNvPr>
          <p:cNvGrpSpPr/>
          <p:nvPr/>
        </p:nvGrpSpPr>
        <p:grpSpPr>
          <a:xfrm>
            <a:off x="3166933" y="2810281"/>
            <a:ext cx="2018633" cy="2375786"/>
            <a:chOff x="3151555" y="3108617"/>
            <a:chExt cx="2018633" cy="3002268"/>
          </a:xfrm>
        </p:grpSpPr>
        <p:grpSp>
          <p:nvGrpSpPr>
            <p:cNvPr id="16" name="Group 15"/>
            <p:cNvGrpSpPr/>
            <p:nvPr/>
          </p:nvGrpSpPr>
          <p:grpSpPr>
            <a:xfrm>
              <a:off x="3200995" y="4332754"/>
              <a:ext cx="1873251" cy="765022"/>
              <a:chOff x="5103747" y="4840052"/>
              <a:chExt cx="1919356" cy="790062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5103747" y="4840052"/>
                <a:ext cx="1919356" cy="790062"/>
                <a:chOff x="7758507" y="3525282"/>
                <a:chExt cx="1919356" cy="790062"/>
              </a:xfrm>
            </p:grpSpPr>
            <p:sp>
              <p:nvSpPr>
                <p:cNvPr id="188" name="Rectangle 187"/>
                <p:cNvSpPr/>
                <p:nvPr/>
              </p:nvSpPr>
              <p:spPr>
                <a:xfrm>
                  <a:off x="7758507" y="3568691"/>
                  <a:ext cx="1919356" cy="746653"/>
                </a:xfrm>
                <a:prstGeom prst="rect">
                  <a:avLst/>
                </a:prstGeom>
                <a:noFill/>
                <a:ln w="635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8261784" y="3525282"/>
                  <a:ext cx="882327" cy="361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rPr>
                    <a:t>Databricks</a:t>
                  </a:r>
                </a:p>
              </p:txBody>
            </p:sp>
          </p:grpSp>
          <p:pic>
            <p:nvPicPr>
              <p:cNvPr id="210" name="Picture 209"/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2094" y="5209982"/>
                <a:ext cx="356280" cy="371770"/>
              </a:xfrm>
              <a:prstGeom prst="rect">
                <a:avLst/>
              </a:prstGeom>
            </p:spPr>
          </p:pic>
        </p:grpSp>
        <p:sp>
          <p:nvSpPr>
            <p:cNvPr id="137" name="Rectangle 136"/>
            <p:cNvSpPr/>
            <p:nvPr/>
          </p:nvSpPr>
          <p:spPr>
            <a:xfrm>
              <a:off x="3151555" y="3108617"/>
              <a:ext cx="2018633" cy="3002268"/>
            </a:xfrm>
            <a:prstGeom prst="rect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3301066" y="3579272"/>
              <a:ext cx="1768493" cy="672274"/>
              <a:chOff x="7727935" y="3546841"/>
              <a:chExt cx="1957658" cy="1251655"/>
            </a:xfrm>
          </p:grpSpPr>
          <p:sp>
            <p:nvSpPr>
              <p:cNvPr id="154" name="Rectangle 153"/>
              <p:cNvSpPr/>
              <p:nvPr/>
            </p:nvSpPr>
            <p:spPr>
              <a:xfrm>
                <a:off x="7727935" y="3546841"/>
                <a:ext cx="1957658" cy="1251655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8049380" y="3629167"/>
                <a:ext cx="1490908" cy="1086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Engineering DEI**</a:t>
                </a:r>
              </a:p>
            </p:txBody>
          </p:sp>
        </p:grp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708" y="3950944"/>
              <a:ext cx="314721" cy="40504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006" y="3429999"/>
              <a:ext cx="304729" cy="439738"/>
            </a:xfrm>
            <a:prstGeom prst="rect">
              <a:avLst/>
            </a:prstGeom>
          </p:spPr>
        </p:pic>
      </p:grp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C2FA7DF-366C-4869-9CC6-268DA2EE22C3}"/>
              </a:ext>
            </a:extLst>
          </p:cNvPr>
          <p:cNvSpPr/>
          <p:nvPr/>
        </p:nvSpPr>
        <p:spPr>
          <a:xfrm>
            <a:off x="3181331" y="5235110"/>
            <a:ext cx="2018633" cy="697044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latin typeface="Calibri" panose="020F0502020204030204"/>
              </a:rPr>
              <a:t>SFTP Server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0CBF9B6B-4ABB-4248-9698-46C0341BC5E1}"/>
              </a:ext>
            </a:extLst>
          </p:cNvPr>
          <p:cNvCxnSpPr>
            <a:cxnSpLocks/>
            <a:stCxn id="124" idx="2"/>
            <a:endCxn id="241" idx="1"/>
          </p:cNvCxnSpPr>
          <p:nvPr/>
        </p:nvCxnSpPr>
        <p:spPr>
          <a:xfrm rot="16200000" flipH="1">
            <a:off x="2685877" y="5088178"/>
            <a:ext cx="467320" cy="5235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6" name="Picture 235">
            <a:extLst>
              <a:ext uri="{FF2B5EF4-FFF2-40B4-BE49-F238E27FC236}">
                <a16:creationId xmlns:a16="http://schemas.microsoft.com/office/drawing/2014/main" id="{D86EB5B2-F351-45DC-B779-E276BED102A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08" y="5713985"/>
            <a:ext cx="314721" cy="314721"/>
          </a:xfrm>
          <a:prstGeom prst="rect">
            <a:avLst/>
          </a:prstGeom>
        </p:spPr>
      </p:pic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1052D418-B00C-43E9-A287-15B101166717}"/>
              </a:ext>
            </a:extLst>
          </p:cNvPr>
          <p:cNvCxnSpPr>
            <a:cxnSpLocks/>
            <a:stCxn id="241" idx="3"/>
            <a:endCxn id="191" idx="1"/>
          </p:cNvCxnSpPr>
          <p:nvPr/>
        </p:nvCxnSpPr>
        <p:spPr>
          <a:xfrm flipV="1">
            <a:off x="5199964" y="5354101"/>
            <a:ext cx="389988" cy="2295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CEBBF096-F349-49F2-B6B2-2C0B8ABDA282}"/>
              </a:ext>
            </a:extLst>
          </p:cNvPr>
          <p:cNvSpPr txBox="1"/>
          <p:nvPr/>
        </p:nvSpPr>
        <p:spPr>
          <a:xfrm>
            <a:off x="5145859" y="559642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B13BDF-434D-4D5D-B3CD-7E33287CB932}"/>
              </a:ext>
            </a:extLst>
          </p:cNvPr>
          <p:cNvSpPr txBox="1"/>
          <p:nvPr/>
        </p:nvSpPr>
        <p:spPr>
          <a:xfrm>
            <a:off x="2595642" y="5379554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for services Datahub IFRS9 &amp; IFRS17</a:t>
            </a:r>
            <a:endParaRPr lang="it-IT">
              <a:cs typeface="Arial"/>
            </a:endParaRP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1C06B89E-E68A-471F-A419-9E304665D869}"/>
              </a:ext>
            </a:extLst>
          </p:cNvPr>
          <p:cNvCxnSpPr>
            <a:cxnSpLocks/>
            <a:stCxn id="154" idx="3"/>
            <a:endCxn id="209" idx="1"/>
          </p:cNvCxnSpPr>
          <p:nvPr/>
        </p:nvCxnSpPr>
        <p:spPr>
          <a:xfrm>
            <a:off x="5084937" y="3448721"/>
            <a:ext cx="3043659" cy="210260"/>
          </a:xfrm>
          <a:prstGeom prst="bentConnector3">
            <a:avLst>
              <a:gd name="adj1" fmla="val 87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DC09B-D174-48B8-8A0A-C90CB795E6D9}"/>
              </a:ext>
            </a:extLst>
          </p:cNvPr>
          <p:cNvSpPr txBox="1"/>
          <p:nvPr/>
        </p:nvSpPr>
        <p:spPr>
          <a:xfrm>
            <a:off x="5817599" y="2529310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pic>
        <p:nvPicPr>
          <p:cNvPr id="168" name="Picture 16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971" y="1593213"/>
            <a:ext cx="314721" cy="314721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7DC17730-160F-4DE3-BD74-0D986041C75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959" y="2032508"/>
            <a:ext cx="304729" cy="304729"/>
          </a:xfrm>
          <a:prstGeom prst="rect">
            <a:avLst/>
          </a:prstGeom>
        </p:spPr>
      </p:pic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18D96D1-4A6D-414F-8669-77A00DB583BD}"/>
              </a:ext>
            </a:extLst>
          </p:cNvPr>
          <p:cNvSpPr txBox="1"/>
          <p:nvPr/>
        </p:nvSpPr>
        <p:spPr>
          <a:xfrm>
            <a:off x="8498961" y="3583290"/>
            <a:ext cx="870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SQL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915A4-47FE-F397-9124-83378D4465FB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75" y="3485254"/>
            <a:ext cx="481013" cy="4928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A1F630-2CF9-C37C-59D8-FC6C21E22E8E}"/>
              </a:ext>
            </a:extLst>
          </p:cNvPr>
          <p:cNvSpPr txBox="1"/>
          <p:nvPr/>
        </p:nvSpPr>
        <p:spPr>
          <a:xfrm>
            <a:off x="7421152" y="390947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CD38D99-E773-2A74-1E65-D08EEEE8D02E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8403905" y="2209102"/>
            <a:ext cx="48858" cy="35869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8121FB0-09E0-0819-B319-2D88364E415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59524" y="3666542"/>
            <a:ext cx="928917" cy="1059214"/>
          </a:xfrm>
          <a:prstGeom prst="bentConnector4">
            <a:avLst>
              <a:gd name="adj1" fmla="val 36735"/>
              <a:gd name="adj2" fmla="val 130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Imperva Logo">
            <a:extLst>
              <a:ext uri="{FF2B5EF4-FFF2-40B4-BE49-F238E27FC236}">
                <a16:creationId xmlns:a16="http://schemas.microsoft.com/office/drawing/2014/main" id="{E49919A9-BA04-5576-AB60-08418C105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C5DF33-3F4B-FB2B-507C-6D0505FF2075}"/>
              </a:ext>
            </a:extLst>
          </p:cNvPr>
          <p:cNvSpPr txBox="1"/>
          <p:nvPr/>
        </p:nvSpPr>
        <p:spPr>
          <a:xfrm>
            <a:off x="10244854" y="3861324"/>
            <a:ext cx="1109867" cy="44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SAP S/4HANA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51D57-C617-14C3-4385-B8C03FEF6478}"/>
              </a:ext>
            </a:extLst>
          </p:cNvPr>
          <p:cNvSpPr txBox="1"/>
          <p:nvPr/>
        </p:nvSpPr>
        <p:spPr>
          <a:xfrm>
            <a:off x="3998134" y="6578998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** Both services are on the same IaaS server</a:t>
            </a:r>
          </a:p>
        </p:txBody>
      </p:sp>
    </p:spTree>
    <p:extLst>
      <p:ext uri="{BB962C8B-B14F-4D97-AF65-F5344CB8AC3E}">
        <p14:creationId xmlns:p14="http://schemas.microsoft.com/office/powerpoint/2010/main" val="2453650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grpSp>
        <p:nvGrpSpPr>
          <p:cNvPr id="143" name="Group 142"/>
          <p:cNvGrpSpPr/>
          <p:nvPr/>
        </p:nvGrpSpPr>
        <p:grpSpPr>
          <a:xfrm>
            <a:off x="5415148" y="2484716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4807414"/>
            <a:ext cx="2187872" cy="1141259"/>
            <a:chOff x="6790177" y="6031875"/>
            <a:chExt cx="1276786" cy="1141259"/>
          </a:xfrm>
        </p:grpSpPr>
        <p:sp>
          <p:nvSpPr>
            <p:cNvPr id="276" name="Rectangle 275"/>
            <p:cNvSpPr/>
            <p:nvPr/>
          </p:nvSpPr>
          <p:spPr>
            <a:xfrm>
              <a:off x="6790177" y="6031875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/reference/quality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90177" y="626656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90177" y="6501249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/staging/quality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9" name="Picture 20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0280" y="3608893"/>
              <a:ext cx="476250" cy="476250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C0E63ED-FAF3-4184-9726-8BD42F55607D}"/>
              </a:ext>
            </a:extLst>
          </p:cNvPr>
          <p:cNvGrpSpPr/>
          <p:nvPr/>
        </p:nvGrpSpPr>
        <p:grpSpPr>
          <a:xfrm>
            <a:off x="9946835" y="1677953"/>
            <a:ext cx="1612258" cy="584135"/>
            <a:chOff x="7781676" y="3379918"/>
            <a:chExt cx="1919356" cy="1005840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508640-7FF5-4EBC-9257-050E3939D183}"/>
                </a:ext>
              </a:extLst>
            </p:cNvPr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C497C3D-7DBB-47A4-B40E-586900079C0D}"/>
                </a:ext>
              </a:extLst>
            </p:cNvPr>
            <p:cNvSpPr txBox="1"/>
            <p:nvPr/>
          </p:nvSpPr>
          <p:spPr>
            <a:xfrm>
              <a:off x="8168661" y="3472286"/>
              <a:ext cx="1145385" cy="794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DEQ**</a:t>
              </a:r>
            </a:p>
          </p:txBody>
        </p:sp>
      </p:grp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37" idx="1"/>
          </p:cNvCxnSpPr>
          <p:nvPr/>
        </p:nvCxnSpPr>
        <p:spPr>
          <a:xfrm rot="5400000" flipH="1" flipV="1">
            <a:off x="2536831" y="4119087"/>
            <a:ext cx="751015" cy="5091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37" idx="3"/>
            <a:endCxn id="191" idx="1"/>
          </p:cNvCxnSpPr>
          <p:nvPr/>
        </p:nvCxnSpPr>
        <p:spPr>
          <a:xfrm>
            <a:off x="5185566" y="3998174"/>
            <a:ext cx="404385" cy="1355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5123982" y="46070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3FB228-27A3-4276-A78F-FABEB6D2EBF4}"/>
              </a:ext>
            </a:extLst>
          </p:cNvPr>
          <p:cNvCxnSpPr>
            <a:cxnSpLocks/>
            <a:stCxn id="209" idx="0"/>
            <a:endCxn id="135" idx="2"/>
          </p:cNvCxnSpPr>
          <p:nvPr/>
        </p:nvCxnSpPr>
        <p:spPr>
          <a:xfrm rot="16200000" flipV="1">
            <a:off x="5798513" y="846777"/>
            <a:ext cx="1187682" cy="3948735"/>
          </a:xfrm>
          <a:prstGeom prst="bentConnector3">
            <a:avLst>
              <a:gd name="adj1" fmla="val 56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1795BA8B-CEAF-4C38-95AE-F430FA6A3304}"/>
              </a:ext>
            </a:extLst>
          </p:cNvPr>
          <p:cNvCxnSpPr>
            <a:cxnSpLocks/>
            <a:stCxn id="209" idx="0"/>
            <a:endCxn id="200" idx="2"/>
          </p:cNvCxnSpPr>
          <p:nvPr/>
        </p:nvCxnSpPr>
        <p:spPr>
          <a:xfrm rot="5400000" flipH="1" flipV="1">
            <a:off x="8208711" y="2530450"/>
            <a:ext cx="1042547" cy="726527"/>
          </a:xfrm>
          <a:prstGeom prst="bentConnector3">
            <a:avLst>
              <a:gd name="adj1" fmla="val 64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27771" y="3393365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4808" y="145068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672725" y="324553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EA036B-80F8-4955-B36F-01F26209C93D}"/>
              </a:ext>
            </a:extLst>
          </p:cNvPr>
          <p:cNvSpPr txBox="1"/>
          <p:nvPr/>
        </p:nvSpPr>
        <p:spPr>
          <a:xfrm>
            <a:off x="8145979" y="2554588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0D0C5-87D3-41FC-8CBB-DE7E810407F2}"/>
              </a:ext>
            </a:extLst>
          </p:cNvPr>
          <p:cNvGrpSpPr/>
          <p:nvPr/>
        </p:nvGrpSpPr>
        <p:grpSpPr>
          <a:xfrm>
            <a:off x="3166933" y="2810281"/>
            <a:ext cx="2018633" cy="2375786"/>
            <a:chOff x="3151555" y="3108617"/>
            <a:chExt cx="2018633" cy="3002268"/>
          </a:xfrm>
        </p:grpSpPr>
        <p:grpSp>
          <p:nvGrpSpPr>
            <p:cNvPr id="16" name="Group 15"/>
            <p:cNvGrpSpPr/>
            <p:nvPr/>
          </p:nvGrpSpPr>
          <p:grpSpPr>
            <a:xfrm>
              <a:off x="3200995" y="4332754"/>
              <a:ext cx="1873251" cy="765022"/>
              <a:chOff x="5103747" y="4840052"/>
              <a:chExt cx="1919356" cy="790062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5103747" y="4840052"/>
                <a:ext cx="1919356" cy="790062"/>
                <a:chOff x="7758507" y="3525282"/>
                <a:chExt cx="1919356" cy="790062"/>
              </a:xfrm>
            </p:grpSpPr>
            <p:sp>
              <p:nvSpPr>
                <p:cNvPr id="188" name="Rectangle 187"/>
                <p:cNvSpPr/>
                <p:nvPr/>
              </p:nvSpPr>
              <p:spPr>
                <a:xfrm>
                  <a:off x="7758507" y="3568691"/>
                  <a:ext cx="1919356" cy="746653"/>
                </a:xfrm>
                <a:prstGeom prst="rect">
                  <a:avLst/>
                </a:prstGeom>
                <a:noFill/>
                <a:ln w="635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8261784" y="3525282"/>
                  <a:ext cx="882327" cy="361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rPr>
                    <a:t>Databricks</a:t>
                  </a:r>
                </a:p>
              </p:txBody>
            </p:sp>
          </p:grpSp>
          <p:pic>
            <p:nvPicPr>
              <p:cNvPr id="210" name="Picture 209"/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2094" y="5209982"/>
                <a:ext cx="356280" cy="371770"/>
              </a:xfrm>
              <a:prstGeom prst="rect">
                <a:avLst/>
              </a:prstGeom>
            </p:spPr>
          </p:pic>
        </p:grpSp>
        <p:sp>
          <p:nvSpPr>
            <p:cNvPr id="137" name="Rectangle 136"/>
            <p:cNvSpPr/>
            <p:nvPr/>
          </p:nvSpPr>
          <p:spPr>
            <a:xfrm>
              <a:off x="3151555" y="3108617"/>
              <a:ext cx="2018633" cy="3002268"/>
            </a:xfrm>
            <a:prstGeom prst="rect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3301066" y="3579272"/>
              <a:ext cx="1768493" cy="672274"/>
              <a:chOff x="7727935" y="3546841"/>
              <a:chExt cx="1957658" cy="1251655"/>
            </a:xfrm>
          </p:grpSpPr>
          <p:sp>
            <p:nvSpPr>
              <p:cNvPr id="154" name="Rectangle 153"/>
              <p:cNvSpPr/>
              <p:nvPr/>
            </p:nvSpPr>
            <p:spPr>
              <a:xfrm>
                <a:off x="7727935" y="3546841"/>
                <a:ext cx="1957658" cy="1251655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8049380" y="3629167"/>
                <a:ext cx="1490908" cy="1086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Engineering DEI**</a:t>
                </a:r>
              </a:p>
            </p:txBody>
          </p:sp>
        </p:grp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708" y="3950944"/>
              <a:ext cx="314721" cy="40504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006" y="3429999"/>
              <a:ext cx="304729" cy="439738"/>
            </a:xfrm>
            <a:prstGeom prst="rect">
              <a:avLst/>
            </a:prstGeom>
          </p:spPr>
        </p:pic>
      </p:grp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C2FA7DF-366C-4869-9CC6-268DA2EE22C3}"/>
              </a:ext>
            </a:extLst>
          </p:cNvPr>
          <p:cNvSpPr/>
          <p:nvPr/>
        </p:nvSpPr>
        <p:spPr>
          <a:xfrm>
            <a:off x="3181331" y="5235110"/>
            <a:ext cx="2018633" cy="697044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latin typeface="Calibri" panose="020F0502020204030204"/>
              </a:rPr>
              <a:t>SFTP Server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0CBF9B6B-4ABB-4248-9698-46C0341BC5E1}"/>
              </a:ext>
            </a:extLst>
          </p:cNvPr>
          <p:cNvCxnSpPr>
            <a:cxnSpLocks/>
            <a:stCxn id="124" idx="2"/>
            <a:endCxn id="241" idx="1"/>
          </p:cNvCxnSpPr>
          <p:nvPr/>
        </p:nvCxnSpPr>
        <p:spPr>
          <a:xfrm rot="16200000" flipH="1">
            <a:off x="2685877" y="5088178"/>
            <a:ext cx="467320" cy="5235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6" name="Picture 235">
            <a:extLst>
              <a:ext uri="{FF2B5EF4-FFF2-40B4-BE49-F238E27FC236}">
                <a16:creationId xmlns:a16="http://schemas.microsoft.com/office/drawing/2014/main" id="{D86EB5B2-F351-45DC-B779-E276BED102A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08" y="5713985"/>
            <a:ext cx="314721" cy="314721"/>
          </a:xfrm>
          <a:prstGeom prst="rect">
            <a:avLst/>
          </a:prstGeom>
        </p:spPr>
      </p:pic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1052D418-B00C-43E9-A287-15B101166717}"/>
              </a:ext>
            </a:extLst>
          </p:cNvPr>
          <p:cNvCxnSpPr>
            <a:cxnSpLocks/>
            <a:stCxn id="241" idx="3"/>
            <a:endCxn id="191" idx="1"/>
          </p:cNvCxnSpPr>
          <p:nvPr/>
        </p:nvCxnSpPr>
        <p:spPr>
          <a:xfrm flipV="1">
            <a:off x="5199964" y="5354101"/>
            <a:ext cx="389988" cy="2295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CEBBF096-F349-49F2-B6B2-2C0B8ABDA282}"/>
              </a:ext>
            </a:extLst>
          </p:cNvPr>
          <p:cNvSpPr txBox="1"/>
          <p:nvPr/>
        </p:nvSpPr>
        <p:spPr>
          <a:xfrm>
            <a:off x="5145859" y="559642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B13BDF-434D-4D5D-B3CD-7E33287CB932}"/>
              </a:ext>
            </a:extLst>
          </p:cNvPr>
          <p:cNvSpPr txBox="1"/>
          <p:nvPr/>
        </p:nvSpPr>
        <p:spPr>
          <a:xfrm>
            <a:off x="2595642" y="5379554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for service Opti.Mo</a:t>
            </a:r>
            <a:endParaRPr lang="it-IT">
              <a:cs typeface="Arial"/>
            </a:endParaRP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1C06B89E-E68A-471F-A419-9E304665D869}"/>
              </a:ext>
            </a:extLst>
          </p:cNvPr>
          <p:cNvCxnSpPr>
            <a:cxnSpLocks/>
            <a:stCxn id="154" idx="3"/>
            <a:endCxn id="209" idx="1"/>
          </p:cNvCxnSpPr>
          <p:nvPr/>
        </p:nvCxnSpPr>
        <p:spPr>
          <a:xfrm>
            <a:off x="5084937" y="3448721"/>
            <a:ext cx="3043659" cy="210260"/>
          </a:xfrm>
          <a:prstGeom prst="bentConnector3">
            <a:avLst>
              <a:gd name="adj1" fmla="val 87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DC09B-D174-48B8-8A0A-C90CB795E6D9}"/>
              </a:ext>
            </a:extLst>
          </p:cNvPr>
          <p:cNvSpPr txBox="1"/>
          <p:nvPr/>
        </p:nvSpPr>
        <p:spPr>
          <a:xfrm>
            <a:off x="5817599" y="2529310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pic>
        <p:nvPicPr>
          <p:cNvPr id="168" name="Picture 16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971" y="1593213"/>
            <a:ext cx="314721" cy="314721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7DC17730-160F-4DE3-BD74-0D986041C75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959" y="2032508"/>
            <a:ext cx="304729" cy="304729"/>
          </a:xfrm>
          <a:prstGeom prst="rect">
            <a:avLst/>
          </a:prstGeom>
        </p:spPr>
      </p:pic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18D96D1-4A6D-414F-8669-77A00DB583BD}"/>
              </a:ext>
            </a:extLst>
          </p:cNvPr>
          <p:cNvSpPr txBox="1"/>
          <p:nvPr/>
        </p:nvSpPr>
        <p:spPr>
          <a:xfrm>
            <a:off x="8498961" y="3583290"/>
            <a:ext cx="870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SQL Server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49E32ECD-7019-3F8B-B0B8-69C316CAC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092A1-D39D-EB9D-9E72-98998ECD278A}"/>
              </a:ext>
            </a:extLst>
          </p:cNvPr>
          <p:cNvSpPr txBox="1"/>
          <p:nvPr/>
        </p:nvSpPr>
        <p:spPr>
          <a:xfrm>
            <a:off x="3998134" y="6578998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** Both services are on the same IaaS server</a:t>
            </a:r>
          </a:p>
        </p:txBody>
      </p:sp>
    </p:spTree>
    <p:extLst>
      <p:ext uri="{BB962C8B-B14F-4D97-AF65-F5344CB8AC3E}">
        <p14:creationId xmlns:p14="http://schemas.microsoft.com/office/powerpoint/2010/main" val="322254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grpSp>
        <p:nvGrpSpPr>
          <p:cNvPr id="143" name="Group 142"/>
          <p:cNvGrpSpPr/>
          <p:nvPr/>
        </p:nvGrpSpPr>
        <p:grpSpPr>
          <a:xfrm>
            <a:off x="5415148" y="2484716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4807414"/>
            <a:ext cx="2187872" cy="1141259"/>
            <a:chOff x="6790177" y="6031875"/>
            <a:chExt cx="1276786" cy="1141259"/>
          </a:xfrm>
        </p:grpSpPr>
        <p:sp>
          <p:nvSpPr>
            <p:cNvPr id="276" name="Rectangle 275"/>
            <p:cNvSpPr/>
            <p:nvPr/>
          </p:nvSpPr>
          <p:spPr>
            <a:xfrm>
              <a:off x="6790177" y="6031875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/reference/quality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90177" y="626656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90177" y="6501249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/staging/quality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9" name="Picture 20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0280" y="3608893"/>
              <a:ext cx="476250" cy="476250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C0E63ED-FAF3-4184-9726-8BD42F55607D}"/>
              </a:ext>
            </a:extLst>
          </p:cNvPr>
          <p:cNvGrpSpPr/>
          <p:nvPr/>
        </p:nvGrpSpPr>
        <p:grpSpPr>
          <a:xfrm>
            <a:off x="9946835" y="1677953"/>
            <a:ext cx="1612258" cy="584135"/>
            <a:chOff x="7781676" y="3379918"/>
            <a:chExt cx="1919356" cy="1005840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508640-7FF5-4EBC-9257-050E3939D183}"/>
                </a:ext>
              </a:extLst>
            </p:cNvPr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C497C3D-7DBB-47A4-B40E-586900079C0D}"/>
                </a:ext>
              </a:extLst>
            </p:cNvPr>
            <p:cNvSpPr txBox="1"/>
            <p:nvPr/>
          </p:nvSpPr>
          <p:spPr>
            <a:xfrm>
              <a:off x="8168661" y="3472286"/>
              <a:ext cx="1145385" cy="794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DEQ**</a:t>
              </a:r>
            </a:p>
          </p:txBody>
        </p:sp>
      </p:grp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37" idx="1"/>
          </p:cNvCxnSpPr>
          <p:nvPr/>
        </p:nvCxnSpPr>
        <p:spPr>
          <a:xfrm rot="5400000" flipH="1" flipV="1">
            <a:off x="2536831" y="4119087"/>
            <a:ext cx="751015" cy="5091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37" idx="3"/>
            <a:endCxn id="191" idx="1"/>
          </p:cNvCxnSpPr>
          <p:nvPr/>
        </p:nvCxnSpPr>
        <p:spPr>
          <a:xfrm>
            <a:off x="5185566" y="3998174"/>
            <a:ext cx="404385" cy="1355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5123982" y="46070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3FB228-27A3-4276-A78F-FABEB6D2EBF4}"/>
              </a:ext>
            </a:extLst>
          </p:cNvPr>
          <p:cNvCxnSpPr>
            <a:cxnSpLocks/>
            <a:stCxn id="209" idx="0"/>
            <a:endCxn id="135" idx="2"/>
          </p:cNvCxnSpPr>
          <p:nvPr/>
        </p:nvCxnSpPr>
        <p:spPr>
          <a:xfrm rot="16200000" flipV="1">
            <a:off x="5798513" y="846777"/>
            <a:ext cx="1187682" cy="3948735"/>
          </a:xfrm>
          <a:prstGeom prst="bentConnector3">
            <a:avLst>
              <a:gd name="adj1" fmla="val 56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1795BA8B-CEAF-4C38-95AE-F430FA6A3304}"/>
              </a:ext>
            </a:extLst>
          </p:cNvPr>
          <p:cNvCxnSpPr>
            <a:cxnSpLocks/>
            <a:stCxn id="209" idx="0"/>
            <a:endCxn id="200" idx="2"/>
          </p:cNvCxnSpPr>
          <p:nvPr/>
        </p:nvCxnSpPr>
        <p:spPr>
          <a:xfrm rot="5400000" flipH="1" flipV="1">
            <a:off x="8208711" y="2530450"/>
            <a:ext cx="1042547" cy="726527"/>
          </a:xfrm>
          <a:prstGeom prst="bentConnector3">
            <a:avLst>
              <a:gd name="adj1" fmla="val 64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27771" y="3393365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4808" y="145068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672725" y="324553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EA036B-80F8-4955-B36F-01F26209C93D}"/>
              </a:ext>
            </a:extLst>
          </p:cNvPr>
          <p:cNvSpPr txBox="1"/>
          <p:nvPr/>
        </p:nvSpPr>
        <p:spPr>
          <a:xfrm>
            <a:off x="8145979" y="2554588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0D0C5-87D3-41FC-8CBB-DE7E810407F2}"/>
              </a:ext>
            </a:extLst>
          </p:cNvPr>
          <p:cNvGrpSpPr/>
          <p:nvPr/>
        </p:nvGrpSpPr>
        <p:grpSpPr>
          <a:xfrm>
            <a:off x="3166933" y="2810281"/>
            <a:ext cx="2018633" cy="2375786"/>
            <a:chOff x="3151555" y="3108617"/>
            <a:chExt cx="2018633" cy="3002268"/>
          </a:xfrm>
        </p:grpSpPr>
        <p:grpSp>
          <p:nvGrpSpPr>
            <p:cNvPr id="16" name="Group 15"/>
            <p:cNvGrpSpPr/>
            <p:nvPr/>
          </p:nvGrpSpPr>
          <p:grpSpPr>
            <a:xfrm>
              <a:off x="3200995" y="4332754"/>
              <a:ext cx="1873251" cy="765022"/>
              <a:chOff x="5103747" y="4840052"/>
              <a:chExt cx="1919356" cy="790062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5103747" y="4840052"/>
                <a:ext cx="1919356" cy="790062"/>
                <a:chOff x="7758507" y="3525282"/>
                <a:chExt cx="1919356" cy="790062"/>
              </a:xfrm>
            </p:grpSpPr>
            <p:sp>
              <p:nvSpPr>
                <p:cNvPr id="188" name="Rectangle 187"/>
                <p:cNvSpPr/>
                <p:nvPr/>
              </p:nvSpPr>
              <p:spPr>
                <a:xfrm>
                  <a:off x="7758507" y="3568691"/>
                  <a:ext cx="1919356" cy="746653"/>
                </a:xfrm>
                <a:prstGeom prst="rect">
                  <a:avLst/>
                </a:prstGeom>
                <a:noFill/>
                <a:ln w="635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8261784" y="3525282"/>
                  <a:ext cx="882327" cy="361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rPr>
                    <a:t>Databricks</a:t>
                  </a:r>
                </a:p>
              </p:txBody>
            </p:sp>
          </p:grpSp>
          <p:pic>
            <p:nvPicPr>
              <p:cNvPr id="210" name="Picture 209"/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2094" y="5209982"/>
                <a:ext cx="356280" cy="371770"/>
              </a:xfrm>
              <a:prstGeom prst="rect">
                <a:avLst/>
              </a:prstGeom>
            </p:spPr>
          </p:pic>
        </p:grpSp>
        <p:sp>
          <p:nvSpPr>
            <p:cNvPr id="137" name="Rectangle 136"/>
            <p:cNvSpPr/>
            <p:nvPr/>
          </p:nvSpPr>
          <p:spPr>
            <a:xfrm>
              <a:off x="3151555" y="3108617"/>
              <a:ext cx="2018633" cy="3002268"/>
            </a:xfrm>
            <a:prstGeom prst="rect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3301066" y="3579272"/>
              <a:ext cx="1768493" cy="672274"/>
              <a:chOff x="7727935" y="3546841"/>
              <a:chExt cx="1957658" cy="1251655"/>
            </a:xfrm>
          </p:grpSpPr>
          <p:sp>
            <p:nvSpPr>
              <p:cNvPr id="154" name="Rectangle 153"/>
              <p:cNvSpPr/>
              <p:nvPr/>
            </p:nvSpPr>
            <p:spPr>
              <a:xfrm>
                <a:off x="7727935" y="3546841"/>
                <a:ext cx="1957658" cy="1251655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8049380" y="3629167"/>
                <a:ext cx="1490908" cy="1086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Engineering DEI**</a:t>
                </a:r>
              </a:p>
            </p:txBody>
          </p:sp>
        </p:grp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708" y="3950944"/>
              <a:ext cx="314721" cy="40504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006" y="3429999"/>
              <a:ext cx="304729" cy="439738"/>
            </a:xfrm>
            <a:prstGeom prst="rect">
              <a:avLst/>
            </a:prstGeom>
          </p:spPr>
        </p:pic>
      </p:grp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C2FA7DF-366C-4869-9CC6-268DA2EE22C3}"/>
              </a:ext>
            </a:extLst>
          </p:cNvPr>
          <p:cNvSpPr/>
          <p:nvPr/>
        </p:nvSpPr>
        <p:spPr>
          <a:xfrm>
            <a:off x="3181331" y="5235110"/>
            <a:ext cx="2018633" cy="697044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latin typeface="Calibri" panose="020F0502020204030204"/>
              </a:rPr>
              <a:t>SFTP Server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0CBF9B6B-4ABB-4248-9698-46C0341BC5E1}"/>
              </a:ext>
            </a:extLst>
          </p:cNvPr>
          <p:cNvCxnSpPr>
            <a:cxnSpLocks/>
            <a:stCxn id="124" idx="2"/>
            <a:endCxn id="241" idx="1"/>
          </p:cNvCxnSpPr>
          <p:nvPr/>
        </p:nvCxnSpPr>
        <p:spPr>
          <a:xfrm rot="16200000" flipH="1">
            <a:off x="2685877" y="5088178"/>
            <a:ext cx="467320" cy="5235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6" name="Picture 235">
            <a:extLst>
              <a:ext uri="{FF2B5EF4-FFF2-40B4-BE49-F238E27FC236}">
                <a16:creationId xmlns:a16="http://schemas.microsoft.com/office/drawing/2014/main" id="{D86EB5B2-F351-45DC-B779-E276BED102A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08" y="5713985"/>
            <a:ext cx="314721" cy="314721"/>
          </a:xfrm>
          <a:prstGeom prst="rect">
            <a:avLst/>
          </a:prstGeom>
        </p:spPr>
      </p:pic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1052D418-B00C-43E9-A287-15B101166717}"/>
              </a:ext>
            </a:extLst>
          </p:cNvPr>
          <p:cNvCxnSpPr>
            <a:cxnSpLocks/>
            <a:stCxn id="241" idx="3"/>
            <a:endCxn id="191" idx="1"/>
          </p:cNvCxnSpPr>
          <p:nvPr/>
        </p:nvCxnSpPr>
        <p:spPr>
          <a:xfrm flipV="1">
            <a:off x="5199964" y="5354101"/>
            <a:ext cx="389988" cy="2295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CEBBF096-F349-49F2-B6B2-2C0B8ABDA282}"/>
              </a:ext>
            </a:extLst>
          </p:cNvPr>
          <p:cNvSpPr txBox="1"/>
          <p:nvPr/>
        </p:nvSpPr>
        <p:spPr>
          <a:xfrm>
            <a:off x="5145859" y="559642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B13BDF-434D-4D5D-B3CD-7E33287CB932}"/>
              </a:ext>
            </a:extLst>
          </p:cNvPr>
          <p:cNvSpPr txBox="1"/>
          <p:nvPr/>
        </p:nvSpPr>
        <p:spPr>
          <a:xfrm>
            <a:off x="2595642" y="5379554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for service AIR</a:t>
            </a:r>
            <a:endParaRPr lang="it-IT">
              <a:cs typeface="Arial"/>
            </a:endParaRP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1C06B89E-E68A-471F-A419-9E304665D869}"/>
              </a:ext>
            </a:extLst>
          </p:cNvPr>
          <p:cNvCxnSpPr>
            <a:cxnSpLocks/>
            <a:stCxn id="154" idx="3"/>
            <a:endCxn id="209" idx="1"/>
          </p:cNvCxnSpPr>
          <p:nvPr/>
        </p:nvCxnSpPr>
        <p:spPr>
          <a:xfrm>
            <a:off x="5084937" y="3448721"/>
            <a:ext cx="3043659" cy="210260"/>
          </a:xfrm>
          <a:prstGeom prst="bentConnector3">
            <a:avLst>
              <a:gd name="adj1" fmla="val 87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DC09B-D174-48B8-8A0A-C90CB795E6D9}"/>
              </a:ext>
            </a:extLst>
          </p:cNvPr>
          <p:cNvSpPr txBox="1"/>
          <p:nvPr/>
        </p:nvSpPr>
        <p:spPr>
          <a:xfrm>
            <a:off x="5817599" y="2529310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pic>
        <p:nvPicPr>
          <p:cNvPr id="168" name="Picture 16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971" y="1593213"/>
            <a:ext cx="314721" cy="314721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7DC17730-160F-4DE3-BD74-0D986041C75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959" y="2032508"/>
            <a:ext cx="304729" cy="304729"/>
          </a:xfrm>
          <a:prstGeom prst="rect">
            <a:avLst/>
          </a:prstGeom>
        </p:spPr>
      </p:pic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18D96D1-4A6D-414F-8669-77A00DB583BD}"/>
              </a:ext>
            </a:extLst>
          </p:cNvPr>
          <p:cNvSpPr txBox="1"/>
          <p:nvPr/>
        </p:nvSpPr>
        <p:spPr>
          <a:xfrm>
            <a:off x="8498961" y="3583290"/>
            <a:ext cx="870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SQL Server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49E32ECD-7019-3F8B-B0B8-69C316CAC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7D4FE0C8-E76B-984D-64B0-2FB7BBBBC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248" y="5485653"/>
            <a:ext cx="487928" cy="48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473770-E38C-E735-64B8-691C5252F6CA}"/>
              </a:ext>
            </a:extLst>
          </p:cNvPr>
          <p:cNvSpPr/>
          <p:nvPr/>
        </p:nvSpPr>
        <p:spPr>
          <a:xfrm>
            <a:off x="9967838" y="5289281"/>
            <a:ext cx="1611348" cy="849017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C54DE90-1E59-A453-988D-38010607E4DC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9498326" y="5713789"/>
            <a:ext cx="469512" cy="43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9C7B93F-005A-353B-AE51-CDD683D5F26A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7884232" y="5726364"/>
            <a:ext cx="1209017" cy="1210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1505811-7DA3-62A4-D0E3-5458B04529CC}"/>
              </a:ext>
            </a:extLst>
          </p:cNvPr>
          <p:cNvSpPr txBox="1"/>
          <p:nvPr/>
        </p:nvSpPr>
        <p:spPr>
          <a:xfrm>
            <a:off x="8518847" y="55436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1AFF9CB-BE4C-FFB1-062E-E1BCD7EDB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958" y="5375267"/>
            <a:ext cx="50482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C28A2B3B-397E-5D4F-03E0-8CD2B0CD6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929" y="5550960"/>
            <a:ext cx="476250" cy="47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145CC8B-0005-8D26-97FE-C31823CD067A}"/>
              </a:ext>
            </a:extLst>
          </p:cNvPr>
          <p:cNvSpPr txBox="1"/>
          <p:nvPr/>
        </p:nvSpPr>
        <p:spPr>
          <a:xfrm>
            <a:off x="3998134" y="6578998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** Both services are on the same IaaS server</a:t>
            </a:r>
          </a:p>
        </p:txBody>
      </p:sp>
    </p:spTree>
    <p:extLst>
      <p:ext uri="{BB962C8B-B14F-4D97-AF65-F5344CB8AC3E}">
        <p14:creationId xmlns:p14="http://schemas.microsoft.com/office/powerpoint/2010/main" val="262771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grpSp>
        <p:nvGrpSpPr>
          <p:cNvPr id="143" name="Group 142"/>
          <p:cNvGrpSpPr/>
          <p:nvPr/>
        </p:nvGrpSpPr>
        <p:grpSpPr>
          <a:xfrm>
            <a:off x="5415148" y="2484716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4807414"/>
            <a:ext cx="2187872" cy="1141259"/>
            <a:chOff x="6790177" y="6031875"/>
            <a:chExt cx="1276786" cy="1141259"/>
          </a:xfrm>
        </p:grpSpPr>
        <p:sp>
          <p:nvSpPr>
            <p:cNvPr id="276" name="Rectangle 275"/>
            <p:cNvSpPr/>
            <p:nvPr/>
          </p:nvSpPr>
          <p:spPr>
            <a:xfrm>
              <a:off x="6790177" y="6031875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/reference/quality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90177" y="626656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90177" y="6501249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/staging/quality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9" name="Picture 20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0280" y="3608893"/>
              <a:ext cx="476250" cy="476250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8200825" y="1677953"/>
            <a:ext cx="1551419" cy="576183"/>
            <a:chOff x="7781676" y="3379918"/>
            <a:chExt cx="1919356" cy="1005840"/>
          </a:xfrm>
        </p:grpSpPr>
        <p:sp>
          <p:nvSpPr>
            <p:cNvPr id="169" name="Rectangle 168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072247" y="3454878"/>
              <a:ext cx="1190302" cy="80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Informatica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Axon</a:t>
              </a:r>
              <a:endPara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C0E63ED-FAF3-4184-9726-8BD42F55607D}"/>
              </a:ext>
            </a:extLst>
          </p:cNvPr>
          <p:cNvGrpSpPr/>
          <p:nvPr/>
        </p:nvGrpSpPr>
        <p:grpSpPr>
          <a:xfrm>
            <a:off x="9946835" y="1677953"/>
            <a:ext cx="1612258" cy="584135"/>
            <a:chOff x="7781676" y="3379918"/>
            <a:chExt cx="1919356" cy="1005840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508640-7FF5-4EBC-9257-050E3939D183}"/>
                </a:ext>
              </a:extLst>
            </p:cNvPr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C497C3D-7DBB-47A4-B40E-586900079C0D}"/>
                </a:ext>
              </a:extLst>
            </p:cNvPr>
            <p:cNvSpPr txBox="1"/>
            <p:nvPr/>
          </p:nvSpPr>
          <p:spPr>
            <a:xfrm>
              <a:off x="8168661" y="3472286"/>
              <a:ext cx="1145385" cy="794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DEQ**</a:t>
              </a:r>
            </a:p>
          </p:txBody>
        </p:sp>
      </p:grp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37" idx="1"/>
          </p:cNvCxnSpPr>
          <p:nvPr/>
        </p:nvCxnSpPr>
        <p:spPr>
          <a:xfrm rot="5400000" flipH="1" flipV="1">
            <a:off x="2536831" y="4119087"/>
            <a:ext cx="751015" cy="5091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37" idx="3"/>
            <a:endCxn id="191" idx="1"/>
          </p:cNvCxnSpPr>
          <p:nvPr/>
        </p:nvCxnSpPr>
        <p:spPr>
          <a:xfrm>
            <a:off x="5185566" y="3998174"/>
            <a:ext cx="404385" cy="1355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5123982" y="46070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3FB228-27A3-4276-A78F-FABEB6D2EBF4}"/>
              </a:ext>
            </a:extLst>
          </p:cNvPr>
          <p:cNvCxnSpPr>
            <a:cxnSpLocks/>
            <a:stCxn id="209" idx="0"/>
            <a:endCxn id="135" idx="2"/>
          </p:cNvCxnSpPr>
          <p:nvPr/>
        </p:nvCxnSpPr>
        <p:spPr>
          <a:xfrm rot="16200000" flipV="1">
            <a:off x="5798513" y="846777"/>
            <a:ext cx="1187682" cy="3948735"/>
          </a:xfrm>
          <a:prstGeom prst="bentConnector3">
            <a:avLst>
              <a:gd name="adj1" fmla="val 56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1795BA8B-CEAF-4C38-95AE-F430FA6A3304}"/>
              </a:ext>
            </a:extLst>
          </p:cNvPr>
          <p:cNvCxnSpPr>
            <a:cxnSpLocks/>
            <a:stCxn id="209" idx="0"/>
            <a:endCxn id="200" idx="2"/>
          </p:cNvCxnSpPr>
          <p:nvPr/>
        </p:nvCxnSpPr>
        <p:spPr>
          <a:xfrm rot="5400000" flipH="1" flipV="1">
            <a:off x="8208711" y="2530450"/>
            <a:ext cx="1042547" cy="726527"/>
          </a:xfrm>
          <a:prstGeom prst="bentConnector3">
            <a:avLst>
              <a:gd name="adj1" fmla="val 64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27771" y="3393365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4808" y="145068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672725" y="324553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EA036B-80F8-4955-B36F-01F26209C93D}"/>
              </a:ext>
            </a:extLst>
          </p:cNvPr>
          <p:cNvSpPr txBox="1"/>
          <p:nvPr/>
        </p:nvSpPr>
        <p:spPr>
          <a:xfrm>
            <a:off x="8145979" y="2554588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0D0C5-87D3-41FC-8CBB-DE7E810407F2}"/>
              </a:ext>
            </a:extLst>
          </p:cNvPr>
          <p:cNvGrpSpPr/>
          <p:nvPr/>
        </p:nvGrpSpPr>
        <p:grpSpPr>
          <a:xfrm>
            <a:off x="3166933" y="2810281"/>
            <a:ext cx="2018633" cy="2375786"/>
            <a:chOff x="3151555" y="3108617"/>
            <a:chExt cx="2018633" cy="3002268"/>
          </a:xfrm>
        </p:grpSpPr>
        <p:grpSp>
          <p:nvGrpSpPr>
            <p:cNvPr id="16" name="Group 15"/>
            <p:cNvGrpSpPr/>
            <p:nvPr/>
          </p:nvGrpSpPr>
          <p:grpSpPr>
            <a:xfrm>
              <a:off x="3200995" y="4332754"/>
              <a:ext cx="1873251" cy="765022"/>
              <a:chOff x="5103747" y="4840052"/>
              <a:chExt cx="1919356" cy="790062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5103747" y="4840052"/>
                <a:ext cx="1919356" cy="790062"/>
                <a:chOff x="7758507" y="3525282"/>
                <a:chExt cx="1919356" cy="790062"/>
              </a:xfrm>
            </p:grpSpPr>
            <p:sp>
              <p:nvSpPr>
                <p:cNvPr id="188" name="Rectangle 187"/>
                <p:cNvSpPr/>
                <p:nvPr/>
              </p:nvSpPr>
              <p:spPr>
                <a:xfrm>
                  <a:off x="7758507" y="3568691"/>
                  <a:ext cx="1919356" cy="746653"/>
                </a:xfrm>
                <a:prstGeom prst="rect">
                  <a:avLst/>
                </a:prstGeom>
                <a:noFill/>
                <a:ln w="635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8261784" y="3525282"/>
                  <a:ext cx="882327" cy="361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rPr>
                    <a:t>Databricks</a:t>
                  </a:r>
                </a:p>
              </p:txBody>
            </p:sp>
          </p:grpSp>
          <p:pic>
            <p:nvPicPr>
              <p:cNvPr id="210" name="Picture 209"/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2094" y="5209982"/>
                <a:ext cx="356280" cy="371770"/>
              </a:xfrm>
              <a:prstGeom prst="rect">
                <a:avLst/>
              </a:prstGeom>
            </p:spPr>
          </p:pic>
        </p:grpSp>
        <p:sp>
          <p:nvSpPr>
            <p:cNvPr id="137" name="Rectangle 136"/>
            <p:cNvSpPr/>
            <p:nvPr/>
          </p:nvSpPr>
          <p:spPr>
            <a:xfrm>
              <a:off x="3151555" y="3108617"/>
              <a:ext cx="2018633" cy="3002268"/>
            </a:xfrm>
            <a:prstGeom prst="rect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3301066" y="3579272"/>
              <a:ext cx="1768493" cy="672274"/>
              <a:chOff x="7727935" y="3546841"/>
              <a:chExt cx="1957658" cy="1251655"/>
            </a:xfrm>
          </p:grpSpPr>
          <p:sp>
            <p:nvSpPr>
              <p:cNvPr id="154" name="Rectangle 153"/>
              <p:cNvSpPr/>
              <p:nvPr/>
            </p:nvSpPr>
            <p:spPr>
              <a:xfrm>
                <a:off x="7727935" y="3546841"/>
                <a:ext cx="1957658" cy="1251655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8049380" y="3629167"/>
                <a:ext cx="1490908" cy="1086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Engineering DEI**</a:t>
                </a:r>
              </a:p>
            </p:txBody>
          </p:sp>
        </p:grp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708" y="3950944"/>
              <a:ext cx="314721" cy="40504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006" y="3429999"/>
              <a:ext cx="304729" cy="439738"/>
            </a:xfrm>
            <a:prstGeom prst="rect">
              <a:avLst/>
            </a:prstGeom>
          </p:spPr>
        </p:pic>
      </p:grp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C2FA7DF-366C-4869-9CC6-268DA2EE22C3}"/>
              </a:ext>
            </a:extLst>
          </p:cNvPr>
          <p:cNvSpPr/>
          <p:nvPr/>
        </p:nvSpPr>
        <p:spPr>
          <a:xfrm>
            <a:off x="3181331" y="5235110"/>
            <a:ext cx="2018633" cy="697044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>
                <a:latin typeface="Calibri" panose="020F0502020204030204"/>
              </a:rPr>
              <a:t>SFTP Server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0CBF9B6B-4ABB-4248-9698-46C0341BC5E1}"/>
              </a:ext>
            </a:extLst>
          </p:cNvPr>
          <p:cNvCxnSpPr>
            <a:cxnSpLocks/>
            <a:stCxn id="124" idx="2"/>
            <a:endCxn id="241" idx="1"/>
          </p:cNvCxnSpPr>
          <p:nvPr/>
        </p:nvCxnSpPr>
        <p:spPr>
          <a:xfrm rot="16200000" flipH="1">
            <a:off x="2685877" y="5088178"/>
            <a:ext cx="467320" cy="5235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6" name="Picture 235">
            <a:extLst>
              <a:ext uri="{FF2B5EF4-FFF2-40B4-BE49-F238E27FC236}">
                <a16:creationId xmlns:a16="http://schemas.microsoft.com/office/drawing/2014/main" id="{D86EB5B2-F351-45DC-B779-E276BED102A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08" y="5713985"/>
            <a:ext cx="314721" cy="314721"/>
          </a:xfrm>
          <a:prstGeom prst="rect">
            <a:avLst/>
          </a:prstGeom>
        </p:spPr>
      </p:pic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1052D418-B00C-43E9-A287-15B101166717}"/>
              </a:ext>
            </a:extLst>
          </p:cNvPr>
          <p:cNvCxnSpPr>
            <a:cxnSpLocks/>
            <a:stCxn id="241" idx="3"/>
            <a:endCxn id="191" idx="1"/>
          </p:cNvCxnSpPr>
          <p:nvPr/>
        </p:nvCxnSpPr>
        <p:spPr>
          <a:xfrm flipV="1">
            <a:off x="5199964" y="5354101"/>
            <a:ext cx="389988" cy="2295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CEBBF096-F349-49F2-B6B2-2C0B8ABDA282}"/>
              </a:ext>
            </a:extLst>
          </p:cNvPr>
          <p:cNvSpPr txBox="1"/>
          <p:nvPr/>
        </p:nvSpPr>
        <p:spPr>
          <a:xfrm>
            <a:off x="5145859" y="559642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B13BDF-434D-4D5D-B3CD-7E33287CB932}"/>
              </a:ext>
            </a:extLst>
          </p:cNvPr>
          <p:cNvSpPr txBox="1"/>
          <p:nvPr/>
        </p:nvSpPr>
        <p:spPr>
          <a:xfrm>
            <a:off x="2595642" y="5379554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for service Data Quality &amp; Governance (DDT)</a:t>
            </a:r>
            <a:endParaRPr lang="it-IT">
              <a:cs typeface="Arial"/>
            </a:endParaRP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1C06B89E-E68A-471F-A419-9E304665D869}"/>
              </a:ext>
            </a:extLst>
          </p:cNvPr>
          <p:cNvCxnSpPr>
            <a:cxnSpLocks/>
            <a:stCxn id="154" idx="3"/>
            <a:endCxn id="209" idx="1"/>
          </p:cNvCxnSpPr>
          <p:nvPr/>
        </p:nvCxnSpPr>
        <p:spPr>
          <a:xfrm>
            <a:off x="5084937" y="3448721"/>
            <a:ext cx="3043659" cy="210260"/>
          </a:xfrm>
          <a:prstGeom prst="bentConnector3">
            <a:avLst>
              <a:gd name="adj1" fmla="val 87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DC09B-D174-48B8-8A0A-C90CB795E6D9}"/>
              </a:ext>
            </a:extLst>
          </p:cNvPr>
          <p:cNvSpPr txBox="1"/>
          <p:nvPr/>
        </p:nvSpPr>
        <p:spPr>
          <a:xfrm>
            <a:off x="5817599" y="2529310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pic>
        <p:nvPicPr>
          <p:cNvPr id="168" name="Picture 16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971" y="1593213"/>
            <a:ext cx="314721" cy="314721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B2965542-DCD9-4633-B08C-158DE9952F3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58" y="1566139"/>
            <a:ext cx="314721" cy="314721"/>
          </a:xfrm>
          <a:prstGeom prst="rect">
            <a:avLst/>
          </a:prstGeom>
        </p:spPr>
      </p:pic>
      <p:pic>
        <p:nvPicPr>
          <p:cNvPr id="166" name="Picture 165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071" y="1969731"/>
            <a:ext cx="304729" cy="304729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7DC17730-160F-4DE3-BD74-0D986041C75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959" y="2032508"/>
            <a:ext cx="304729" cy="304729"/>
          </a:xfrm>
          <a:prstGeom prst="rect">
            <a:avLst/>
          </a:prstGeom>
        </p:spPr>
      </p:pic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A02EAB7-B4C9-4BD8-ABAF-ACFC8D17F2D3}"/>
              </a:ext>
            </a:extLst>
          </p:cNvPr>
          <p:cNvGrpSpPr/>
          <p:nvPr/>
        </p:nvGrpSpPr>
        <p:grpSpPr>
          <a:xfrm>
            <a:off x="6605563" y="1677954"/>
            <a:ext cx="1318690" cy="561900"/>
            <a:chOff x="7808089" y="4504479"/>
            <a:chExt cx="1919356" cy="1005840"/>
          </a:xfrm>
        </p:grpSpPr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0AC9DFAD-70BF-4DF8-A937-19A0C392BE1C}"/>
                </a:ext>
              </a:extLst>
            </p:cNvPr>
            <p:cNvSpPr/>
            <p:nvPr/>
          </p:nvSpPr>
          <p:spPr>
            <a:xfrm>
              <a:off x="7808089" y="4504479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3E51C0E-64EE-41DF-8C44-0432C0A4E0B7}"/>
                </a:ext>
              </a:extLst>
            </p:cNvPr>
            <p:cNvSpPr txBox="1"/>
            <p:nvPr/>
          </p:nvSpPr>
          <p:spPr>
            <a:xfrm>
              <a:off x="8057120" y="4603624"/>
              <a:ext cx="1400371" cy="826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EDC</a:t>
              </a:r>
            </a:p>
          </p:txBody>
        </p: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D99EA8A8-E33E-4B9D-8F0F-473C3348229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211" y="1998307"/>
            <a:ext cx="304729" cy="304729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A0977253-C544-4E5C-8C07-7C23019A9C0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529" y="1573492"/>
            <a:ext cx="345248" cy="376826"/>
          </a:xfrm>
          <a:prstGeom prst="rect">
            <a:avLst/>
          </a:prstGeom>
        </p:spPr>
      </p:pic>
      <p:sp>
        <p:nvSpPr>
          <p:cNvPr id="278" name="TextBox 277">
            <a:extLst>
              <a:ext uri="{FF2B5EF4-FFF2-40B4-BE49-F238E27FC236}">
                <a16:creationId xmlns:a16="http://schemas.microsoft.com/office/drawing/2014/main" id="{B18D96D1-4A6D-414F-8669-77A00DB583BD}"/>
              </a:ext>
            </a:extLst>
          </p:cNvPr>
          <p:cNvSpPr txBox="1"/>
          <p:nvPr/>
        </p:nvSpPr>
        <p:spPr>
          <a:xfrm>
            <a:off x="8498961" y="3583290"/>
            <a:ext cx="870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SQL Server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49E32ECD-7019-3F8B-B0B8-69C316CAC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156D4B-FEC5-B3C8-3568-4155668E6F51}"/>
              </a:ext>
            </a:extLst>
          </p:cNvPr>
          <p:cNvSpPr txBox="1"/>
          <p:nvPr/>
        </p:nvSpPr>
        <p:spPr>
          <a:xfrm>
            <a:off x="3998134" y="6578998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** Both services are on the same IaaS server</a:t>
            </a:r>
          </a:p>
        </p:txBody>
      </p:sp>
    </p:spTree>
    <p:extLst>
      <p:ext uri="{BB962C8B-B14F-4D97-AF65-F5344CB8AC3E}">
        <p14:creationId xmlns:p14="http://schemas.microsoft.com/office/powerpoint/2010/main" val="3414540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037768" y="7207892"/>
            <a:ext cx="453970" cy="215444"/>
          </a:xfrm>
          <a:prstGeom prst="rect">
            <a:avLst/>
          </a:prstGeom>
          <a:solidFill>
            <a:srgbClr val="F2F2F2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HTTPS</a:t>
            </a:r>
          </a:p>
        </p:txBody>
      </p:sp>
      <p:grpSp>
        <p:nvGrpSpPr>
          <p:cNvPr id="143" name="Group 142"/>
          <p:cNvGrpSpPr/>
          <p:nvPr/>
        </p:nvGrpSpPr>
        <p:grpSpPr>
          <a:xfrm>
            <a:off x="5415148" y="2484716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4807414"/>
            <a:ext cx="2187872" cy="1141259"/>
            <a:chOff x="6790177" y="6031875"/>
            <a:chExt cx="1276786" cy="1141259"/>
          </a:xfrm>
        </p:grpSpPr>
        <p:sp>
          <p:nvSpPr>
            <p:cNvPr id="276" name="Rectangle 275"/>
            <p:cNvSpPr/>
            <p:nvPr/>
          </p:nvSpPr>
          <p:spPr>
            <a:xfrm>
              <a:off x="6790177" y="6031875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/reference/quality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90177" y="626656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90177" y="6501249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/staging/quality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pic>
        <p:nvPicPr>
          <p:cNvPr id="131" name="Picture 1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114" y="3338962"/>
            <a:ext cx="455094" cy="455094"/>
          </a:xfrm>
          <a:prstGeom prst="rect">
            <a:avLst/>
          </a:prstGeom>
        </p:spPr>
      </p:pic>
      <p:sp>
        <p:nvSpPr>
          <p:cNvPr id="322" name="Rectangle 321"/>
          <p:cNvSpPr/>
          <p:nvPr/>
        </p:nvSpPr>
        <p:spPr>
          <a:xfrm>
            <a:off x="9666834" y="2972870"/>
            <a:ext cx="1919356" cy="22694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9887169" y="2947607"/>
            <a:ext cx="1540806" cy="500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Business Information</a:t>
            </a:r>
            <a:endParaRPr lang="en-US" sz="1200" b="1" kern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Consumption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7" name="Picture 20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6059" y="3677470"/>
              <a:ext cx="481013" cy="481013"/>
            </a:xfrm>
            <a:prstGeom prst="rect">
              <a:avLst/>
            </a:prstGeom>
          </p:spPr>
        </p:pic>
        <p:pic>
          <p:nvPicPr>
            <p:cNvPr id="209" name="Picture 208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0280" y="3608893"/>
              <a:ext cx="476250" cy="476250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8200825" y="1677953"/>
            <a:ext cx="1551419" cy="576183"/>
            <a:chOff x="7781676" y="3379918"/>
            <a:chExt cx="1919356" cy="1005840"/>
          </a:xfrm>
        </p:grpSpPr>
        <p:sp>
          <p:nvSpPr>
            <p:cNvPr id="169" name="Rectangle 168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072247" y="3454878"/>
              <a:ext cx="1190302" cy="80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Informatica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Axon</a:t>
              </a:r>
              <a:endPara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grpSp>
        <p:nvGrpSpPr>
          <p:cNvPr id="119" name="Group 118"/>
          <p:cNvGrpSpPr/>
          <p:nvPr/>
        </p:nvGrpSpPr>
        <p:grpSpPr>
          <a:xfrm>
            <a:off x="9766916" y="3819894"/>
            <a:ext cx="1738732" cy="1384891"/>
            <a:chOff x="8337559" y="4415586"/>
            <a:chExt cx="1738732" cy="1384891"/>
          </a:xfrm>
        </p:grpSpPr>
        <p:sp>
          <p:nvSpPr>
            <p:cNvPr id="120" name="Rectangle 119"/>
            <p:cNvSpPr/>
            <p:nvPr/>
          </p:nvSpPr>
          <p:spPr>
            <a:xfrm>
              <a:off x="8337559" y="4415586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Static Reporting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8337559" y="4650273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Interactive Dashboard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8337559" y="4884960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Self-Service BI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8337559" y="5119646"/>
              <a:ext cx="1738732" cy="680831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Self-Service Data Preparation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pic>
          <p:nvPicPr>
            <p:cNvPr id="125" name="Picture 1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38253" y="5358473"/>
              <a:ext cx="365792" cy="365792"/>
            </a:xfrm>
            <a:prstGeom prst="rect">
              <a:avLst/>
            </a:prstGeom>
          </p:spPr>
        </p:pic>
      </p:grpSp>
      <p:pic>
        <p:nvPicPr>
          <p:cNvPr id="128" name="Picture 1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C0E63ED-FAF3-4184-9726-8BD42F55607D}"/>
              </a:ext>
            </a:extLst>
          </p:cNvPr>
          <p:cNvGrpSpPr/>
          <p:nvPr/>
        </p:nvGrpSpPr>
        <p:grpSpPr>
          <a:xfrm>
            <a:off x="9946835" y="1677953"/>
            <a:ext cx="1612258" cy="584135"/>
            <a:chOff x="7781676" y="3379918"/>
            <a:chExt cx="1919356" cy="1005840"/>
          </a:xfrm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508640-7FF5-4EBC-9257-050E3939D183}"/>
                </a:ext>
              </a:extLst>
            </p:cNvPr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C497C3D-7DBB-47A4-B40E-586900079C0D}"/>
                </a:ext>
              </a:extLst>
            </p:cNvPr>
            <p:cNvSpPr txBox="1"/>
            <p:nvPr/>
          </p:nvSpPr>
          <p:spPr>
            <a:xfrm>
              <a:off x="8168661" y="3472286"/>
              <a:ext cx="1145385" cy="794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Informatica</a:t>
              </a:r>
              <a:r>
                <a:rPr lang="en-US" sz="1200" b="1" kern="0">
                  <a:latin typeface="Calibri" panose="020F0502020204030204"/>
                </a:rPr>
                <a:t>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 panose="020F0502020204030204"/>
                </a:rPr>
                <a:t>DEQ**</a:t>
              </a:r>
            </a:p>
          </p:txBody>
        </p:sp>
      </p:grp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37" idx="1"/>
          </p:cNvCxnSpPr>
          <p:nvPr/>
        </p:nvCxnSpPr>
        <p:spPr>
          <a:xfrm rot="5400000" flipH="1" flipV="1">
            <a:off x="2536831" y="4119087"/>
            <a:ext cx="751015" cy="5091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37" idx="3"/>
            <a:endCxn id="191" idx="1"/>
          </p:cNvCxnSpPr>
          <p:nvPr/>
        </p:nvCxnSpPr>
        <p:spPr>
          <a:xfrm>
            <a:off x="5185566" y="3998174"/>
            <a:ext cx="404385" cy="13559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8747C7CD-0B3B-445A-8B27-038E2DABE80E}"/>
              </a:ext>
            </a:extLst>
          </p:cNvPr>
          <p:cNvCxnSpPr>
            <a:cxnSpLocks/>
            <a:stCxn id="191" idx="3"/>
            <a:endCxn id="322" idx="1"/>
          </p:cNvCxnSpPr>
          <p:nvPr/>
        </p:nvCxnSpPr>
        <p:spPr>
          <a:xfrm flipV="1">
            <a:off x="9317224" y="4107578"/>
            <a:ext cx="349610" cy="1246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5123982" y="46070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4530F4E-5B90-4A32-A781-F0A6091C69C0}"/>
              </a:ext>
            </a:extLst>
          </p:cNvPr>
          <p:cNvSpPr txBox="1"/>
          <p:nvPr/>
        </p:nvSpPr>
        <p:spPr>
          <a:xfrm>
            <a:off x="7421152" y="390947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13FB228-27A3-4276-A78F-FABEB6D2EBF4}"/>
              </a:ext>
            </a:extLst>
          </p:cNvPr>
          <p:cNvCxnSpPr>
            <a:cxnSpLocks/>
            <a:stCxn id="209" idx="0"/>
            <a:endCxn id="135" idx="2"/>
          </p:cNvCxnSpPr>
          <p:nvPr/>
        </p:nvCxnSpPr>
        <p:spPr>
          <a:xfrm rot="16200000" flipV="1">
            <a:off x="5798513" y="846777"/>
            <a:ext cx="1187682" cy="3948735"/>
          </a:xfrm>
          <a:prstGeom prst="bentConnector3">
            <a:avLst>
              <a:gd name="adj1" fmla="val 56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1795BA8B-CEAF-4C38-95AE-F430FA6A3304}"/>
              </a:ext>
            </a:extLst>
          </p:cNvPr>
          <p:cNvCxnSpPr>
            <a:cxnSpLocks/>
            <a:stCxn id="209" idx="0"/>
            <a:endCxn id="200" idx="2"/>
          </p:cNvCxnSpPr>
          <p:nvPr/>
        </p:nvCxnSpPr>
        <p:spPr>
          <a:xfrm rot="5400000" flipH="1" flipV="1">
            <a:off x="8208711" y="2530450"/>
            <a:ext cx="1042547" cy="726527"/>
          </a:xfrm>
          <a:prstGeom prst="bentConnector3">
            <a:avLst>
              <a:gd name="adj1" fmla="val 64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771" y="3393365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4808" y="145068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622081" y="2916710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EA036B-80F8-4955-B36F-01F26209C93D}"/>
              </a:ext>
            </a:extLst>
          </p:cNvPr>
          <p:cNvSpPr txBox="1"/>
          <p:nvPr/>
        </p:nvSpPr>
        <p:spPr>
          <a:xfrm>
            <a:off x="8145979" y="2554588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890D0C5-87D3-41FC-8CBB-DE7E810407F2}"/>
              </a:ext>
            </a:extLst>
          </p:cNvPr>
          <p:cNvGrpSpPr/>
          <p:nvPr/>
        </p:nvGrpSpPr>
        <p:grpSpPr>
          <a:xfrm>
            <a:off x="3166933" y="2810281"/>
            <a:ext cx="2018633" cy="2375786"/>
            <a:chOff x="3151555" y="3108617"/>
            <a:chExt cx="2018633" cy="3002268"/>
          </a:xfrm>
        </p:grpSpPr>
        <p:grpSp>
          <p:nvGrpSpPr>
            <p:cNvPr id="16" name="Group 15"/>
            <p:cNvGrpSpPr/>
            <p:nvPr/>
          </p:nvGrpSpPr>
          <p:grpSpPr>
            <a:xfrm>
              <a:off x="3200995" y="4332754"/>
              <a:ext cx="1873251" cy="765022"/>
              <a:chOff x="5103747" y="4840052"/>
              <a:chExt cx="1919356" cy="790062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5103747" y="4840052"/>
                <a:ext cx="1919356" cy="790062"/>
                <a:chOff x="7758507" y="3525282"/>
                <a:chExt cx="1919356" cy="790062"/>
              </a:xfrm>
            </p:grpSpPr>
            <p:sp>
              <p:nvSpPr>
                <p:cNvPr id="188" name="Rectangle 187"/>
                <p:cNvSpPr/>
                <p:nvPr/>
              </p:nvSpPr>
              <p:spPr>
                <a:xfrm>
                  <a:off x="7758507" y="3568691"/>
                  <a:ext cx="1919356" cy="746653"/>
                </a:xfrm>
                <a:prstGeom prst="rect">
                  <a:avLst/>
                </a:prstGeom>
                <a:noFill/>
                <a:ln w="635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8261784" y="3525282"/>
                  <a:ext cx="882327" cy="361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rPr>
                    <a:t>Databricks</a:t>
                  </a:r>
                </a:p>
              </p:txBody>
            </p:sp>
          </p:grpSp>
          <p:pic>
            <p:nvPicPr>
              <p:cNvPr id="210" name="Picture 209"/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2094" y="5209982"/>
                <a:ext cx="356280" cy="371770"/>
              </a:xfrm>
              <a:prstGeom prst="rect">
                <a:avLst/>
              </a:prstGeom>
            </p:spPr>
          </p:pic>
        </p:grpSp>
        <p:sp>
          <p:nvSpPr>
            <p:cNvPr id="137" name="Rectangle 136"/>
            <p:cNvSpPr/>
            <p:nvPr/>
          </p:nvSpPr>
          <p:spPr>
            <a:xfrm>
              <a:off x="3151555" y="3108617"/>
              <a:ext cx="2018633" cy="3002268"/>
            </a:xfrm>
            <a:prstGeom prst="rect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3301066" y="3579272"/>
              <a:ext cx="1768493" cy="672274"/>
              <a:chOff x="7727935" y="3546841"/>
              <a:chExt cx="1957658" cy="1251655"/>
            </a:xfrm>
          </p:grpSpPr>
          <p:sp>
            <p:nvSpPr>
              <p:cNvPr id="154" name="Rectangle 153"/>
              <p:cNvSpPr/>
              <p:nvPr/>
            </p:nvSpPr>
            <p:spPr>
              <a:xfrm>
                <a:off x="7727935" y="3546841"/>
                <a:ext cx="1957658" cy="1251655"/>
              </a:xfrm>
              <a:prstGeom prst="rect">
                <a:avLst/>
              </a:prstGeom>
              <a:noFill/>
              <a:ln w="635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>
                <a:off x="8049380" y="3629167"/>
                <a:ext cx="1490908" cy="1086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r>
                  <a:rPr lang="en-US" sz="1200" b="1" kern="0">
                    <a:latin typeface="Calibri" panose="020F0502020204030204"/>
                  </a:rPr>
                  <a:t> 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</a:rPr>
                  <a:t>Engineering DEI**</a:t>
                </a:r>
              </a:p>
            </p:txBody>
          </p:sp>
        </p:grp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1708" y="3950944"/>
              <a:ext cx="314721" cy="40504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006" y="3429999"/>
              <a:ext cx="304729" cy="439738"/>
            </a:xfrm>
            <a:prstGeom prst="rect">
              <a:avLst/>
            </a:prstGeom>
          </p:spPr>
        </p:pic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89C56C72-E93B-413D-ABC5-6B48C3943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958" y="5375267"/>
            <a:ext cx="50482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07666EAA-DDAC-489A-9F24-45979668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929" y="5550960"/>
            <a:ext cx="476250" cy="47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3E22483-059E-4AB9-B06C-16FBF7EB7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248" y="5485653"/>
            <a:ext cx="487928" cy="48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" name="Rectangle 222">
            <a:extLst>
              <a:ext uri="{FF2B5EF4-FFF2-40B4-BE49-F238E27FC236}">
                <a16:creationId xmlns:a16="http://schemas.microsoft.com/office/drawing/2014/main" id="{1953DCA5-97B8-4743-B4F8-DDD9EB4C7249}"/>
              </a:ext>
            </a:extLst>
          </p:cNvPr>
          <p:cNvSpPr/>
          <p:nvPr/>
        </p:nvSpPr>
        <p:spPr>
          <a:xfrm>
            <a:off x="9967838" y="5289281"/>
            <a:ext cx="1466602" cy="849017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58E1292B-08FB-44DD-9ACC-9B37617CCC68}"/>
              </a:ext>
            </a:extLst>
          </p:cNvPr>
          <p:cNvCxnSpPr>
            <a:cxnSpLocks/>
            <a:stCxn id="223" idx="1"/>
          </p:cNvCxnSpPr>
          <p:nvPr/>
        </p:nvCxnSpPr>
        <p:spPr>
          <a:xfrm rot="10800000" flipV="1">
            <a:off x="9498326" y="5713789"/>
            <a:ext cx="469512" cy="43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F70954FD-5340-4532-A337-86A17DDFFC1A}"/>
              </a:ext>
            </a:extLst>
          </p:cNvPr>
          <p:cNvCxnSpPr>
            <a:cxnSpLocks/>
            <a:stCxn id="1028" idx="1"/>
            <a:endCxn id="282" idx="3"/>
          </p:cNvCxnSpPr>
          <p:nvPr/>
        </p:nvCxnSpPr>
        <p:spPr>
          <a:xfrm rot="10800000" flipV="1">
            <a:off x="7884232" y="5726364"/>
            <a:ext cx="1209017" cy="1210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A186B93A-971B-4A79-8556-0A23BEEC2DBA}"/>
              </a:ext>
            </a:extLst>
          </p:cNvPr>
          <p:cNvSpPr txBox="1"/>
          <p:nvPr/>
        </p:nvSpPr>
        <p:spPr>
          <a:xfrm>
            <a:off x="9077346" y="426330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for service GCFO </a:t>
            </a:r>
            <a:r>
              <a:rPr lang="it-IT" err="1"/>
              <a:t>Datalake</a:t>
            </a:r>
            <a:r>
              <a:rPr lang="it-IT"/>
              <a:t> &amp; Reporting</a:t>
            </a:r>
            <a:endParaRPr lang="it-IT">
              <a:cs typeface="Arial"/>
            </a:endParaRP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1C06B89E-E68A-471F-A419-9E304665D869}"/>
              </a:ext>
            </a:extLst>
          </p:cNvPr>
          <p:cNvCxnSpPr>
            <a:cxnSpLocks/>
            <a:stCxn id="154" idx="3"/>
            <a:endCxn id="209" idx="1"/>
          </p:cNvCxnSpPr>
          <p:nvPr/>
        </p:nvCxnSpPr>
        <p:spPr>
          <a:xfrm>
            <a:off x="5084937" y="3448721"/>
            <a:ext cx="3043659" cy="210260"/>
          </a:xfrm>
          <a:prstGeom prst="bentConnector3">
            <a:avLst>
              <a:gd name="adj1" fmla="val 87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886FBCA8-3040-4489-ACA5-AFFA729CFE58}"/>
              </a:ext>
            </a:extLst>
          </p:cNvPr>
          <p:cNvCxnSpPr>
            <a:cxnSpLocks/>
            <a:stCxn id="207" idx="2"/>
            <a:endCxn id="322" idx="1"/>
          </p:cNvCxnSpPr>
          <p:nvPr/>
        </p:nvCxnSpPr>
        <p:spPr>
          <a:xfrm rot="16200000" flipH="1">
            <a:off x="8086132" y="2526875"/>
            <a:ext cx="129453" cy="3031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DC09B-D174-48B8-8A0A-C90CB795E6D9}"/>
              </a:ext>
            </a:extLst>
          </p:cNvPr>
          <p:cNvSpPr txBox="1"/>
          <p:nvPr/>
        </p:nvSpPr>
        <p:spPr>
          <a:xfrm>
            <a:off x="5817599" y="2529310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</a:t>
            </a:r>
          </a:p>
        </p:txBody>
      </p:sp>
      <p:pic>
        <p:nvPicPr>
          <p:cNvPr id="168" name="Picture 16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971" y="1593213"/>
            <a:ext cx="314721" cy="314721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B2965542-DCD9-4633-B08C-158DE9952F3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58" y="1566139"/>
            <a:ext cx="314721" cy="314721"/>
          </a:xfrm>
          <a:prstGeom prst="rect">
            <a:avLst/>
          </a:prstGeom>
        </p:spPr>
      </p:pic>
      <p:pic>
        <p:nvPicPr>
          <p:cNvPr id="166" name="Picture 1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071" y="1969731"/>
            <a:ext cx="304729" cy="304729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7DC17730-160F-4DE3-BD74-0D986041C75B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959" y="2032508"/>
            <a:ext cx="304729" cy="304729"/>
          </a:xfrm>
          <a:prstGeom prst="rect">
            <a:avLst/>
          </a:prstGeom>
        </p:spPr>
      </p:pic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1EC58104-8881-4AF6-AE2D-6456A567EB46}"/>
              </a:ext>
            </a:extLst>
          </p:cNvPr>
          <p:cNvCxnSpPr>
            <a:cxnSpLocks/>
            <a:stCxn id="191" idx="0"/>
            <a:endCxn id="207" idx="1"/>
          </p:cNvCxnSpPr>
          <p:nvPr/>
        </p:nvCxnSpPr>
        <p:spPr>
          <a:xfrm rot="16200000" flipV="1">
            <a:off x="6459524" y="3666542"/>
            <a:ext cx="928917" cy="1059214"/>
          </a:xfrm>
          <a:prstGeom prst="bentConnector4">
            <a:avLst>
              <a:gd name="adj1" fmla="val 36735"/>
              <a:gd name="adj2" fmla="val 1304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103B3EB-221A-4FA1-9033-FD93A5C739B2}"/>
              </a:ext>
            </a:extLst>
          </p:cNvPr>
          <p:cNvSpPr txBox="1"/>
          <p:nvPr/>
        </p:nvSpPr>
        <p:spPr>
          <a:xfrm>
            <a:off x="6820000" y="3583291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Synapse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18D96D1-4A6D-414F-8669-77A00DB583BD}"/>
              </a:ext>
            </a:extLst>
          </p:cNvPr>
          <p:cNvSpPr txBox="1"/>
          <p:nvPr/>
        </p:nvSpPr>
        <p:spPr>
          <a:xfrm>
            <a:off x="8498961" y="3583290"/>
            <a:ext cx="870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SQL Server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C8FE5236-FCB5-4BEC-B304-F9664AC53FDB}"/>
              </a:ext>
            </a:extLst>
          </p:cNvPr>
          <p:cNvSpPr txBox="1"/>
          <p:nvPr/>
        </p:nvSpPr>
        <p:spPr>
          <a:xfrm>
            <a:off x="8518847" y="55436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0FC14E3A-6605-5E2F-35EE-3DF479E83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D0B93D-189A-B93F-4491-73AD22C3491F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504" y="3977753"/>
            <a:ext cx="314721" cy="3147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A90AB2-8F36-F6F4-2011-AA16960A091D}"/>
              </a:ext>
            </a:extLst>
          </p:cNvPr>
          <p:cNvSpPr txBox="1"/>
          <p:nvPr/>
        </p:nvSpPr>
        <p:spPr>
          <a:xfrm>
            <a:off x="8536101" y="3896267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it-IT"/>
              <a:t>PowerBi </a:t>
            </a:r>
          </a:p>
          <a:p>
            <a:r>
              <a:rPr lang="it-IT"/>
              <a:t>Gateway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DB9DA-B8FD-2958-1621-9C704460F4A9}"/>
              </a:ext>
            </a:extLst>
          </p:cNvPr>
          <p:cNvSpPr txBox="1"/>
          <p:nvPr/>
        </p:nvSpPr>
        <p:spPr>
          <a:xfrm>
            <a:off x="3998134" y="6578998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** Both services are on the same IaaS server</a:t>
            </a:r>
          </a:p>
        </p:txBody>
      </p:sp>
    </p:spTree>
    <p:extLst>
      <p:ext uri="{BB962C8B-B14F-4D97-AF65-F5344CB8AC3E}">
        <p14:creationId xmlns:p14="http://schemas.microsoft.com/office/powerpoint/2010/main" val="101205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037768" y="7207892"/>
            <a:ext cx="453970" cy="215444"/>
          </a:xfrm>
          <a:prstGeom prst="rect">
            <a:avLst/>
          </a:prstGeom>
          <a:solidFill>
            <a:srgbClr val="F2F2F2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HTTPS</a:t>
            </a:r>
          </a:p>
        </p:txBody>
      </p:sp>
      <p:grpSp>
        <p:nvGrpSpPr>
          <p:cNvPr id="143" name="Group 142"/>
          <p:cNvGrpSpPr/>
          <p:nvPr/>
        </p:nvGrpSpPr>
        <p:grpSpPr>
          <a:xfrm>
            <a:off x="5415148" y="2484716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0"/>
            <a:ext cx="4323540" cy="1391345"/>
            <a:chOff x="7781676" y="3376758"/>
            <a:chExt cx="2226403" cy="1009000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pic>
        <p:nvPicPr>
          <p:cNvPr id="208" name="Picture 2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4954873"/>
            <a:ext cx="476250" cy="4762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696359" y="4807414"/>
            <a:ext cx="2187872" cy="1141259"/>
            <a:chOff x="6790177" y="6031875"/>
            <a:chExt cx="1276786" cy="1141259"/>
          </a:xfrm>
        </p:grpSpPr>
        <p:sp>
          <p:nvSpPr>
            <p:cNvPr id="276" name="Rectangle 275"/>
            <p:cNvSpPr/>
            <p:nvPr/>
          </p:nvSpPr>
          <p:spPr>
            <a:xfrm>
              <a:off x="6790177" y="6031875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/reference/quality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790177" y="6266562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/reference</a:t>
              </a: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6790177" y="6501249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/staging/quality</a:t>
              </a:r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6790177" y="6735936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/staging/</a:t>
              </a: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6790177" y="6970624"/>
              <a:ext cx="1276786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/landing/</a:t>
              </a:r>
            </a:p>
          </p:txBody>
        </p:sp>
      </p:grpSp>
      <p:pic>
        <p:nvPicPr>
          <p:cNvPr id="131" name="Picture 1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114" y="3338962"/>
            <a:ext cx="455094" cy="455094"/>
          </a:xfrm>
          <a:prstGeom prst="rect">
            <a:avLst/>
          </a:prstGeom>
        </p:spPr>
      </p:pic>
      <p:sp>
        <p:nvSpPr>
          <p:cNvPr id="322" name="Rectangle 321"/>
          <p:cNvSpPr/>
          <p:nvPr/>
        </p:nvSpPr>
        <p:spPr>
          <a:xfrm>
            <a:off x="9666834" y="2972870"/>
            <a:ext cx="1919356" cy="22694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9887169" y="2947607"/>
            <a:ext cx="1540806" cy="500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Business Information</a:t>
            </a:r>
            <a:endParaRPr lang="en-US" sz="1200" b="1" kern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Consumption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589951" y="3014519"/>
            <a:ext cx="3727271" cy="1491433"/>
            <a:chOff x="7461635" y="3218060"/>
            <a:chExt cx="3727271" cy="1455552"/>
          </a:xfrm>
        </p:grpSpPr>
        <p:grpSp>
          <p:nvGrpSpPr>
            <p:cNvPr id="184" name="Group 183"/>
            <p:cNvGrpSpPr/>
            <p:nvPr/>
          </p:nvGrpSpPr>
          <p:grpSpPr>
            <a:xfrm>
              <a:off x="7461635" y="3218060"/>
              <a:ext cx="3727271" cy="1455552"/>
              <a:chOff x="7781675" y="3379918"/>
              <a:chExt cx="3727271" cy="1455552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8114487" y="3396021"/>
                <a:ext cx="125374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Certified Storage</a:t>
                </a:r>
              </a:p>
            </p:txBody>
          </p:sp>
          <p:sp>
            <p:nvSpPr>
              <p:cNvPr id="185" name="Rectangle 184"/>
              <p:cNvSpPr/>
              <p:nvPr/>
            </p:nvSpPr>
            <p:spPr>
              <a:xfrm>
                <a:off x="7781675" y="3379918"/>
                <a:ext cx="3727271" cy="1455552"/>
              </a:xfrm>
              <a:prstGeom prst="rect">
                <a:avLst/>
              </a:prstGeom>
              <a:noFill/>
              <a:ln w="63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07" name="Picture 20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6059" y="3677470"/>
              <a:ext cx="481013" cy="481013"/>
            </a:xfrm>
            <a:prstGeom prst="rect">
              <a:avLst/>
            </a:prstGeom>
          </p:spPr>
        </p:pic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grpSp>
        <p:nvGrpSpPr>
          <p:cNvPr id="119" name="Group 118"/>
          <p:cNvGrpSpPr/>
          <p:nvPr/>
        </p:nvGrpSpPr>
        <p:grpSpPr>
          <a:xfrm>
            <a:off x="9766916" y="3819894"/>
            <a:ext cx="1738732" cy="1384891"/>
            <a:chOff x="8337559" y="4415586"/>
            <a:chExt cx="1738732" cy="1384891"/>
          </a:xfrm>
        </p:grpSpPr>
        <p:sp>
          <p:nvSpPr>
            <p:cNvPr id="120" name="Rectangle 119"/>
            <p:cNvSpPr/>
            <p:nvPr/>
          </p:nvSpPr>
          <p:spPr>
            <a:xfrm>
              <a:off x="8337559" y="4415586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Static Reporting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8337559" y="4650273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Interactive Dashboard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8337559" y="4884960"/>
              <a:ext cx="1738732" cy="20251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Self-Service BI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8337559" y="5119646"/>
              <a:ext cx="1738732" cy="680831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kern="0">
                  <a:latin typeface="Calibri" panose="020F0502020204030204"/>
                </a:rPr>
                <a:t>Self-Service Data Preparation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pic>
          <p:nvPicPr>
            <p:cNvPr id="125" name="Picture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38253" y="5358473"/>
              <a:ext cx="365792" cy="365792"/>
            </a:xfrm>
            <a:prstGeom prst="rect">
              <a:avLst/>
            </a:prstGeom>
          </p:spPr>
        </p:pic>
      </p:grpSp>
      <p:pic>
        <p:nvPicPr>
          <p:cNvPr id="128" name="Picture 1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324863" y="899993"/>
            <a:ext cx="3052165" cy="1469499"/>
            <a:chOff x="2862195" y="1065838"/>
            <a:chExt cx="1805588" cy="1027657"/>
          </a:xfrm>
        </p:grpSpPr>
        <p:grpSp>
          <p:nvGrpSpPr>
            <p:cNvPr id="117" name="Group 116"/>
            <p:cNvGrpSpPr/>
            <p:nvPr/>
          </p:nvGrpSpPr>
          <p:grpSpPr>
            <a:xfrm>
              <a:off x="2862195" y="1065838"/>
              <a:ext cx="1805588" cy="1027657"/>
              <a:chOff x="7842579" y="3480551"/>
              <a:chExt cx="1805588" cy="905207"/>
            </a:xfrm>
          </p:grpSpPr>
          <p:sp>
            <p:nvSpPr>
              <p:cNvPr id="150" name="Rectangle 149"/>
              <p:cNvSpPr/>
              <p:nvPr/>
            </p:nvSpPr>
            <p:spPr>
              <a:xfrm>
                <a:off x="7842579" y="3495627"/>
                <a:ext cx="1805588" cy="890131"/>
              </a:xfrm>
              <a:prstGeom prst="rect">
                <a:avLst/>
              </a:prstGeom>
              <a:noFill/>
              <a:ln w="63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>
                <a:off x="7872169" y="3480551"/>
                <a:ext cx="1744647" cy="170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79D6"/>
                    </a:solidFill>
                    <a:effectLst/>
                    <a:uLnTx/>
                    <a:uFillTx/>
                    <a:latin typeface="Calibri" panose="020F0502020204030204"/>
                  </a:rPr>
                  <a:t>ADA Enterprise Portal</a:t>
                </a:r>
              </a:p>
            </p:txBody>
          </p:sp>
        </p:grpSp>
        <p:sp>
          <p:nvSpPr>
            <p:cNvPr id="135" name="Rectangle 134"/>
            <p:cNvSpPr/>
            <p:nvPr/>
          </p:nvSpPr>
          <p:spPr>
            <a:xfrm>
              <a:off x="2913762" y="1286892"/>
              <a:ext cx="1190196" cy="707168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1" name="Picture 160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9695" y="1259725"/>
            <a:ext cx="514337" cy="381919"/>
          </a:xfrm>
          <a:prstGeom prst="rect">
            <a:avLst/>
          </a:prstGeom>
        </p:spPr>
      </p:pic>
      <p:pic>
        <p:nvPicPr>
          <p:cNvPr id="162" name="Picture 16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06055" y="1832941"/>
            <a:ext cx="370448" cy="423791"/>
          </a:xfrm>
          <a:prstGeom prst="rect">
            <a:avLst/>
          </a:prstGeom>
        </p:spPr>
      </p:pic>
      <p:pic>
        <p:nvPicPr>
          <p:cNvPr id="163" name="Picture 1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5973" y="1820881"/>
            <a:ext cx="423791" cy="374655"/>
          </a:xfrm>
          <a:prstGeom prst="rect">
            <a:avLst/>
          </a:prstGeom>
        </p:spPr>
      </p:pic>
      <p:sp>
        <p:nvSpPr>
          <p:cNvPr id="178" name="Rectangle 177"/>
          <p:cNvSpPr/>
          <p:nvPr/>
        </p:nvSpPr>
        <p:spPr>
          <a:xfrm>
            <a:off x="3736862" y="1382428"/>
            <a:ext cx="1505957" cy="675773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it-IT" sz="1350"/>
          </a:p>
        </p:txBody>
      </p:sp>
      <p:sp>
        <p:nvSpPr>
          <p:cNvPr id="183" name="Rectangle 182"/>
          <p:cNvSpPr/>
          <p:nvPr/>
        </p:nvSpPr>
        <p:spPr>
          <a:xfrm>
            <a:off x="4651673" y="1442713"/>
            <a:ext cx="498762" cy="5627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3813981" y="1434201"/>
            <a:ext cx="520174" cy="564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88900" indent="-88900" algn="ctr">
              <a:buFont typeface="Arial" pitchFamily="34" charset="0"/>
              <a:buChar char="•"/>
            </a:pPr>
            <a:endParaRPr lang="en-US" sz="1200">
              <a:latin typeface="Calibri" pitchFamily="34" charset="0"/>
            </a:endParaRP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2976" y="1538263"/>
            <a:ext cx="259756" cy="295584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8636" y="1596173"/>
            <a:ext cx="173962" cy="2305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cxnSp>
        <p:nvCxnSpPr>
          <p:cNvPr id="196" name="Straight Arrow Connector 195"/>
          <p:cNvCxnSpPr>
            <a:stCxn id="193" idx="3"/>
          </p:cNvCxnSpPr>
          <p:nvPr/>
        </p:nvCxnSpPr>
        <p:spPr>
          <a:xfrm>
            <a:off x="4334155" y="1716358"/>
            <a:ext cx="349563" cy="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15758" y="1386838"/>
            <a:ext cx="434676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BE </a:t>
            </a:r>
            <a:endParaRPr lang="en-US" sz="1000"/>
          </a:p>
        </p:txBody>
      </p:sp>
      <p:sp>
        <p:nvSpPr>
          <p:cNvPr id="203" name="TextBox 202"/>
          <p:cNvSpPr txBox="1"/>
          <p:nvPr/>
        </p:nvSpPr>
        <p:spPr>
          <a:xfrm>
            <a:off x="3928728" y="1354058"/>
            <a:ext cx="335348" cy="24622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1000" b="1" kern="0">
                <a:solidFill>
                  <a:srgbClr val="0070C0"/>
                </a:solidFill>
                <a:latin typeface="Calibri" panose="020F0502020204030204"/>
              </a:rPr>
              <a:t>FE 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8A8C26-57EC-4B83-82F0-548F26CD0AC6}"/>
              </a:ext>
            </a:extLst>
          </p:cNvPr>
          <p:cNvCxnSpPr>
            <a:cxnSpLocks/>
            <a:stCxn id="1026" idx="3"/>
            <a:endCxn id="150" idx="1"/>
          </p:cNvCxnSpPr>
          <p:nvPr/>
        </p:nvCxnSpPr>
        <p:spPr>
          <a:xfrm>
            <a:off x="3014613" y="1641645"/>
            <a:ext cx="310250" cy="53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2" name="Picture 211">
            <a:extLst>
              <a:ext uri="{FF2B5EF4-FFF2-40B4-BE49-F238E27FC236}">
                <a16:creationId xmlns:a16="http://schemas.microsoft.com/office/drawing/2014/main" id="{D8EB11E5-10E6-4DA0-A5BB-3B8AE855E04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71" y="747115"/>
            <a:ext cx="314721" cy="314721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BDAE9265-83E5-4469-A984-66A65B7EBBBC}"/>
              </a:ext>
            </a:extLst>
          </p:cNvPr>
          <p:cNvCxnSpPr>
            <a:cxnSpLocks/>
            <a:stCxn id="124" idx="0"/>
            <a:endCxn id="15" idx="1"/>
          </p:cNvCxnSpPr>
          <p:nvPr/>
        </p:nvCxnSpPr>
        <p:spPr>
          <a:xfrm rot="5400000" flipH="1" flipV="1">
            <a:off x="2903646" y="3702612"/>
            <a:ext cx="800674" cy="12924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30AD9EA4-A3D5-44DC-959D-FCE5CE256501}"/>
              </a:ext>
            </a:extLst>
          </p:cNvPr>
          <p:cNvCxnSpPr>
            <a:cxnSpLocks/>
            <a:stCxn id="15" idx="3"/>
            <a:endCxn id="191" idx="1"/>
          </p:cNvCxnSpPr>
          <p:nvPr/>
        </p:nvCxnSpPr>
        <p:spPr>
          <a:xfrm>
            <a:off x="4431237" y="3948515"/>
            <a:ext cx="1158715" cy="14055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8747C7CD-0B3B-445A-8B27-038E2DABE80E}"/>
              </a:ext>
            </a:extLst>
          </p:cNvPr>
          <p:cNvCxnSpPr>
            <a:cxnSpLocks/>
            <a:stCxn id="191" idx="3"/>
            <a:endCxn id="322" idx="1"/>
          </p:cNvCxnSpPr>
          <p:nvPr/>
        </p:nvCxnSpPr>
        <p:spPr>
          <a:xfrm flipV="1">
            <a:off x="9317224" y="4107578"/>
            <a:ext cx="349610" cy="1246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52303EA-F9A4-47CF-88DC-10AA8D6A1838}"/>
              </a:ext>
            </a:extLst>
          </p:cNvPr>
          <p:cNvSpPr txBox="1"/>
          <p:nvPr/>
        </p:nvSpPr>
        <p:spPr>
          <a:xfrm>
            <a:off x="4974673" y="460735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4530F4E-5B90-4A32-A781-F0A6091C69C0}"/>
              </a:ext>
            </a:extLst>
          </p:cNvPr>
          <p:cNvSpPr txBox="1"/>
          <p:nvPr/>
        </p:nvSpPr>
        <p:spPr>
          <a:xfrm>
            <a:off x="7421152" y="390947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D2047-AF97-4C03-B25F-367A2EEE5BFE}"/>
              </a:ext>
            </a:extLst>
          </p:cNvPr>
          <p:cNvSpPr txBox="1"/>
          <p:nvPr/>
        </p:nvSpPr>
        <p:spPr>
          <a:xfrm>
            <a:off x="2324427" y="43003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A6553B-BE60-498B-88AC-5159A67F1F40}"/>
              </a:ext>
            </a:extLst>
          </p:cNvPr>
          <p:cNvSpPr txBox="1"/>
          <p:nvPr/>
        </p:nvSpPr>
        <p:spPr>
          <a:xfrm>
            <a:off x="2937203" y="1648082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27771" y="3393365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4808" y="145068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35E1FC10-CAC7-4EBC-9621-E5CE13C99610}"/>
              </a:ext>
            </a:extLst>
          </p:cNvPr>
          <p:cNvSpPr txBox="1"/>
          <p:nvPr/>
        </p:nvSpPr>
        <p:spPr>
          <a:xfrm>
            <a:off x="5622081" y="2916710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TLS/HTTPS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9C56C72-E93B-413D-ABC5-6B48C3943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958" y="5375267"/>
            <a:ext cx="504825" cy="5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07666EAA-DDAC-489A-9F24-45979668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929" y="5550960"/>
            <a:ext cx="476250" cy="47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3E22483-059E-4AB9-B06C-16FBF7EB7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248" y="5485653"/>
            <a:ext cx="487928" cy="48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" name="Rectangle 222">
            <a:extLst>
              <a:ext uri="{FF2B5EF4-FFF2-40B4-BE49-F238E27FC236}">
                <a16:creationId xmlns:a16="http://schemas.microsoft.com/office/drawing/2014/main" id="{1953DCA5-97B8-4743-B4F8-DDD9EB4C7249}"/>
              </a:ext>
            </a:extLst>
          </p:cNvPr>
          <p:cNvSpPr/>
          <p:nvPr/>
        </p:nvSpPr>
        <p:spPr>
          <a:xfrm>
            <a:off x="9967838" y="5289281"/>
            <a:ext cx="1466602" cy="849017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58E1292B-08FB-44DD-9ACC-9B37617CCC68}"/>
              </a:ext>
            </a:extLst>
          </p:cNvPr>
          <p:cNvCxnSpPr>
            <a:cxnSpLocks/>
            <a:stCxn id="223" idx="1"/>
          </p:cNvCxnSpPr>
          <p:nvPr/>
        </p:nvCxnSpPr>
        <p:spPr>
          <a:xfrm rot="10800000" flipV="1">
            <a:off x="9498326" y="5713789"/>
            <a:ext cx="469512" cy="43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F70954FD-5340-4532-A337-86A17DDFFC1A}"/>
              </a:ext>
            </a:extLst>
          </p:cNvPr>
          <p:cNvCxnSpPr>
            <a:cxnSpLocks/>
            <a:stCxn id="1028" idx="1"/>
            <a:endCxn id="282" idx="3"/>
          </p:cNvCxnSpPr>
          <p:nvPr/>
        </p:nvCxnSpPr>
        <p:spPr>
          <a:xfrm rot="10800000" flipV="1">
            <a:off x="7884232" y="5726364"/>
            <a:ext cx="1209017" cy="1210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A186B93A-971B-4A79-8556-0A23BEEC2DBA}"/>
              </a:ext>
            </a:extLst>
          </p:cNvPr>
          <p:cNvSpPr txBox="1"/>
          <p:nvPr/>
        </p:nvSpPr>
        <p:spPr>
          <a:xfrm>
            <a:off x="9077346" y="4263308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for service IDQS</a:t>
            </a:r>
            <a:endParaRPr lang="it-IT">
              <a:cs typeface="Arial"/>
            </a:endParaRPr>
          </a:p>
        </p:txBody>
      </p: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886FBCA8-3040-4489-ACA5-AFFA729CFE58}"/>
              </a:ext>
            </a:extLst>
          </p:cNvPr>
          <p:cNvCxnSpPr>
            <a:cxnSpLocks/>
            <a:stCxn id="207" idx="2"/>
            <a:endCxn id="322" idx="1"/>
          </p:cNvCxnSpPr>
          <p:nvPr/>
        </p:nvCxnSpPr>
        <p:spPr>
          <a:xfrm rot="16200000" flipH="1">
            <a:off x="8086132" y="2526875"/>
            <a:ext cx="129453" cy="3031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1EC58104-8881-4AF6-AE2D-6456A567EB46}"/>
              </a:ext>
            </a:extLst>
          </p:cNvPr>
          <p:cNvCxnSpPr>
            <a:cxnSpLocks/>
            <a:endCxn id="207" idx="1"/>
          </p:cNvCxnSpPr>
          <p:nvPr/>
        </p:nvCxnSpPr>
        <p:spPr>
          <a:xfrm rot="5400000" flipH="1" flipV="1">
            <a:off x="5785109" y="4058826"/>
            <a:ext cx="936401" cy="282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103B3EB-221A-4FA1-9033-FD93A5C739B2}"/>
              </a:ext>
            </a:extLst>
          </p:cNvPr>
          <p:cNvSpPr txBox="1"/>
          <p:nvPr/>
        </p:nvSpPr>
        <p:spPr>
          <a:xfrm>
            <a:off x="6820000" y="3583291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Synapse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C8FE5236-FCB5-4BEC-B304-F9664AC53FDB}"/>
              </a:ext>
            </a:extLst>
          </p:cNvPr>
          <p:cNvSpPr txBox="1"/>
          <p:nvPr/>
        </p:nvSpPr>
        <p:spPr>
          <a:xfrm>
            <a:off x="8518847" y="5543669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0FC14E3A-6605-5E2F-35EE-3DF479E83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202342-E83B-841E-8ED8-D48829FDCD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455" y="1406766"/>
            <a:ext cx="481013" cy="492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7478FD-A4E0-FCC8-0065-17B1B687B630}"/>
              </a:ext>
            </a:extLst>
          </p:cNvPr>
          <p:cNvSpPr txBox="1"/>
          <p:nvPr/>
        </p:nvSpPr>
        <p:spPr>
          <a:xfrm>
            <a:off x="9694184" y="185700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Synapse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(Spark)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AD95756-F804-41D9-ED5E-46414A260E02}"/>
              </a:ext>
            </a:extLst>
          </p:cNvPr>
          <p:cNvCxnSpPr>
            <a:cxnSpLocks/>
            <a:stCxn id="277" idx="3"/>
            <a:endCxn id="13" idx="1"/>
          </p:cNvCxnSpPr>
          <p:nvPr/>
        </p:nvCxnSpPr>
        <p:spPr>
          <a:xfrm flipV="1">
            <a:off x="7528848" y="2087836"/>
            <a:ext cx="2165336" cy="1633955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5D4AE96-34EA-92F6-E1E3-C1F10969184F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504" y="3977753"/>
            <a:ext cx="314721" cy="31472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EEEE255-8C00-8684-6F78-B45B368BA2D5}"/>
              </a:ext>
            </a:extLst>
          </p:cNvPr>
          <p:cNvSpPr txBox="1"/>
          <p:nvPr/>
        </p:nvSpPr>
        <p:spPr>
          <a:xfrm>
            <a:off x="8536101" y="3896267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it-IT"/>
              <a:t>PowerBi </a:t>
            </a:r>
          </a:p>
          <a:p>
            <a:r>
              <a:rPr lang="it-IT"/>
              <a:t>Gateway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2136AD-77D0-95D9-D1EC-7673D4178E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224" y="3702079"/>
            <a:ext cx="481013" cy="49287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8D419A-8B0B-1B60-BFAE-DF8B460D7972}"/>
              </a:ext>
            </a:extLst>
          </p:cNvPr>
          <p:cNvSpPr txBox="1"/>
          <p:nvPr/>
        </p:nvSpPr>
        <p:spPr>
          <a:xfrm>
            <a:off x="3644245" y="4196630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Synapse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(Data Factory)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9325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139"/>
          <p:cNvGrpSpPr/>
          <p:nvPr/>
        </p:nvGrpSpPr>
        <p:grpSpPr>
          <a:xfrm>
            <a:off x="309066" y="5159000"/>
            <a:ext cx="2277297" cy="1024064"/>
            <a:chOff x="300960" y="1004477"/>
            <a:chExt cx="2295850" cy="3824287"/>
          </a:xfrm>
        </p:grpSpPr>
        <p:sp>
          <p:nvSpPr>
            <p:cNvPr id="141" name="Rectangle 14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438282" y="3778149"/>
              <a:ext cx="1158528" cy="859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Sources (other)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284466" y="2530261"/>
            <a:ext cx="2268965" cy="2596623"/>
            <a:chOff x="300960" y="1004476"/>
            <a:chExt cx="2268965" cy="3824288"/>
          </a:xfrm>
        </p:grpSpPr>
        <p:sp>
          <p:nvSpPr>
            <p:cNvPr id="171" name="Rectangle 170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229994" y="1004476"/>
              <a:ext cx="1319593" cy="407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libri" panose="020F0502020204030204"/>
                </a:rPr>
                <a:t>Generali Network</a:t>
              </a:r>
            </a:p>
          </p:txBody>
        </p:sp>
      </p:grpSp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70" y="5663945"/>
            <a:ext cx="673135" cy="273064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41" y="5108156"/>
            <a:ext cx="367123" cy="367123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037768" y="7207892"/>
            <a:ext cx="453970" cy="215444"/>
          </a:xfrm>
          <a:prstGeom prst="rect">
            <a:avLst/>
          </a:prstGeom>
          <a:solidFill>
            <a:srgbClr val="F2F2F2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HTTPS</a:t>
            </a:r>
          </a:p>
        </p:txBody>
      </p:sp>
      <p:grpSp>
        <p:nvGrpSpPr>
          <p:cNvPr id="143" name="Group 142"/>
          <p:cNvGrpSpPr/>
          <p:nvPr/>
        </p:nvGrpSpPr>
        <p:grpSpPr>
          <a:xfrm>
            <a:off x="5400155" y="2491667"/>
            <a:ext cx="4015573" cy="3692635"/>
            <a:chOff x="300960" y="993148"/>
            <a:chExt cx="2268965" cy="3835616"/>
          </a:xfrm>
        </p:grpSpPr>
        <p:sp>
          <p:nvSpPr>
            <p:cNvPr id="144" name="Rectangle 14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74797" y="993148"/>
              <a:ext cx="5212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Store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060661" y="618966"/>
            <a:ext cx="8711129" cy="1820300"/>
            <a:chOff x="300960" y="888875"/>
            <a:chExt cx="3191750" cy="3939889"/>
          </a:xfrm>
        </p:grpSpPr>
        <p:sp>
          <p:nvSpPr>
            <p:cNvPr id="147" name="Rectangle 146"/>
            <p:cNvSpPr/>
            <p:nvPr/>
          </p:nvSpPr>
          <p:spPr>
            <a:xfrm>
              <a:off x="300960" y="1004477"/>
              <a:ext cx="3191750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84860" y="888875"/>
              <a:ext cx="335355" cy="8499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</a:t>
              </a: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3082959" y="2480760"/>
            <a:ext cx="2268965" cy="3692635"/>
            <a:chOff x="300960" y="993148"/>
            <a:chExt cx="2268965" cy="3835616"/>
          </a:xfrm>
        </p:grpSpPr>
        <p:sp>
          <p:nvSpPr>
            <p:cNvPr id="174" name="Rectangle 173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17330" y="993148"/>
              <a:ext cx="1236237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Ingest &amp; Process</a:t>
              </a: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2927899" y="582837"/>
            <a:ext cx="8926923" cy="5725515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8635560" y="420698"/>
            <a:ext cx="138307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Azure Subscription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5589952" y="4656251"/>
            <a:ext cx="4323542" cy="1391347"/>
            <a:chOff x="7781676" y="3376757"/>
            <a:chExt cx="2226404" cy="1009001"/>
          </a:xfrm>
        </p:grpSpPr>
        <p:sp>
          <p:nvSpPr>
            <p:cNvPr id="191" name="Rectangle 190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8670853" y="3376758"/>
              <a:ext cx="1337226" cy="1777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Lake Storage</a:t>
              </a:r>
            </a:p>
          </p:txBody>
        </p:sp>
      </p:grpSp>
      <p:sp>
        <p:nvSpPr>
          <p:cNvPr id="197" name="Rectangle 196"/>
          <p:cNvSpPr/>
          <p:nvPr/>
        </p:nvSpPr>
        <p:spPr>
          <a:xfrm>
            <a:off x="9501670" y="2505162"/>
            <a:ext cx="2268965" cy="36817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299135" y="2527678"/>
            <a:ext cx="668837" cy="266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Present</a:t>
            </a:r>
          </a:p>
        </p:txBody>
      </p:sp>
      <p:grpSp>
        <p:nvGrpSpPr>
          <p:cNvPr id="184" name="Group 183"/>
          <p:cNvGrpSpPr/>
          <p:nvPr/>
        </p:nvGrpSpPr>
        <p:grpSpPr>
          <a:xfrm>
            <a:off x="5589951" y="3014519"/>
            <a:ext cx="3727271" cy="1491433"/>
            <a:chOff x="7781675" y="3379918"/>
            <a:chExt cx="3727271" cy="1455552"/>
          </a:xfrm>
        </p:grpSpPr>
        <p:sp>
          <p:nvSpPr>
            <p:cNvPr id="186" name="TextBox 185"/>
            <p:cNvSpPr txBox="1"/>
            <p:nvPr/>
          </p:nvSpPr>
          <p:spPr>
            <a:xfrm>
              <a:off x="8114487" y="3396021"/>
              <a:ext cx="12537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Certified Storage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7781675" y="3379918"/>
              <a:ext cx="3727271" cy="1455552"/>
            </a:xfrm>
            <a:prstGeom prst="rect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6499895" y="922582"/>
            <a:ext cx="5186705" cy="1449857"/>
            <a:chOff x="7781676" y="3379918"/>
            <a:chExt cx="1919356" cy="1005840"/>
          </a:xfrm>
        </p:grpSpPr>
        <p:sp>
          <p:nvSpPr>
            <p:cNvPr id="200" name="Rectangle 199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651197" y="3396021"/>
              <a:ext cx="180342" cy="2070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8200825" y="1677953"/>
            <a:ext cx="1551419" cy="576183"/>
            <a:chOff x="7781676" y="3379918"/>
            <a:chExt cx="1919356" cy="1005840"/>
          </a:xfrm>
        </p:grpSpPr>
        <p:sp>
          <p:nvSpPr>
            <p:cNvPr id="169" name="Rectangle 168"/>
            <p:cNvSpPr/>
            <p:nvPr/>
          </p:nvSpPr>
          <p:spPr>
            <a:xfrm>
              <a:off x="7781676" y="3379918"/>
              <a:ext cx="1919356" cy="1005840"/>
            </a:xfrm>
            <a:prstGeom prst="rect">
              <a:avLst/>
            </a:prstGeom>
            <a:noFill/>
            <a:ln w="635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072247" y="3454878"/>
              <a:ext cx="1190302" cy="805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Informatica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>
                  <a:latin typeface="Calibri" panose="020F0502020204030204"/>
                </a:rPr>
                <a:t>Axon</a:t>
              </a:r>
              <a:endPara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74" name="Rectangle 273"/>
          <p:cNvSpPr/>
          <p:nvPr/>
        </p:nvSpPr>
        <p:spPr>
          <a:xfrm>
            <a:off x="2617648" y="230999"/>
            <a:ext cx="9378728" cy="6214633"/>
          </a:xfrm>
          <a:prstGeom prst="rect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153105" y="75391"/>
            <a:ext cx="1975221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        Azure Active Directory*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01" y="28721"/>
            <a:ext cx="357249" cy="357249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181" y="4749189"/>
            <a:ext cx="367123" cy="367123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9" y="2285252"/>
            <a:ext cx="476255" cy="476255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94" y="3434738"/>
            <a:ext cx="476250" cy="476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A57A1D-C912-43FE-8637-2A3A810499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37" y="1276211"/>
            <a:ext cx="693520" cy="693520"/>
          </a:xfrm>
          <a:prstGeom prst="rect">
            <a:avLst/>
          </a:prstGeom>
        </p:spPr>
      </p:pic>
      <p:pic>
        <p:nvPicPr>
          <p:cNvPr id="1026" name="Picture 2" descr="Risultato immagini per icon azure application gateway">
            <a:extLst>
              <a:ext uri="{FF2B5EF4-FFF2-40B4-BE49-F238E27FC236}">
                <a16:creationId xmlns:a16="http://schemas.microsoft.com/office/drawing/2014/main" id="{9821D210-79E3-4ED1-ABEE-5469951D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088" y="1404882"/>
            <a:ext cx="473525" cy="47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6C3F24-9FF6-4EE2-A765-F65373BDED5D}"/>
              </a:ext>
            </a:extLst>
          </p:cNvPr>
          <p:cNvCxnSpPr>
            <a:cxnSpLocks/>
            <a:stCxn id="6" idx="2"/>
            <a:endCxn id="116" idx="0"/>
          </p:cNvCxnSpPr>
          <p:nvPr/>
        </p:nvCxnSpPr>
        <p:spPr>
          <a:xfrm flipH="1">
            <a:off x="743527" y="1969731"/>
            <a:ext cx="19670" cy="31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D4932-D4F9-41E0-BA90-FA13205912A4}"/>
              </a:ext>
            </a:extLst>
          </p:cNvPr>
          <p:cNvCxnSpPr>
            <a:cxnSpLocks/>
            <a:stCxn id="6" idx="3"/>
            <a:endCxn id="1026" idx="1"/>
          </p:cNvCxnSpPr>
          <p:nvPr/>
        </p:nvCxnSpPr>
        <p:spPr>
          <a:xfrm>
            <a:off x="1109957" y="1622971"/>
            <a:ext cx="1431131" cy="186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57A1F2D-F598-42F6-97E0-EB8FEA789FB8}"/>
              </a:ext>
            </a:extLst>
          </p:cNvPr>
          <p:cNvCxnSpPr>
            <a:stCxn id="1026" idx="0"/>
            <a:endCxn id="200" idx="0"/>
          </p:cNvCxnSpPr>
          <p:nvPr/>
        </p:nvCxnSpPr>
        <p:spPr>
          <a:xfrm rot="5400000" flipH="1" flipV="1">
            <a:off x="5694399" y="-1993966"/>
            <a:ext cx="482300" cy="6315397"/>
          </a:xfrm>
          <a:prstGeom prst="bentConnector3">
            <a:avLst>
              <a:gd name="adj1" fmla="val 14739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F60957F-A1C0-436A-8CE3-1AFE59A5171A}"/>
              </a:ext>
            </a:extLst>
          </p:cNvPr>
          <p:cNvCxnSpPr>
            <a:cxnSpLocks/>
            <a:stCxn id="250" idx="0"/>
          </p:cNvCxnSpPr>
          <p:nvPr/>
        </p:nvCxnSpPr>
        <p:spPr>
          <a:xfrm rot="5400000" flipH="1" flipV="1">
            <a:off x="1897139" y="4550114"/>
            <a:ext cx="90007" cy="10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0EEEDF18-B1B9-4C1E-A651-8FDC0A0B66F3}"/>
              </a:ext>
            </a:extLst>
          </p:cNvPr>
          <p:cNvSpPr txBox="1"/>
          <p:nvPr/>
        </p:nvSpPr>
        <p:spPr>
          <a:xfrm>
            <a:off x="1765990" y="4639092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HTTPS/TLS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3B7EB6-5429-48B7-83A0-658EE1FD15D5}"/>
              </a:ext>
            </a:extLst>
          </p:cNvPr>
          <p:cNvSpPr txBox="1"/>
          <p:nvPr/>
        </p:nvSpPr>
        <p:spPr>
          <a:xfrm>
            <a:off x="774248" y="2039272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SFTP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A99E9D6A-7C1D-4AEC-8DAB-031E2304243C}"/>
              </a:ext>
            </a:extLst>
          </p:cNvPr>
          <p:cNvCxnSpPr>
            <a:stCxn id="116" idx="2"/>
            <a:endCxn id="124" idx="1"/>
          </p:cNvCxnSpPr>
          <p:nvPr/>
        </p:nvCxnSpPr>
        <p:spPr>
          <a:xfrm rot="16200000" flipH="1">
            <a:off x="523232" y="2981802"/>
            <a:ext cx="2171244" cy="17306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70F43209-1C8A-4511-AB68-7FA37730208F}"/>
              </a:ext>
            </a:extLst>
          </p:cNvPr>
          <p:cNvSpPr txBox="1"/>
          <p:nvPr/>
        </p:nvSpPr>
        <p:spPr>
          <a:xfrm>
            <a:off x="5255260" y="523075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D86A9C95-0888-4FAD-AF63-6798C1E4746D}"/>
              </a:ext>
            </a:extLst>
          </p:cNvPr>
          <p:cNvSpPr txBox="1"/>
          <p:nvPr/>
        </p:nvSpPr>
        <p:spPr>
          <a:xfrm>
            <a:off x="3477724" y="2853204"/>
            <a:ext cx="1470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Engine Process</a:t>
            </a:r>
          </a:p>
        </p:txBody>
      </p: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238A574A-4AC4-41AD-95A1-3721520E5F46}"/>
              </a:ext>
            </a:extLst>
          </p:cNvPr>
          <p:cNvCxnSpPr>
            <a:cxnSpLocks/>
            <a:stCxn id="128" idx="2"/>
          </p:cNvCxnSpPr>
          <p:nvPr/>
        </p:nvCxnSpPr>
        <p:spPr>
          <a:xfrm rot="16200000" flipH="1">
            <a:off x="1385067" y="3744440"/>
            <a:ext cx="916302" cy="12493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Open folder">
            <a:extLst>
              <a:ext uri="{FF2B5EF4-FFF2-40B4-BE49-F238E27FC236}">
                <a16:creationId xmlns:a16="http://schemas.microsoft.com/office/drawing/2014/main" id="{10DDD6A5-9E71-4740-92F6-32E985D1B98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7771" y="3371900"/>
            <a:ext cx="614794" cy="614794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2E9E8A96-4711-4CFD-AB67-EA0FC29F17DD}"/>
              </a:ext>
            </a:extLst>
          </p:cNvPr>
          <p:cNvSpPr/>
          <p:nvPr/>
        </p:nvSpPr>
        <p:spPr>
          <a:xfrm>
            <a:off x="980394" y="3298730"/>
            <a:ext cx="1165182" cy="70942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253635" y="3126626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ON PREM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1F313D5-76AB-430B-9574-C1DC3B104BE4}"/>
              </a:ext>
            </a:extLst>
          </p:cNvPr>
          <p:cNvSpPr txBox="1"/>
          <p:nvPr/>
        </p:nvSpPr>
        <p:spPr>
          <a:xfrm>
            <a:off x="281650" y="98967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Internet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D546FCD-02B9-44BC-82B3-F6D46F659F55}"/>
              </a:ext>
            </a:extLst>
          </p:cNvPr>
          <p:cNvSpPr txBox="1"/>
          <p:nvPr/>
        </p:nvSpPr>
        <p:spPr>
          <a:xfrm>
            <a:off x="1647595" y="1216621"/>
            <a:ext cx="4764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HTTPS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8D95C93-EA82-44B6-90D3-01BFEEAFE328}"/>
              </a:ext>
            </a:extLst>
          </p:cNvPr>
          <p:cNvSpPr txBox="1"/>
          <p:nvPr/>
        </p:nvSpPr>
        <p:spPr>
          <a:xfrm>
            <a:off x="2569724" y="1847020"/>
            <a:ext cx="3882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/>
              <a:t>WAF</a:t>
            </a:r>
          </a:p>
        </p:txBody>
      </p:sp>
      <p:pic>
        <p:nvPicPr>
          <p:cNvPr id="3" name="Picture 2" descr="cpas.generali.com">
            <a:extLst>
              <a:ext uri="{FF2B5EF4-FFF2-40B4-BE49-F238E27FC236}">
                <a16:creationId xmlns:a16="http://schemas.microsoft.com/office/drawing/2014/main" id="{E77F1397-BFA9-476E-8861-7166EA2A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262" y="2793623"/>
            <a:ext cx="479805" cy="38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821465-EBD3-477F-A2E0-0C98D817025E}"/>
              </a:ext>
            </a:extLst>
          </p:cNvPr>
          <p:cNvSpPr txBox="1"/>
          <p:nvPr/>
        </p:nvSpPr>
        <p:spPr>
          <a:xfrm>
            <a:off x="666966" y="6595930"/>
            <a:ext cx="3147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* Azure Active Directory managed by GOSP </a:t>
            </a:r>
            <a:r>
              <a:rPr lang="en-US" sz="900" err="1"/>
              <a:t>Infrastrucutre</a:t>
            </a:r>
            <a:endParaRPr lang="en-US" sz="9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408556-2393-4E7C-96AB-C88E68568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162104"/>
            <a:ext cx="11182248" cy="425095"/>
          </a:xfrm>
        </p:spPr>
        <p:txBody>
          <a:bodyPr/>
          <a:lstStyle/>
          <a:p>
            <a:r>
              <a:rPr lang="it-IT"/>
              <a:t>Architecture view per ECDM</a:t>
            </a:r>
            <a:endParaRPr lang="it-IT">
              <a:cs typeface="Arial"/>
            </a:endParaRPr>
          </a:p>
        </p:txBody>
      </p:sp>
      <p:pic>
        <p:nvPicPr>
          <p:cNvPr id="245" name="Picture 244">
            <a:extLst>
              <a:ext uri="{FF2B5EF4-FFF2-40B4-BE49-F238E27FC236}">
                <a16:creationId xmlns:a16="http://schemas.microsoft.com/office/drawing/2014/main" id="{B2965542-DCD9-4633-B08C-158DE9952F3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58" y="1566139"/>
            <a:ext cx="314721" cy="314721"/>
          </a:xfrm>
          <a:prstGeom prst="rect">
            <a:avLst/>
          </a:prstGeom>
        </p:spPr>
      </p:pic>
      <p:pic>
        <p:nvPicPr>
          <p:cNvPr id="166" name="Picture 16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071" y="1969731"/>
            <a:ext cx="304729" cy="304729"/>
          </a:xfrm>
          <a:prstGeom prst="rect">
            <a:avLst/>
          </a:prstGeom>
        </p:spPr>
      </p:pic>
      <p:sp>
        <p:nvSpPr>
          <p:cNvPr id="251" name="TextBox 250">
            <a:extLst>
              <a:ext uri="{FF2B5EF4-FFF2-40B4-BE49-F238E27FC236}">
                <a16:creationId xmlns:a16="http://schemas.microsoft.com/office/drawing/2014/main" id="{92CEB5A4-205A-4A6E-9863-8EFA35D900F5}"/>
              </a:ext>
            </a:extLst>
          </p:cNvPr>
          <p:cNvSpPr txBox="1"/>
          <p:nvPr/>
        </p:nvSpPr>
        <p:spPr>
          <a:xfrm>
            <a:off x="8240422" y="1068336"/>
            <a:ext cx="19351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Quality &amp; Governance</a:t>
            </a:r>
          </a:p>
        </p:txBody>
      </p:sp>
      <p:pic>
        <p:nvPicPr>
          <p:cNvPr id="5" name="Picture 2" descr="Imperva Logo">
            <a:extLst>
              <a:ext uri="{FF2B5EF4-FFF2-40B4-BE49-F238E27FC236}">
                <a16:creationId xmlns:a16="http://schemas.microsoft.com/office/drawing/2014/main" id="{CDD6FB9D-3157-D2AE-6592-305D28054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94" y="1351206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404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04876" y="260241"/>
            <a:ext cx="11182248" cy="425095"/>
          </a:xfrm>
        </p:spPr>
        <p:txBody>
          <a:bodyPr/>
          <a:lstStyle/>
          <a:p>
            <a:r>
              <a:rPr lang="it-IT"/>
              <a:t>Subnet segregation and type of resources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4005E73-8A5F-4914-8556-7F2AF1C42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3164" y="2258527"/>
            <a:ext cx="468783" cy="46878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6F15C0E-310D-49B2-8B28-84F964232C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4499" y="2197752"/>
            <a:ext cx="443791" cy="44379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3AE3AD8-CA07-4DF9-9782-F97C0F0A58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0322" y="3301447"/>
            <a:ext cx="390417" cy="3904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BB4F4A-379D-490D-955F-97F5F3FB76E4}"/>
              </a:ext>
            </a:extLst>
          </p:cNvPr>
          <p:cNvSpPr/>
          <p:nvPr/>
        </p:nvSpPr>
        <p:spPr>
          <a:xfrm>
            <a:off x="1030481" y="1781655"/>
            <a:ext cx="2233334" cy="35449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60DB95-7FF7-4562-AE98-8671975FB0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5042" y="1626373"/>
            <a:ext cx="310565" cy="3105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360D8A-083E-4535-A365-182434680597}"/>
              </a:ext>
            </a:extLst>
          </p:cNvPr>
          <p:cNvSpPr/>
          <p:nvPr/>
        </p:nvSpPr>
        <p:spPr>
          <a:xfrm>
            <a:off x="654341" y="1239562"/>
            <a:ext cx="10950390" cy="47082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39A066-7FEC-4D6A-A627-B54126DED7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876" y="1079348"/>
            <a:ext cx="310565" cy="310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827306-B7CF-400F-866A-596A1834AA85}"/>
              </a:ext>
            </a:extLst>
          </p:cNvPr>
          <p:cNvSpPr txBox="1"/>
          <p:nvPr/>
        </p:nvSpPr>
        <p:spPr>
          <a:xfrm>
            <a:off x="946157" y="1436987"/>
            <a:ext cx="2008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Infra3 10.200.44.64/27 (non production)</a:t>
            </a:r>
            <a:endParaRPr lang="it-IT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4070E0-57E0-43FA-91F5-9DF8A119AD71}"/>
              </a:ext>
            </a:extLst>
          </p:cNvPr>
          <p:cNvSpPr txBox="1"/>
          <p:nvPr/>
        </p:nvSpPr>
        <p:spPr>
          <a:xfrm>
            <a:off x="669479" y="944011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B02ADB-8C94-407A-80CC-1902450B5D88}"/>
              </a:ext>
            </a:extLst>
          </p:cNvPr>
          <p:cNvSpPr/>
          <p:nvPr/>
        </p:nvSpPr>
        <p:spPr>
          <a:xfrm>
            <a:off x="8078311" y="1626794"/>
            <a:ext cx="3083208" cy="15962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94210D6-9AE1-4918-B509-A7C418A549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46774" y="1471511"/>
            <a:ext cx="322060" cy="3220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4ADD29-B3FE-42F3-B3D9-A6029F7F9D3F}"/>
              </a:ext>
            </a:extLst>
          </p:cNvPr>
          <p:cNvSpPr txBox="1"/>
          <p:nvPr/>
        </p:nvSpPr>
        <p:spPr>
          <a:xfrm>
            <a:off x="7924964" y="1295376"/>
            <a:ext cx="18278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err="1"/>
              <a:t>appgwghosn</a:t>
            </a:r>
            <a:r>
              <a:rPr lang="en-US" sz="800"/>
              <a:t> 10.200.45.0/24</a:t>
            </a:r>
            <a:endParaRPr lang="it-IT" sz="80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2FF9AAAA-7C8E-41FC-A172-143D8E3B14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93198" y="2199363"/>
            <a:ext cx="443791" cy="44379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AF2DE10B-D80D-4F2E-AF83-7183A7FD47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9884" y="3315319"/>
            <a:ext cx="390417" cy="3904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4AD495C-A1A5-47A2-BB03-B64C1D7952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671" y="4103263"/>
            <a:ext cx="390417" cy="3904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3D6A9E-56B1-4905-BB5F-6F8A3B0F85C1}"/>
              </a:ext>
            </a:extLst>
          </p:cNvPr>
          <p:cNvSpPr txBox="1"/>
          <p:nvPr/>
        </p:nvSpPr>
        <p:spPr>
          <a:xfrm>
            <a:off x="1149211" y="3681815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dei</a:t>
            </a:r>
            <a:r>
              <a:rPr lang="en-US" sz="900"/>
              <a:t> + </a:t>
            </a:r>
            <a:r>
              <a:rPr lang="en-US" sz="900" err="1"/>
              <a:t>deq</a:t>
            </a:r>
            <a:endParaRPr lang="it-IT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964228-CAC8-4235-8FBE-A88BD2D8A974}"/>
              </a:ext>
            </a:extLst>
          </p:cNvPr>
          <p:cNvSpPr txBox="1"/>
          <p:nvPr/>
        </p:nvSpPr>
        <p:spPr>
          <a:xfrm>
            <a:off x="1985370" y="3690853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axon</a:t>
            </a:r>
            <a:endParaRPr lang="it-IT" sz="9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CE991A-C976-4AEB-BF0B-308D629963A1}"/>
              </a:ext>
            </a:extLst>
          </p:cNvPr>
          <p:cNvSpPr txBox="1"/>
          <p:nvPr/>
        </p:nvSpPr>
        <p:spPr>
          <a:xfrm>
            <a:off x="1280322" y="4470241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edc</a:t>
            </a:r>
            <a:endParaRPr lang="it-IT" sz="90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11EC557A-4A96-450C-B07F-B59DEFF8E8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94466" y="5208791"/>
            <a:ext cx="344400" cy="344400"/>
          </a:xfrm>
          <a:prstGeom prst="rect">
            <a:avLst/>
          </a:prstGeom>
        </p:spPr>
      </p:pic>
      <p:pic>
        <p:nvPicPr>
          <p:cNvPr id="354" name="Graphic 353">
            <a:extLst>
              <a:ext uri="{FF2B5EF4-FFF2-40B4-BE49-F238E27FC236}">
                <a16:creationId xmlns:a16="http://schemas.microsoft.com/office/drawing/2014/main" id="{164D7A21-EF72-4AC0-A616-82471B5C20B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00419" y="2197752"/>
            <a:ext cx="443791" cy="44379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F8092C8-C841-4040-8703-A8ACB9B8F79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880" y="4193268"/>
            <a:ext cx="345248" cy="37682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5A905FF-A97F-4E31-9A26-2F1B0DC5E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5074" y="4103263"/>
            <a:ext cx="390417" cy="39041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8B6A92B-B05A-4A77-AE40-82A4DBA4E414}"/>
              </a:ext>
            </a:extLst>
          </p:cNvPr>
          <p:cNvSpPr txBox="1"/>
          <p:nvPr/>
        </p:nvSpPr>
        <p:spPr>
          <a:xfrm>
            <a:off x="1986410" y="4464083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mdm</a:t>
            </a:r>
            <a:endParaRPr lang="it-IT" sz="900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B2E4E504-DA91-4CAE-ACE4-9FDB2D0446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05070" y="3315319"/>
            <a:ext cx="390417" cy="39041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C36CDFD-4A8E-4109-BBFB-9BE9A65F4C34}"/>
              </a:ext>
            </a:extLst>
          </p:cNvPr>
          <p:cNvSpPr txBox="1"/>
          <p:nvPr/>
        </p:nvSpPr>
        <p:spPr>
          <a:xfrm>
            <a:off x="2702154" y="3690853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sftp</a:t>
            </a:r>
            <a:endParaRPr lang="it-IT" sz="90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18DF26D-4C3A-47AC-ACCA-7DB3ED23D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05070" y="4103263"/>
            <a:ext cx="390417" cy="39041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11319B6-85CF-4BE9-9DB2-DD6827610871}"/>
              </a:ext>
            </a:extLst>
          </p:cNvPr>
          <p:cNvSpPr txBox="1"/>
          <p:nvPr/>
        </p:nvSpPr>
        <p:spPr>
          <a:xfrm>
            <a:off x="2654473" y="4471516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portal</a:t>
            </a:r>
            <a:endParaRPr lang="it-IT" sz="900"/>
          </a:p>
        </p:txBody>
      </p:sp>
      <p:pic>
        <p:nvPicPr>
          <p:cNvPr id="356" name="Graphic 355">
            <a:extLst>
              <a:ext uri="{FF2B5EF4-FFF2-40B4-BE49-F238E27FC236}">
                <a16:creationId xmlns:a16="http://schemas.microsoft.com/office/drawing/2014/main" id="{8E2B56F6-998B-44FE-86F5-39F2B43E28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27315" y="2718603"/>
            <a:ext cx="443790" cy="443790"/>
          </a:xfrm>
          <a:prstGeom prst="rect">
            <a:avLst/>
          </a:prstGeom>
        </p:spPr>
      </p:pic>
      <p:pic>
        <p:nvPicPr>
          <p:cNvPr id="358" name="Graphic 357">
            <a:extLst>
              <a:ext uri="{FF2B5EF4-FFF2-40B4-BE49-F238E27FC236}">
                <a16:creationId xmlns:a16="http://schemas.microsoft.com/office/drawing/2014/main" id="{A70A3CB6-5B11-42D9-B47D-8A1F0AF24FD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10919" y="2736184"/>
            <a:ext cx="398725" cy="398725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1D1A075-849C-434A-A4FA-1BC0D9D78E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671" y="4750739"/>
            <a:ext cx="390417" cy="39041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CDEA93A-632F-44AB-93B6-6E284717D946}"/>
              </a:ext>
            </a:extLst>
          </p:cNvPr>
          <p:cNvSpPr txBox="1"/>
          <p:nvPr/>
        </p:nvSpPr>
        <p:spPr>
          <a:xfrm>
            <a:off x="1061490" y="5108957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Dev machines</a:t>
            </a:r>
            <a:endParaRPr lang="it-IT" sz="90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4642C4CC-F656-4741-A131-76387B5743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37468" y="4747446"/>
            <a:ext cx="390417" cy="39041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7D77F54-4338-49CD-9E86-EFD084167355}"/>
              </a:ext>
            </a:extLst>
          </p:cNvPr>
          <p:cNvSpPr txBox="1"/>
          <p:nvPr/>
        </p:nvSpPr>
        <p:spPr>
          <a:xfrm>
            <a:off x="1854254" y="5108094"/>
            <a:ext cx="8002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gateway </a:t>
            </a:r>
            <a:r>
              <a:rPr lang="en-US" sz="900" err="1"/>
              <a:t>pbi</a:t>
            </a:r>
            <a:endParaRPr lang="it-IT" sz="900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514B1FDB-3D68-4074-8469-6B453BF5A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7674" y="2185394"/>
            <a:ext cx="443791" cy="443791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DEED08B3-8AF3-430A-ACC5-AD19C6B6DA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3497" y="3289089"/>
            <a:ext cx="390417" cy="390417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B5D9562-979A-4115-A3EC-91CC927D223A}"/>
              </a:ext>
            </a:extLst>
          </p:cNvPr>
          <p:cNvSpPr/>
          <p:nvPr/>
        </p:nvSpPr>
        <p:spPr>
          <a:xfrm>
            <a:off x="3513656" y="1769297"/>
            <a:ext cx="2233334" cy="354493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DE7883BC-486D-42D2-802B-33179F854E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8217" y="1614015"/>
            <a:ext cx="310565" cy="31056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AFB9A92-8355-43AD-9B03-4B4DB4F0A178}"/>
              </a:ext>
            </a:extLst>
          </p:cNvPr>
          <p:cNvSpPr txBox="1"/>
          <p:nvPr/>
        </p:nvSpPr>
        <p:spPr>
          <a:xfrm>
            <a:off x="3467802" y="1445295"/>
            <a:ext cx="18646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Infra5 10.200.44.128/27 (production)</a:t>
            </a:r>
            <a:endParaRPr lang="it-IT" sz="8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80327874-91D9-4192-9A13-5CDD71E1D3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76373" y="2187005"/>
            <a:ext cx="443791" cy="443791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A136DF70-D984-4BDD-8900-CDD80B99D1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3059" y="3302961"/>
            <a:ext cx="390417" cy="390417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9FAA107-A13D-4084-A0CD-6C50A4113A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4846" y="4090905"/>
            <a:ext cx="390417" cy="39041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CD50EC5-61F3-4770-898F-186EEA8D5354}"/>
              </a:ext>
            </a:extLst>
          </p:cNvPr>
          <p:cNvSpPr txBox="1"/>
          <p:nvPr/>
        </p:nvSpPr>
        <p:spPr>
          <a:xfrm>
            <a:off x="3632386" y="3669457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dei</a:t>
            </a:r>
            <a:r>
              <a:rPr lang="en-US" sz="900"/>
              <a:t> + </a:t>
            </a:r>
            <a:r>
              <a:rPr lang="en-US" sz="900" err="1"/>
              <a:t>deq</a:t>
            </a:r>
            <a:endParaRPr lang="it-IT" sz="9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6D130F-0A5C-4E8E-AAEB-042DD1B8E825}"/>
              </a:ext>
            </a:extLst>
          </p:cNvPr>
          <p:cNvSpPr txBox="1"/>
          <p:nvPr/>
        </p:nvSpPr>
        <p:spPr>
          <a:xfrm>
            <a:off x="4468545" y="3678495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axon</a:t>
            </a:r>
            <a:endParaRPr lang="it-IT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B23B54-D432-490A-9EB9-80DDED30993C}"/>
              </a:ext>
            </a:extLst>
          </p:cNvPr>
          <p:cNvSpPr txBox="1"/>
          <p:nvPr/>
        </p:nvSpPr>
        <p:spPr>
          <a:xfrm>
            <a:off x="3763497" y="4457883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edc</a:t>
            </a:r>
            <a:endParaRPr lang="it-IT" sz="900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8E82C460-D104-4FB5-AC29-D4A394CEED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83594" y="2185394"/>
            <a:ext cx="443791" cy="44379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A2A160F-AB2A-4674-AAB3-2BB49B234A2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55" y="4180910"/>
            <a:ext cx="345248" cy="376826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29A18874-C29F-4D0B-B21E-3FCFCEC320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8249" y="4090905"/>
            <a:ext cx="390417" cy="39041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9BD0476-DE3E-40F6-814C-2C555480C08C}"/>
              </a:ext>
            </a:extLst>
          </p:cNvPr>
          <p:cNvSpPr txBox="1"/>
          <p:nvPr/>
        </p:nvSpPr>
        <p:spPr>
          <a:xfrm>
            <a:off x="4469585" y="4451725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mdm</a:t>
            </a:r>
            <a:endParaRPr lang="it-IT" sz="900"/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66CD6C9D-FCFD-472E-8E12-3DF06547EE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8245" y="3302961"/>
            <a:ext cx="390417" cy="39041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EE1361A-6756-4E72-9D28-CF88163DD186}"/>
              </a:ext>
            </a:extLst>
          </p:cNvPr>
          <p:cNvSpPr txBox="1"/>
          <p:nvPr/>
        </p:nvSpPr>
        <p:spPr>
          <a:xfrm>
            <a:off x="5185329" y="3678495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sftp</a:t>
            </a:r>
            <a:endParaRPr lang="it-IT" sz="9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C3885289-E4DB-4B31-B0FE-DE1F67B3FC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8245" y="4090905"/>
            <a:ext cx="390417" cy="390417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60345E92-2E85-4CB4-BDD8-21F099707D35}"/>
              </a:ext>
            </a:extLst>
          </p:cNvPr>
          <p:cNvSpPr txBox="1"/>
          <p:nvPr/>
        </p:nvSpPr>
        <p:spPr>
          <a:xfrm>
            <a:off x="5137648" y="445915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portal</a:t>
            </a:r>
            <a:endParaRPr lang="it-IT" sz="900"/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C3FFA0DD-5A3C-450A-89BF-A74FA4D2624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10490" y="2706245"/>
            <a:ext cx="443790" cy="44379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0C248F69-E7AE-45C0-AE56-998D9757988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94094" y="2723826"/>
            <a:ext cx="398725" cy="398725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C6EFD16-D505-4CCE-AA72-42A086B464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0643" y="4735088"/>
            <a:ext cx="390417" cy="39041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26E5928C-6745-4F8E-B123-0E27D4552847}"/>
              </a:ext>
            </a:extLst>
          </p:cNvPr>
          <p:cNvSpPr txBox="1"/>
          <p:nvPr/>
        </p:nvSpPr>
        <p:spPr>
          <a:xfrm>
            <a:off x="4337429" y="5095736"/>
            <a:ext cx="8002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gateway </a:t>
            </a:r>
            <a:r>
              <a:rPr lang="en-US" sz="900" err="1"/>
              <a:t>pbi</a:t>
            </a:r>
            <a:endParaRPr lang="it-IT" sz="9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B12E3AB-ACD3-4B17-BA34-2540BA54516A}"/>
              </a:ext>
            </a:extLst>
          </p:cNvPr>
          <p:cNvSpPr/>
          <p:nvPr/>
        </p:nvSpPr>
        <p:spPr>
          <a:xfrm>
            <a:off x="8204584" y="4934793"/>
            <a:ext cx="928911" cy="8377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8527BFF6-11D3-4688-BE61-B60AD2A1EF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56101" y="4785270"/>
            <a:ext cx="310565" cy="310565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5E6A4234-23B8-41A8-B723-054DBD6E0E70}"/>
              </a:ext>
            </a:extLst>
          </p:cNvPr>
          <p:cNvSpPr txBox="1"/>
          <p:nvPr/>
        </p:nvSpPr>
        <p:spPr>
          <a:xfrm>
            <a:off x="7720784" y="4637495"/>
            <a:ext cx="18582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sn_dbksada_cert_priv</a:t>
            </a:r>
            <a:r>
              <a:rPr lang="en-US" sz="800"/>
              <a:t> 10.206.5.0/26</a:t>
            </a:r>
            <a:endParaRPr lang="it-IT" sz="80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4A48B3D4-1164-4361-8FE1-C4262003B7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51882" y="5200867"/>
            <a:ext cx="344400" cy="344400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60C97A0A-C7A3-4805-9F70-C29A12434FC9}"/>
              </a:ext>
            </a:extLst>
          </p:cNvPr>
          <p:cNvSpPr/>
          <p:nvPr/>
        </p:nvSpPr>
        <p:spPr>
          <a:xfrm>
            <a:off x="9962000" y="4926869"/>
            <a:ext cx="928911" cy="8377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D39BA7C9-C2FB-4B7F-8467-7AF098441B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13517" y="4777346"/>
            <a:ext cx="310565" cy="310565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39B4CEBA-9CCA-4D82-B3EA-ABC1B2EBFB86}"/>
              </a:ext>
            </a:extLst>
          </p:cNvPr>
          <p:cNvSpPr txBox="1"/>
          <p:nvPr/>
        </p:nvSpPr>
        <p:spPr>
          <a:xfrm>
            <a:off x="9537527" y="4626419"/>
            <a:ext cx="19239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sn_dbksada_cert_pub</a:t>
            </a:r>
            <a:r>
              <a:rPr lang="en-US" sz="800"/>
              <a:t> 10.206.5.64/26</a:t>
            </a:r>
            <a:endParaRPr lang="it-IT" sz="800"/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384BD8B5-9C79-4162-B4EA-7F1DFD0EBE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97771" y="4009066"/>
            <a:ext cx="344400" cy="34440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6A50EF5C-7574-4EDE-91F5-109524180684}"/>
              </a:ext>
            </a:extLst>
          </p:cNvPr>
          <p:cNvSpPr/>
          <p:nvPr/>
        </p:nvSpPr>
        <p:spPr>
          <a:xfrm>
            <a:off x="8207889" y="3735068"/>
            <a:ext cx="928911" cy="8377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831907D8-69BC-4887-BBD4-B01217A28C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59406" y="3585545"/>
            <a:ext cx="310565" cy="310565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F13C8826-40E4-4966-986B-65430057911C}"/>
              </a:ext>
            </a:extLst>
          </p:cNvPr>
          <p:cNvSpPr txBox="1"/>
          <p:nvPr/>
        </p:nvSpPr>
        <p:spPr>
          <a:xfrm>
            <a:off x="7724089" y="3437770"/>
            <a:ext cx="19511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sn_dbksada_prod_priv</a:t>
            </a:r>
            <a:r>
              <a:rPr lang="en-US" sz="800"/>
              <a:t> 10.200.46.0/26</a:t>
            </a:r>
            <a:endParaRPr lang="it-IT" sz="800"/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C4549EDD-CB76-49A0-BDC6-E6A6EA159B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51882" y="4004126"/>
            <a:ext cx="344400" cy="344400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0BD7F360-C4DD-4AE5-894A-6496427ACE5E}"/>
              </a:ext>
            </a:extLst>
          </p:cNvPr>
          <p:cNvSpPr/>
          <p:nvPr/>
        </p:nvSpPr>
        <p:spPr>
          <a:xfrm>
            <a:off x="9962000" y="3730128"/>
            <a:ext cx="928911" cy="8377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57065DD5-9448-4400-8587-5E1EF7820B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13517" y="3580605"/>
            <a:ext cx="310565" cy="310565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941248F7-DCE0-484A-85AC-0593BCAD3FD5}"/>
              </a:ext>
            </a:extLst>
          </p:cNvPr>
          <p:cNvSpPr txBox="1"/>
          <p:nvPr/>
        </p:nvSpPr>
        <p:spPr>
          <a:xfrm>
            <a:off x="9587832" y="3423979"/>
            <a:ext cx="20168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sn_dbksada_prod_pub</a:t>
            </a:r>
            <a:r>
              <a:rPr lang="en-US" sz="800"/>
              <a:t> 10.200.46.64/26</a:t>
            </a:r>
            <a:endParaRPr lang="it-IT" sz="80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BFC1CEC-56B4-4160-A486-1FA140A81C2B}"/>
              </a:ext>
            </a:extLst>
          </p:cNvPr>
          <p:cNvSpPr/>
          <p:nvPr/>
        </p:nvSpPr>
        <p:spPr>
          <a:xfrm>
            <a:off x="5881741" y="1770742"/>
            <a:ext cx="1839044" cy="14523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5" name="Graphic 114">
            <a:extLst>
              <a:ext uri="{FF2B5EF4-FFF2-40B4-BE49-F238E27FC236}">
                <a16:creationId xmlns:a16="http://schemas.microsoft.com/office/drawing/2014/main" id="{EC7A2470-4C47-4228-96C3-0228E0F6D6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50203" y="1615459"/>
            <a:ext cx="322060" cy="32206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2516337A-E14D-464A-9732-E054B600347D}"/>
              </a:ext>
            </a:extLst>
          </p:cNvPr>
          <p:cNvSpPr txBox="1"/>
          <p:nvPr/>
        </p:nvSpPr>
        <p:spPr>
          <a:xfrm>
            <a:off x="5735043" y="1447811"/>
            <a:ext cx="2074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infra4 10.200.44.96/27 (non production)</a:t>
            </a:r>
            <a:endParaRPr lang="it-IT" sz="80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9D322AF-0E8B-4070-A432-DFF6FD6530DD}"/>
              </a:ext>
            </a:extLst>
          </p:cNvPr>
          <p:cNvSpPr/>
          <p:nvPr/>
        </p:nvSpPr>
        <p:spPr>
          <a:xfrm>
            <a:off x="5874852" y="3861898"/>
            <a:ext cx="1839044" cy="14523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B1483C8-7872-43D2-AB6F-A2C505A95EA9}"/>
              </a:ext>
            </a:extLst>
          </p:cNvPr>
          <p:cNvSpPr txBox="1"/>
          <p:nvPr/>
        </p:nvSpPr>
        <p:spPr>
          <a:xfrm>
            <a:off x="5771023" y="3478806"/>
            <a:ext cx="18787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infra6 10.200.44.160/27 (production)</a:t>
            </a:r>
            <a:endParaRPr lang="it-IT" sz="800"/>
          </a:p>
        </p:txBody>
      </p:sp>
      <p:pic>
        <p:nvPicPr>
          <p:cNvPr id="119" name="Graphic 118">
            <a:extLst>
              <a:ext uri="{FF2B5EF4-FFF2-40B4-BE49-F238E27FC236}">
                <a16:creationId xmlns:a16="http://schemas.microsoft.com/office/drawing/2014/main" id="{D8BFBF5F-70C3-489A-AB81-98DC000D83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66250" y="3700585"/>
            <a:ext cx="322060" cy="322060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9526C7BC-A004-4D91-9E8A-D9D243A9873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68016" y="4100295"/>
            <a:ext cx="461095" cy="4610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6855B13-2169-1845-03A7-925BFAA7123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93369" y="2150661"/>
            <a:ext cx="461095" cy="461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2FD314-3D84-D002-38DB-A8D386FE08E6}"/>
              </a:ext>
            </a:extLst>
          </p:cNvPr>
          <p:cNvSpPr txBox="1"/>
          <p:nvPr/>
        </p:nvSpPr>
        <p:spPr>
          <a:xfrm>
            <a:off x="5949854" y="2624259"/>
            <a:ext cx="729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private endpoints</a:t>
            </a:r>
            <a:endParaRPr lang="it-IT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EA2C2-CDB7-3373-94E6-EFB0A5A16EE3}"/>
              </a:ext>
            </a:extLst>
          </p:cNvPr>
          <p:cNvSpPr txBox="1"/>
          <p:nvPr/>
        </p:nvSpPr>
        <p:spPr>
          <a:xfrm>
            <a:off x="5912749" y="4565811"/>
            <a:ext cx="671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private endpoints</a:t>
            </a:r>
            <a:endParaRPr lang="it-IT" sz="8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3099753-100A-644D-B666-BFC1720F42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71428" y="4159199"/>
            <a:ext cx="344400" cy="34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E7AA43-B6C5-E924-9EB0-BBAFD18ABDA8}"/>
              </a:ext>
            </a:extLst>
          </p:cNvPr>
          <p:cNvSpPr txBox="1"/>
          <p:nvPr/>
        </p:nvSpPr>
        <p:spPr>
          <a:xfrm>
            <a:off x="6779172" y="4556809"/>
            <a:ext cx="671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private endpoints</a:t>
            </a:r>
            <a:endParaRPr lang="it-IT" sz="8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9C45BB7-D612-A04A-F549-056CF646B2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03381" y="2178002"/>
            <a:ext cx="344400" cy="34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792677-060B-9642-8252-228EB2E87BE7}"/>
              </a:ext>
            </a:extLst>
          </p:cNvPr>
          <p:cNvSpPr txBox="1"/>
          <p:nvPr/>
        </p:nvSpPr>
        <p:spPr>
          <a:xfrm>
            <a:off x="6811125" y="2575612"/>
            <a:ext cx="671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private endpoints</a:t>
            </a:r>
            <a:endParaRPr lang="it-IT" sz="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D56FD-6C36-81B1-1666-1F3A99224F7A}"/>
              </a:ext>
            </a:extLst>
          </p:cNvPr>
          <p:cNvSpPr txBox="1"/>
          <p:nvPr/>
        </p:nvSpPr>
        <p:spPr>
          <a:xfrm>
            <a:off x="9123720" y="5122091"/>
            <a:ext cx="910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Non production</a:t>
            </a:r>
            <a:endParaRPr lang="it-IT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944393-5845-D951-80EC-E2827B5C8F8C}"/>
              </a:ext>
            </a:extLst>
          </p:cNvPr>
          <p:cNvSpPr txBox="1"/>
          <p:nvPr/>
        </p:nvSpPr>
        <p:spPr>
          <a:xfrm>
            <a:off x="9186577" y="3899387"/>
            <a:ext cx="671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Production</a:t>
            </a:r>
            <a:endParaRPr lang="it-IT" sz="800"/>
          </a:p>
        </p:txBody>
      </p:sp>
    </p:spTree>
    <p:extLst>
      <p:ext uri="{BB962C8B-B14F-4D97-AF65-F5344CB8AC3E}">
        <p14:creationId xmlns:p14="http://schemas.microsoft.com/office/powerpoint/2010/main" val="230914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24256" y="260241"/>
            <a:ext cx="11162868" cy="425095"/>
          </a:xfrm>
        </p:spPr>
        <p:txBody>
          <a:bodyPr/>
          <a:lstStyle/>
          <a:p>
            <a:r>
              <a:rPr lang="en-US"/>
              <a:t>Resource Groups distribution</a:t>
            </a:r>
            <a:endParaRPr lang="it-IT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2B94FD-2C0A-4A25-B91C-84BC7A89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1394669"/>
            <a:ext cx="315313" cy="315313"/>
          </a:xfrm>
          <a:prstGeom prst="rect">
            <a:avLst/>
          </a:prstGeom>
        </p:spPr>
      </p:pic>
      <p:sp>
        <p:nvSpPr>
          <p:cNvPr id="152" name="Rectangle 151">
            <a:extLst>
              <a:ext uri="{FF2B5EF4-FFF2-40B4-BE49-F238E27FC236}">
                <a16:creationId xmlns:a16="http://schemas.microsoft.com/office/drawing/2014/main" id="{A55063CC-9399-4AEC-B22D-C20A8AA2939E}"/>
              </a:ext>
            </a:extLst>
          </p:cNvPr>
          <p:cNvSpPr/>
          <p:nvPr/>
        </p:nvSpPr>
        <p:spPr>
          <a:xfrm>
            <a:off x="208259" y="1273223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2CB809B9-37F4-44B6-B2DC-D9935257C08F}"/>
              </a:ext>
            </a:extLst>
          </p:cNvPr>
          <p:cNvSpPr txBox="1">
            <a:spLocks/>
          </p:cNvSpPr>
          <p:nvPr/>
        </p:nvSpPr>
        <p:spPr>
          <a:xfrm rot="16200000">
            <a:off x="-251633" y="2250588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Certification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8493AF5-948C-4F9F-B27C-F3FA37452FE0}"/>
              </a:ext>
            </a:extLst>
          </p:cNvPr>
          <p:cNvSpPr/>
          <p:nvPr/>
        </p:nvSpPr>
        <p:spPr>
          <a:xfrm>
            <a:off x="201871" y="3640360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5" name="Title 1">
            <a:extLst>
              <a:ext uri="{FF2B5EF4-FFF2-40B4-BE49-F238E27FC236}">
                <a16:creationId xmlns:a16="http://schemas.microsoft.com/office/drawing/2014/main" id="{7E9993AE-73C5-497E-B59D-4E1E8D69355A}"/>
              </a:ext>
            </a:extLst>
          </p:cNvPr>
          <p:cNvSpPr txBox="1">
            <a:spLocks/>
          </p:cNvSpPr>
          <p:nvPr/>
        </p:nvSpPr>
        <p:spPr>
          <a:xfrm rot="16200000">
            <a:off x="-258021" y="4617725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FD7FB5F-6E3A-4690-9F7A-55D71180357F}"/>
              </a:ext>
            </a:extLst>
          </p:cNvPr>
          <p:cNvSpPr txBox="1"/>
          <p:nvPr/>
        </p:nvSpPr>
        <p:spPr>
          <a:xfrm>
            <a:off x="1379301" y="1436909"/>
            <a:ext cx="66014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err="1"/>
              <a:t>CFO_ADA_Certification_rg</a:t>
            </a:r>
            <a:r>
              <a:rPr lang="en-US" sz="900"/>
              <a:t>: Resource group where are stored all the core resource for ADA non production environment</a:t>
            </a:r>
            <a:endParaRPr lang="it-IT" sz="900"/>
          </a:p>
        </p:txBody>
      </p:sp>
      <p:pic>
        <p:nvPicPr>
          <p:cNvPr id="157" name="Graphic 156">
            <a:extLst>
              <a:ext uri="{FF2B5EF4-FFF2-40B4-BE49-F238E27FC236}">
                <a16:creationId xmlns:a16="http://schemas.microsoft.com/office/drawing/2014/main" id="{3B1252F3-F9B1-448A-BBFA-DBE81BA8A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1758497"/>
            <a:ext cx="315313" cy="315313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D1A781B3-F00B-4437-A228-87FD3DAFAB81}"/>
              </a:ext>
            </a:extLst>
          </p:cNvPr>
          <p:cNvSpPr txBox="1"/>
          <p:nvPr/>
        </p:nvSpPr>
        <p:spPr>
          <a:xfrm>
            <a:off x="1379301" y="1800737"/>
            <a:ext cx="83824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CFO_ADA_Certification_backup_rg_1</a:t>
            </a:r>
            <a:r>
              <a:rPr lang="en-US" sz="900"/>
              <a:t>: Resource group where are stored backup resources of </a:t>
            </a:r>
            <a:r>
              <a:rPr lang="en-US" sz="900" err="1"/>
              <a:t>vm</a:t>
            </a:r>
            <a:r>
              <a:rPr lang="en-US" sz="900"/>
              <a:t> and </a:t>
            </a:r>
            <a:r>
              <a:rPr lang="en-US" sz="900" err="1"/>
              <a:t>sql</a:t>
            </a:r>
            <a:r>
              <a:rPr lang="en-US" sz="900"/>
              <a:t> server instance in non production environment</a:t>
            </a:r>
            <a:endParaRPr lang="it-IT" sz="900"/>
          </a:p>
        </p:txBody>
      </p:sp>
      <p:pic>
        <p:nvPicPr>
          <p:cNvPr id="161" name="Graphic 160">
            <a:extLst>
              <a:ext uri="{FF2B5EF4-FFF2-40B4-BE49-F238E27FC236}">
                <a16:creationId xmlns:a16="http://schemas.microsoft.com/office/drawing/2014/main" id="{5E1B3C8B-33AC-4D4F-B849-72E7A7F2D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2176480"/>
            <a:ext cx="315313" cy="315313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E8F6CD6B-4524-44C6-9348-C0FFAA934A80}"/>
              </a:ext>
            </a:extLst>
          </p:cNvPr>
          <p:cNvSpPr txBox="1"/>
          <p:nvPr/>
        </p:nvSpPr>
        <p:spPr>
          <a:xfrm>
            <a:off x="1379301" y="2218720"/>
            <a:ext cx="81083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databricks-rg-cfoadadatabrickscert-suf3gssa34gcs</a:t>
            </a:r>
            <a:r>
              <a:rPr lang="en-US" sz="900"/>
              <a:t>: Resource group where are stored all resource of </a:t>
            </a:r>
            <a:r>
              <a:rPr lang="en-US" sz="900" err="1"/>
              <a:t>databricks</a:t>
            </a:r>
            <a:r>
              <a:rPr lang="en-US" sz="900"/>
              <a:t> certification components</a:t>
            </a:r>
            <a:endParaRPr lang="it-IT" sz="900"/>
          </a:p>
        </p:txBody>
      </p:sp>
      <p:pic>
        <p:nvPicPr>
          <p:cNvPr id="163" name="Graphic 162">
            <a:extLst>
              <a:ext uri="{FF2B5EF4-FFF2-40B4-BE49-F238E27FC236}">
                <a16:creationId xmlns:a16="http://schemas.microsoft.com/office/drawing/2014/main" id="{E31EFC2D-7BEB-4F17-90AB-FBD584023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2594463"/>
            <a:ext cx="315313" cy="315313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8AF7358A-0F97-4128-84EB-48436404BE97}"/>
              </a:ext>
            </a:extLst>
          </p:cNvPr>
          <p:cNvSpPr txBox="1"/>
          <p:nvPr/>
        </p:nvSpPr>
        <p:spPr>
          <a:xfrm>
            <a:off x="1379301" y="2636703"/>
            <a:ext cx="9211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synapseworkspace-managedrg-7321987e-9fca-459c-accb-f3e1334421b0</a:t>
            </a:r>
            <a:r>
              <a:rPr lang="en-US" sz="900"/>
              <a:t>: Resource group where are stored all synapse certification managed </a:t>
            </a:r>
            <a:r>
              <a:rPr lang="en-US" sz="900" err="1"/>
              <a:t>vnet</a:t>
            </a:r>
            <a:r>
              <a:rPr lang="en-US" sz="900"/>
              <a:t> components</a:t>
            </a:r>
            <a:endParaRPr lang="it-IT" sz="900"/>
          </a:p>
        </p:txBody>
      </p:sp>
      <p:pic>
        <p:nvPicPr>
          <p:cNvPr id="167" name="Graphic 166">
            <a:extLst>
              <a:ext uri="{FF2B5EF4-FFF2-40B4-BE49-F238E27FC236}">
                <a16:creationId xmlns:a16="http://schemas.microsoft.com/office/drawing/2014/main" id="{161BFD68-27DA-49A5-99BE-BE3E8DEC4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3737819"/>
            <a:ext cx="315313" cy="315313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4BD98FB2-0CC3-44B0-9B61-06C18CB4EEE8}"/>
              </a:ext>
            </a:extLst>
          </p:cNvPr>
          <p:cNvSpPr txBox="1"/>
          <p:nvPr/>
        </p:nvSpPr>
        <p:spPr>
          <a:xfrm>
            <a:off x="1379301" y="3780059"/>
            <a:ext cx="63642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err="1"/>
              <a:t>CFO_ADA_Production_rg</a:t>
            </a:r>
            <a:r>
              <a:rPr lang="en-US" sz="900"/>
              <a:t>: Resource group where are stored all the core resource for ADA production environment</a:t>
            </a:r>
            <a:endParaRPr lang="it-IT" sz="900"/>
          </a:p>
        </p:txBody>
      </p:sp>
      <p:pic>
        <p:nvPicPr>
          <p:cNvPr id="169" name="Graphic 168">
            <a:extLst>
              <a:ext uri="{FF2B5EF4-FFF2-40B4-BE49-F238E27FC236}">
                <a16:creationId xmlns:a16="http://schemas.microsoft.com/office/drawing/2014/main" id="{B6E341DF-2FCE-4A84-B1A2-09E45CB6A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4101647"/>
            <a:ext cx="315313" cy="315313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BC4C73EE-0EBA-406F-8DED-75B7FB969509}"/>
              </a:ext>
            </a:extLst>
          </p:cNvPr>
          <p:cNvSpPr txBox="1"/>
          <p:nvPr/>
        </p:nvSpPr>
        <p:spPr>
          <a:xfrm>
            <a:off x="1379301" y="4143887"/>
            <a:ext cx="80874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CFO_ADA_Production_backup_rg_1</a:t>
            </a:r>
            <a:r>
              <a:rPr lang="en-US" sz="900"/>
              <a:t>: Resource group where are stored backup resource of </a:t>
            </a:r>
            <a:r>
              <a:rPr lang="en-US" sz="900" err="1"/>
              <a:t>vm</a:t>
            </a:r>
            <a:r>
              <a:rPr lang="en-US" sz="900"/>
              <a:t> and </a:t>
            </a:r>
            <a:r>
              <a:rPr lang="en-US" sz="900" err="1"/>
              <a:t>sql</a:t>
            </a:r>
            <a:r>
              <a:rPr lang="en-US" sz="900"/>
              <a:t> server instance in production environment</a:t>
            </a:r>
            <a:endParaRPr lang="it-IT" sz="900"/>
          </a:p>
        </p:txBody>
      </p:sp>
      <p:pic>
        <p:nvPicPr>
          <p:cNvPr id="171" name="Graphic 170">
            <a:extLst>
              <a:ext uri="{FF2B5EF4-FFF2-40B4-BE49-F238E27FC236}">
                <a16:creationId xmlns:a16="http://schemas.microsoft.com/office/drawing/2014/main" id="{46A6615B-69E6-4DBE-89FE-AE83C2A0E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4519630"/>
            <a:ext cx="315313" cy="315313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3BFF44B8-5031-4EE0-8FA7-028A1B0E2933}"/>
              </a:ext>
            </a:extLst>
          </p:cNvPr>
          <p:cNvSpPr txBox="1"/>
          <p:nvPr/>
        </p:nvSpPr>
        <p:spPr>
          <a:xfrm>
            <a:off x="1379301" y="4561870"/>
            <a:ext cx="78085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databricks-rg-cfoadadatabricksprod-qx2yrluoakbec</a:t>
            </a:r>
            <a:r>
              <a:rPr lang="en-US" sz="900"/>
              <a:t>: Resource group where are stored all resource of </a:t>
            </a:r>
            <a:r>
              <a:rPr lang="en-US" sz="900" err="1"/>
              <a:t>databricks</a:t>
            </a:r>
            <a:r>
              <a:rPr lang="en-US" sz="900"/>
              <a:t> production components</a:t>
            </a:r>
            <a:endParaRPr lang="it-IT" sz="900"/>
          </a:p>
        </p:txBody>
      </p:sp>
      <p:pic>
        <p:nvPicPr>
          <p:cNvPr id="173" name="Graphic 172">
            <a:extLst>
              <a:ext uri="{FF2B5EF4-FFF2-40B4-BE49-F238E27FC236}">
                <a16:creationId xmlns:a16="http://schemas.microsoft.com/office/drawing/2014/main" id="{5FB33FBB-FD43-46B6-B9D3-5D83281BF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4937613"/>
            <a:ext cx="315313" cy="315313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43FC677C-23D6-4F69-B9DD-771A888E1E99}"/>
              </a:ext>
            </a:extLst>
          </p:cNvPr>
          <p:cNvSpPr txBox="1"/>
          <p:nvPr/>
        </p:nvSpPr>
        <p:spPr>
          <a:xfrm>
            <a:off x="1379301" y="4979853"/>
            <a:ext cx="91294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synapseworkspace-managedrg-bccc3873-18fa-45af-b812-7fa801d6f010: </a:t>
            </a:r>
            <a:r>
              <a:rPr lang="en-US" sz="900"/>
              <a:t>Resource group where are stored all synapse production managed </a:t>
            </a:r>
            <a:r>
              <a:rPr lang="en-US" sz="900" err="1"/>
              <a:t>vnet</a:t>
            </a:r>
            <a:r>
              <a:rPr lang="en-US" sz="900"/>
              <a:t> components</a:t>
            </a:r>
            <a:endParaRPr lang="it-IT" sz="9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A04EAE-CD68-E242-C22C-BB2639B7E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5353245"/>
            <a:ext cx="315313" cy="315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11162E-6669-8A85-F40E-17B889F07A7A}"/>
              </a:ext>
            </a:extLst>
          </p:cNvPr>
          <p:cNvSpPr txBox="1"/>
          <p:nvPr/>
        </p:nvSpPr>
        <p:spPr>
          <a:xfrm>
            <a:off x="1379301" y="5395485"/>
            <a:ext cx="78085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databricks-rg-cfoadadatabricksdr-akgrs7gxlq7ns</a:t>
            </a:r>
            <a:r>
              <a:rPr lang="en-US" sz="900"/>
              <a:t>: Resource group where are stored all resource of </a:t>
            </a:r>
            <a:r>
              <a:rPr lang="en-US" sz="900" err="1"/>
              <a:t>databricks</a:t>
            </a:r>
            <a:r>
              <a:rPr lang="en-US" sz="900"/>
              <a:t> production components</a:t>
            </a:r>
            <a:endParaRPr lang="it-IT" sz="9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B21C15D-E050-BB1E-9C75-D4337BE1A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026" y="2994607"/>
            <a:ext cx="315313" cy="315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08DF1E-8E03-83BE-526F-604FCD7F0A78}"/>
              </a:ext>
            </a:extLst>
          </p:cNvPr>
          <p:cNvSpPr txBox="1"/>
          <p:nvPr/>
        </p:nvSpPr>
        <p:spPr>
          <a:xfrm>
            <a:off x="1379301" y="3036847"/>
            <a:ext cx="65261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/>
              <a:t>rg-managed-cfoadasyndev01</a:t>
            </a:r>
            <a:r>
              <a:rPr lang="en-US" sz="900"/>
              <a:t>: Resource group where are stored all synapse development managed </a:t>
            </a:r>
            <a:r>
              <a:rPr lang="en-US" sz="900" err="1"/>
              <a:t>vnet</a:t>
            </a:r>
            <a:r>
              <a:rPr lang="en-US" sz="900"/>
              <a:t> components</a:t>
            </a:r>
            <a:endParaRPr lang="it-IT" sz="9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D071B9B-1049-BB0F-7A6D-B812B5E32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274" y="5805490"/>
            <a:ext cx="315313" cy="315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41A5BE-3519-ED44-3715-6232FAC793F8}"/>
              </a:ext>
            </a:extLst>
          </p:cNvPr>
          <p:cNvSpPr txBox="1"/>
          <p:nvPr/>
        </p:nvSpPr>
        <p:spPr>
          <a:xfrm>
            <a:off x="1363549" y="5847730"/>
            <a:ext cx="62295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err="1"/>
              <a:t>synapseworkspacedr</a:t>
            </a:r>
            <a:r>
              <a:rPr lang="en-US" sz="1050" b="1"/>
              <a:t>: </a:t>
            </a:r>
            <a:r>
              <a:rPr lang="en-US" sz="900"/>
              <a:t>Resource group where are stored all synapse production DR managed </a:t>
            </a:r>
            <a:r>
              <a:rPr lang="en-US" sz="900" err="1"/>
              <a:t>vnet</a:t>
            </a:r>
            <a:r>
              <a:rPr lang="en-US" sz="900"/>
              <a:t> components</a:t>
            </a: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3005784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04876" y="180342"/>
            <a:ext cx="11182248" cy="425095"/>
          </a:xfrm>
        </p:spPr>
        <p:txBody>
          <a:bodyPr/>
          <a:lstStyle/>
          <a:p>
            <a:r>
              <a:rPr lang="it-IT"/>
              <a:t>ADA IaaS - Production</a:t>
            </a:r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171EEE7B-CDCA-4523-A299-666A4F759A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437177"/>
                  </p:ext>
                </p:extLst>
              </p:nvPr>
            </p:nvGraphicFramePr>
            <p:xfrm>
              <a:off x="1524000" y="949266"/>
              <a:ext cx="9144000" cy="542925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171EEE7B-CDCA-4523-A299-666A4F759A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949266"/>
                <a:ext cx="9144000" cy="5429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0744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17318F5-5765-4EF0-A056-E38E55B962CE}"/>
              </a:ext>
            </a:extLst>
          </p:cNvPr>
          <p:cNvSpPr txBox="1">
            <a:spLocks/>
          </p:cNvSpPr>
          <p:nvPr/>
        </p:nvSpPr>
        <p:spPr>
          <a:xfrm>
            <a:off x="504876" y="233608"/>
            <a:ext cx="11182248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it-IT"/>
              <a:t>ADA IaaS – </a:t>
            </a:r>
            <a:r>
              <a:rPr lang="it-IT" err="1"/>
              <a:t>Certification</a:t>
            </a:r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A8A2D341-02AA-4D08-8658-A383F01433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6525467"/>
                  </p:ext>
                </p:extLst>
              </p:nvPr>
            </p:nvGraphicFramePr>
            <p:xfrm>
              <a:off x="1524000" y="714373"/>
              <a:ext cx="10325100" cy="575310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A8A2D341-02AA-4D08-8658-A383F01433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714373"/>
                <a:ext cx="10325100" cy="57531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362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54C6A767-8A39-DA3F-0EE5-999D5F386901}"/>
              </a:ext>
            </a:extLst>
          </p:cNvPr>
          <p:cNvSpPr/>
          <p:nvPr/>
        </p:nvSpPr>
        <p:spPr>
          <a:xfrm>
            <a:off x="282600" y="1031611"/>
            <a:ext cx="415805" cy="1529035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86ACC06-D3F0-4F39-BCC0-37848E5516FB}"/>
              </a:ext>
            </a:extLst>
          </p:cNvPr>
          <p:cNvSpPr/>
          <p:nvPr/>
        </p:nvSpPr>
        <p:spPr>
          <a:xfrm>
            <a:off x="282600" y="2648539"/>
            <a:ext cx="425097" cy="1752058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9FEE1-0193-45C7-AB7E-67F93904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067" y="303885"/>
            <a:ext cx="11182248" cy="425095"/>
          </a:xfrm>
        </p:spPr>
        <p:txBody>
          <a:bodyPr/>
          <a:lstStyle/>
          <a:p>
            <a:r>
              <a:rPr lang="en-US"/>
              <a:t>ADA SaaS: Synapse view</a:t>
            </a:r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205B3-DC6B-43EA-95CD-7F0C14BBBEA2}"/>
              </a:ext>
            </a:extLst>
          </p:cNvPr>
          <p:cNvSpPr/>
          <p:nvPr/>
        </p:nvSpPr>
        <p:spPr>
          <a:xfrm>
            <a:off x="918210" y="2883874"/>
            <a:ext cx="1839044" cy="12362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DDFC2-7E14-4DB2-BC45-4856560D5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136" y="2700712"/>
            <a:ext cx="340645" cy="3871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84B71D-D934-493F-95B2-2790B954E8A8}"/>
              </a:ext>
            </a:extLst>
          </p:cNvPr>
          <p:cNvSpPr/>
          <p:nvPr/>
        </p:nvSpPr>
        <p:spPr>
          <a:xfrm>
            <a:off x="3972370" y="2949537"/>
            <a:ext cx="3603254" cy="10685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DA23FB-5CA2-44A3-A1AD-A96E7999BF29}"/>
              </a:ext>
            </a:extLst>
          </p:cNvPr>
          <p:cNvGrpSpPr/>
          <p:nvPr/>
        </p:nvGrpSpPr>
        <p:grpSpPr>
          <a:xfrm>
            <a:off x="7198462" y="2843775"/>
            <a:ext cx="331468" cy="211525"/>
            <a:chOff x="2495256" y="4943317"/>
            <a:chExt cx="322175" cy="19294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8EC8C61-CB24-494A-8D06-D6945E6B176B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7EF406E-468B-4C85-8B65-7774455A7F92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537DFEA-92AF-45D0-B144-953B5B9D73F7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F14E012-3978-4F4B-BBE9-3BF2B8C796A0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63EEBE5-9A89-4DF6-AFB1-663DFDE7FF38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B650A77-B55C-430E-A078-C76F7248A748}"/>
              </a:ext>
            </a:extLst>
          </p:cNvPr>
          <p:cNvSpPr/>
          <p:nvPr/>
        </p:nvSpPr>
        <p:spPr>
          <a:xfrm>
            <a:off x="3800507" y="2662789"/>
            <a:ext cx="8021074" cy="1611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440907C-589D-4609-A8A9-CC298F428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9091" y="2437976"/>
            <a:ext cx="303475" cy="3499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C2D8B5-C99E-418B-BC39-BCDE44032423}"/>
              </a:ext>
            </a:extLst>
          </p:cNvPr>
          <p:cNvSpPr txBox="1"/>
          <p:nvPr/>
        </p:nvSpPr>
        <p:spPr>
          <a:xfrm>
            <a:off x="3822484" y="2347863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F30F09-07DC-4BBB-818F-8E8DF1A377C5}"/>
              </a:ext>
            </a:extLst>
          </p:cNvPr>
          <p:cNvSpPr txBox="1"/>
          <p:nvPr/>
        </p:nvSpPr>
        <p:spPr>
          <a:xfrm>
            <a:off x="5515504" y="2705209"/>
            <a:ext cx="19934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infra4 10.200.44.96/27 (non production)</a:t>
            </a:r>
            <a:endParaRPr lang="it-IT" sz="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B12C5E-9321-4E51-9FE2-EDDAA1166ED6}"/>
              </a:ext>
            </a:extLst>
          </p:cNvPr>
          <p:cNvSpPr/>
          <p:nvPr/>
        </p:nvSpPr>
        <p:spPr>
          <a:xfrm>
            <a:off x="8047746" y="2949537"/>
            <a:ext cx="3545711" cy="10685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3FBF7CC-B83B-46CC-8FFB-AE6ED3428C6C}"/>
              </a:ext>
            </a:extLst>
          </p:cNvPr>
          <p:cNvGrpSpPr/>
          <p:nvPr/>
        </p:nvGrpSpPr>
        <p:grpSpPr>
          <a:xfrm>
            <a:off x="11083738" y="2815897"/>
            <a:ext cx="331468" cy="211525"/>
            <a:chOff x="2495256" y="4943317"/>
            <a:chExt cx="322175" cy="19294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B8C29FE-86B0-49D3-AAB1-3296C23D9E62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DED2A93-A338-47B2-89F0-FFFADC8D5581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45D4F20-447F-42DE-A5CE-B7D806819C8D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F41F6BD-AEDC-4547-9F34-B1D0E39651D3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13BDC7-D176-4928-86D6-F5B11AED9F12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2909D0E-48B8-46BB-A016-84A60A925AA7}"/>
              </a:ext>
            </a:extLst>
          </p:cNvPr>
          <p:cNvSpPr txBox="1"/>
          <p:nvPr/>
        </p:nvSpPr>
        <p:spPr>
          <a:xfrm>
            <a:off x="9065648" y="2721597"/>
            <a:ext cx="2107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infra3 10.200.44.64/27 (non production)</a:t>
            </a:r>
            <a:endParaRPr lang="it-IT" sz="80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7AA9F17-460B-4912-BFD4-F87AF8770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7307" y="2961441"/>
            <a:ext cx="262234" cy="20647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14F03BD-FEB9-4E3E-8022-762075F68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8014" y="3228483"/>
            <a:ext cx="262234" cy="19718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1ECEF45-B7ED-4CFF-A239-D3E8A33AC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1787" y="3495527"/>
            <a:ext cx="262234" cy="206478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6827D34F-9049-41A7-9319-D234B8406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7307" y="3778021"/>
            <a:ext cx="262234" cy="20647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1E963EB-C98E-413E-8091-CD1ABD3863BF}"/>
              </a:ext>
            </a:extLst>
          </p:cNvPr>
          <p:cNvSpPr txBox="1"/>
          <p:nvPr/>
        </p:nvSpPr>
        <p:spPr>
          <a:xfrm>
            <a:off x="4537419" y="2963828"/>
            <a:ext cx="24994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cfoadastudiohubcert01_pep – 10.200.44.103</a:t>
            </a:r>
            <a:endParaRPr lang="it-IT" sz="9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F8D156-1365-43D8-A9DE-1FD692515678}"/>
              </a:ext>
            </a:extLst>
          </p:cNvPr>
          <p:cNvSpPr txBox="1"/>
          <p:nvPr/>
        </p:nvSpPr>
        <p:spPr>
          <a:xfrm>
            <a:off x="4522647" y="3238238"/>
            <a:ext cx="23391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cfoadasyncert01_pepdev – 10.200.44.102</a:t>
            </a:r>
            <a:endParaRPr lang="it-IT" sz="9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92B9EC-84CD-4175-890A-EA54DEFE5C53}"/>
              </a:ext>
            </a:extLst>
          </p:cNvPr>
          <p:cNvSpPr txBox="1"/>
          <p:nvPr/>
        </p:nvSpPr>
        <p:spPr>
          <a:xfrm>
            <a:off x="4522647" y="3519148"/>
            <a:ext cx="23006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cfoadasyncert01_pepsql – 10.200.44.100</a:t>
            </a:r>
            <a:endParaRPr lang="it-IT"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4546BD-0831-4213-933A-1198B4B510A2}"/>
              </a:ext>
            </a:extLst>
          </p:cNvPr>
          <p:cNvSpPr txBox="1"/>
          <p:nvPr/>
        </p:nvSpPr>
        <p:spPr>
          <a:xfrm>
            <a:off x="4537419" y="3801954"/>
            <a:ext cx="28456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cfoadasyncert01_pepsqlondemand – 10.200.44.101</a:t>
            </a:r>
            <a:endParaRPr lang="it-IT" sz="90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FB44432-8C23-44B9-8525-E17B1C142481}"/>
              </a:ext>
            </a:extLst>
          </p:cNvPr>
          <p:cNvCxnSpPr>
            <a:cxnSpLocks/>
          </p:cNvCxnSpPr>
          <p:nvPr/>
        </p:nvCxnSpPr>
        <p:spPr>
          <a:xfrm>
            <a:off x="2757254" y="3483398"/>
            <a:ext cx="1150067" cy="3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7EDA84-DF5C-4B8E-B49A-779B886F40AA}"/>
              </a:ext>
            </a:extLst>
          </p:cNvPr>
          <p:cNvCxnSpPr>
            <a:cxnSpLocks/>
          </p:cNvCxnSpPr>
          <p:nvPr/>
        </p:nvCxnSpPr>
        <p:spPr>
          <a:xfrm flipV="1">
            <a:off x="7575624" y="3483790"/>
            <a:ext cx="4070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>
            <a:extLst>
              <a:ext uri="{FF2B5EF4-FFF2-40B4-BE49-F238E27FC236}">
                <a16:creationId xmlns:a16="http://schemas.microsoft.com/office/drawing/2014/main" id="{149CB40A-E760-4693-9A5B-0317CCA9E1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4357" y="3164512"/>
            <a:ext cx="443791" cy="443791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08C274AD-16D3-46B3-9E73-E749E77B3B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98969" y="3204970"/>
            <a:ext cx="390417" cy="409003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64551BE-FD1D-4C89-918D-8F368DB0D6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83057" y="3175415"/>
            <a:ext cx="443791" cy="471669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71A968E-75F5-483F-AD64-9855BEE9AC25}"/>
              </a:ext>
            </a:extLst>
          </p:cNvPr>
          <p:cNvSpPr/>
          <p:nvPr/>
        </p:nvSpPr>
        <p:spPr>
          <a:xfrm>
            <a:off x="967048" y="4961938"/>
            <a:ext cx="1839044" cy="135702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523605A3-61DD-491E-ABA9-948DF5AF0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510" y="4602216"/>
            <a:ext cx="322060" cy="275597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B81A67E5-CA6D-4649-A8A1-3C1A45C1B6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6022" y="5349499"/>
            <a:ext cx="461095" cy="488972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5E6405E-B33C-4833-871F-616B14437B9C}"/>
              </a:ext>
            </a:extLst>
          </p:cNvPr>
          <p:cNvSpPr/>
          <p:nvPr/>
        </p:nvSpPr>
        <p:spPr>
          <a:xfrm>
            <a:off x="4021208" y="5036894"/>
            <a:ext cx="3603254" cy="11800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5CEC4B9-06AF-4973-894A-4938251210AF}"/>
              </a:ext>
            </a:extLst>
          </p:cNvPr>
          <p:cNvGrpSpPr/>
          <p:nvPr/>
        </p:nvGrpSpPr>
        <p:grpSpPr>
          <a:xfrm>
            <a:off x="7172959" y="4996181"/>
            <a:ext cx="322175" cy="165062"/>
            <a:chOff x="2495256" y="4943317"/>
            <a:chExt cx="322175" cy="192940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F4F3A99-9C0D-4405-BCCB-16BD38EAF789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D8903A1-FDFA-42A9-A21C-48547063D101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8612E4C-C0AF-4E25-948B-E0263717DA6F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6A829F2-25A4-4884-88B9-9199910822A8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65EFD89-7C6B-4188-AEB4-F11CE0EDF2C2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89E5CCC3-8AE7-4D3B-A531-29591E9406F0}"/>
              </a:ext>
            </a:extLst>
          </p:cNvPr>
          <p:cNvSpPr/>
          <p:nvPr/>
        </p:nvSpPr>
        <p:spPr>
          <a:xfrm>
            <a:off x="3849345" y="4703682"/>
            <a:ext cx="8021074" cy="17698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F481B20B-3C7A-408C-8774-1BB19EF9B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4294" y="4488162"/>
            <a:ext cx="322060" cy="275597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DE07E4F-5A4E-48C1-A9B3-04CF043E7E1F}"/>
              </a:ext>
            </a:extLst>
          </p:cNvPr>
          <p:cNvSpPr txBox="1"/>
          <p:nvPr/>
        </p:nvSpPr>
        <p:spPr>
          <a:xfrm>
            <a:off x="3889907" y="4351586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B777CB-D1CC-47F9-80E2-DD8020613F9D}"/>
              </a:ext>
            </a:extLst>
          </p:cNvPr>
          <p:cNvSpPr txBox="1"/>
          <p:nvPr/>
        </p:nvSpPr>
        <p:spPr>
          <a:xfrm>
            <a:off x="5387781" y="4727517"/>
            <a:ext cx="198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infra6 10.200.44.160/27 (production)</a:t>
            </a:r>
            <a:endParaRPr lang="it-IT" sz="8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BA8091D-EC7E-4D79-8FA2-93624470B708}"/>
              </a:ext>
            </a:extLst>
          </p:cNvPr>
          <p:cNvSpPr/>
          <p:nvPr/>
        </p:nvSpPr>
        <p:spPr>
          <a:xfrm>
            <a:off x="8096584" y="5036894"/>
            <a:ext cx="3545711" cy="11800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346C389-20D9-4BD8-A5CE-83E1E434D65F}"/>
              </a:ext>
            </a:extLst>
          </p:cNvPr>
          <p:cNvGrpSpPr/>
          <p:nvPr/>
        </p:nvGrpSpPr>
        <p:grpSpPr>
          <a:xfrm>
            <a:off x="9385552" y="4921839"/>
            <a:ext cx="322175" cy="165062"/>
            <a:chOff x="2495256" y="4943317"/>
            <a:chExt cx="322175" cy="192940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E793425-AE25-4163-AEE3-67CDBA1F4484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AAC404E-EA5B-41C3-BD54-6A2989C55B82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ECE9447-80B5-4144-82E9-06A3C245C059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AF1707F-42ED-41E3-95C1-5710B9D91A8B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CCC9F3E-B929-4C7B-91A0-C1B7C1110AEE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96D8F6C3-2C34-4A43-95AC-6C2C16A17790}"/>
              </a:ext>
            </a:extLst>
          </p:cNvPr>
          <p:cNvSpPr txBox="1"/>
          <p:nvPr/>
        </p:nvSpPr>
        <p:spPr>
          <a:xfrm>
            <a:off x="8789242" y="4762491"/>
            <a:ext cx="198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infra5 10.200.44.128/27 (production)</a:t>
            </a:r>
            <a:endParaRPr lang="it-IT" sz="80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C5B6826F-79B0-40D1-B0D3-42FF7784D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803" y="5076675"/>
            <a:ext cx="262234" cy="22506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6F621F5F-3DCD-442C-9846-B3347B3DA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803" y="5343718"/>
            <a:ext cx="262234" cy="225064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D12C8A22-DEEB-431E-9056-8E14843B6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6283" y="5610761"/>
            <a:ext cx="262234" cy="22506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EF40C2C-934D-43A9-BD31-87E71B08C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803" y="5893255"/>
            <a:ext cx="262234" cy="22506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9B0D062-7ED5-4A96-A5A6-157A67CE582A}"/>
              </a:ext>
            </a:extLst>
          </p:cNvPr>
          <p:cNvSpPr txBox="1"/>
          <p:nvPr/>
        </p:nvSpPr>
        <p:spPr>
          <a:xfrm>
            <a:off x="4484037" y="5079063"/>
            <a:ext cx="2512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cfoadastudiohubprod01_pep – 10.200.44.167</a:t>
            </a:r>
            <a:endParaRPr lang="it-IT" sz="9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759A57A-B288-4533-B915-D506CC82577A}"/>
              </a:ext>
            </a:extLst>
          </p:cNvPr>
          <p:cNvSpPr txBox="1"/>
          <p:nvPr/>
        </p:nvSpPr>
        <p:spPr>
          <a:xfrm>
            <a:off x="4469265" y="5353473"/>
            <a:ext cx="23775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cfoadasynprod01_pepdev – 10.200.44.166</a:t>
            </a:r>
            <a:endParaRPr lang="it-IT" sz="9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006A90-9E02-4847-825E-D07079ACF97A}"/>
              </a:ext>
            </a:extLst>
          </p:cNvPr>
          <p:cNvSpPr txBox="1"/>
          <p:nvPr/>
        </p:nvSpPr>
        <p:spPr>
          <a:xfrm>
            <a:off x="4469265" y="5634383"/>
            <a:ext cx="24032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cfoadasynprod01_pepsql – 10.200.44.164</a:t>
            </a:r>
            <a:endParaRPr lang="it-IT" sz="9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B1B260-FFEF-4759-9129-30A05A7476EF}"/>
              </a:ext>
            </a:extLst>
          </p:cNvPr>
          <p:cNvSpPr txBox="1"/>
          <p:nvPr/>
        </p:nvSpPr>
        <p:spPr>
          <a:xfrm>
            <a:off x="4484037" y="5917189"/>
            <a:ext cx="28841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cfoadasynprod01_pepsqlondemand – 10.200.44.165</a:t>
            </a:r>
            <a:endParaRPr lang="it-IT" sz="90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943CF37-417F-49DF-827A-BD6776FF5834}"/>
              </a:ext>
            </a:extLst>
          </p:cNvPr>
          <p:cNvCxnSpPr>
            <a:cxnSpLocks/>
          </p:cNvCxnSpPr>
          <p:nvPr/>
        </p:nvCxnSpPr>
        <p:spPr>
          <a:xfrm>
            <a:off x="2731751" y="5603279"/>
            <a:ext cx="1205823" cy="236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12FE8A6-36C9-4B01-B465-BA3C45B89C44}"/>
              </a:ext>
            </a:extLst>
          </p:cNvPr>
          <p:cNvCxnSpPr>
            <a:cxnSpLocks/>
          </p:cNvCxnSpPr>
          <p:nvPr/>
        </p:nvCxnSpPr>
        <p:spPr>
          <a:xfrm>
            <a:off x="7615170" y="5617611"/>
            <a:ext cx="397780" cy="92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C8D839E-707A-446F-9EA3-AC662201CBD0}"/>
              </a:ext>
            </a:extLst>
          </p:cNvPr>
          <p:cNvSpPr txBox="1"/>
          <p:nvPr/>
        </p:nvSpPr>
        <p:spPr>
          <a:xfrm>
            <a:off x="861730" y="2509150"/>
            <a:ext cx="16946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cfoadasyncert01 (managed </a:t>
            </a:r>
            <a:r>
              <a:rPr lang="en-US" sz="800" err="1"/>
              <a:t>vnet</a:t>
            </a:r>
            <a:r>
              <a:rPr lang="en-US" sz="800"/>
              <a:t>)</a:t>
            </a:r>
            <a:endParaRPr lang="it-IT" sz="8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2EE659D-1410-4BE2-844D-CF5F6546804B}"/>
              </a:ext>
            </a:extLst>
          </p:cNvPr>
          <p:cNvSpPr txBox="1"/>
          <p:nvPr/>
        </p:nvSpPr>
        <p:spPr>
          <a:xfrm>
            <a:off x="826619" y="4377554"/>
            <a:ext cx="17299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cfoadasynprod01 (managed </a:t>
            </a:r>
            <a:r>
              <a:rPr lang="en-US" sz="800" err="1"/>
              <a:t>vnet</a:t>
            </a:r>
            <a:r>
              <a:rPr lang="en-US" sz="800"/>
              <a:t>)</a:t>
            </a:r>
            <a:endParaRPr lang="it-IT" sz="800"/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C3EF68D3-F0B5-4B5B-9305-F94479BD404F}"/>
              </a:ext>
            </a:extLst>
          </p:cNvPr>
          <p:cNvSpPr txBox="1">
            <a:spLocks/>
          </p:cNvSpPr>
          <p:nvPr/>
        </p:nvSpPr>
        <p:spPr>
          <a:xfrm rot="16200000">
            <a:off x="-14670" y="3258844"/>
            <a:ext cx="1084033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Certification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7904045-4462-4DB2-872C-C1C4EA9EB239}"/>
              </a:ext>
            </a:extLst>
          </p:cNvPr>
          <p:cNvSpPr/>
          <p:nvPr/>
        </p:nvSpPr>
        <p:spPr>
          <a:xfrm>
            <a:off x="285505" y="4523164"/>
            <a:ext cx="425097" cy="192861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D05504F8-19AF-48B7-93B6-BECC966EA9FD}"/>
              </a:ext>
            </a:extLst>
          </p:cNvPr>
          <p:cNvSpPr txBox="1">
            <a:spLocks/>
          </p:cNvSpPr>
          <p:nvPr/>
        </p:nvSpPr>
        <p:spPr>
          <a:xfrm rot="16200000">
            <a:off x="-165094" y="5156701"/>
            <a:ext cx="1390691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FC0506-8A4F-CCE5-42D0-060CD1B74B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0113" y="5450512"/>
            <a:ext cx="443791" cy="44379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C39E593-96C7-5F39-2642-532AAF840A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4725" y="5490970"/>
            <a:ext cx="390417" cy="40900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88509B5-A75B-25EE-7D99-AC57BE2EC3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8813" y="5461415"/>
            <a:ext cx="443791" cy="4716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D2E62B-2305-1C78-89F1-177A847B7230}"/>
              </a:ext>
            </a:extLst>
          </p:cNvPr>
          <p:cNvSpPr/>
          <p:nvPr/>
        </p:nvSpPr>
        <p:spPr>
          <a:xfrm>
            <a:off x="862454" y="1248362"/>
            <a:ext cx="1839044" cy="12362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19651EE-A327-1F16-85F1-37929AD78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380" y="1065200"/>
            <a:ext cx="340645" cy="38710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91A8026-7898-037C-83C3-9FDA43C99FD6}"/>
              </a:ext>
            </a:extLst>
          </p:cNvPr>
          <p:cNvSpPr/>
          <p:nvPr/>
        </p:nvSpPr>
        <p:spPr>
          <a:xfrm>
            <a:off x="3916614" y="1314025"/>
            <a:ext cx="3603254" cy="10685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3C8F188-D3F4-2C47-7807-D21F3009AD74}"/>
              </a:ext>
            </a:extLst>
          </p:cNvPr>
          <p:cNvGrpSpPr/>
          <p:nvPr/>
        </p:nvGrpSpPr>
        <p:grpSpPr>
          <a:xfrm>
            <a:off x="7142706" y="1208263"/>
            <a:ext cx="331465" cy="211524"/>
            <a:chOff x="2495256" y="4943317"/>
            <a:chExt cx="322175" cy="19294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0560B1F-0E9A-6874-D7E1-349BF5C8520F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9B4C793-90A7-BC96-E76D-5D067FBB8002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2ED842D-F3B8-9E85-8B17-678291216DED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37EB6BA-E837-99D1-A801-53B8E8C511BD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37C2F54-AB3F-D80F-AA7A-00814D71A5BA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82FF730-5BBB-F773-DCF1-8F27582F18FA}"/>
              </a:ext>
            </a:extLst>
          </p:cNvPr>
          <p:cNvSpPr/>
          <p:nvPr/>
        </p:nvSpPr>
        <p:spPr>
          <a:xfrm>
            <a:off x="3744751" y="1027277"/>
            <a:ext cx="8021074" cy="161184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09333E61-F461-5EE2-6EC8-958AC4C60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3335" y="802464"/>
            <a:ext cx="303475" cy="34993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CC24E76-6003-6E1D-275C-1555D21276D4}"/>
              </a:ext>
            </a:extLst>
          </p:cNvPr>
          <p:cNvSpPr txBox="1"/>
          <p:nvPr/>
        </p:nvSpPr>
        <p:spPr>
          <a:xfrm>
            <a:off x="3766728" y="712351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089D4D-953E-B8A3-B4F6-D0ADC268745A}"/>
              </a:ext>
            </a:extLst>
          </p:cNvPr>
          <p:cNvSpPr txBox="1"/>
          <p:nvPr/>
        </p:nvSpPr>
        <p:spPr>
          <a:xfrm>
            <a:off x="5459748" y="1069697"/>
            <a:ext cx="20879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infra4 10.200.44.96/27 (non production)</a:t>
            </a:r>
            <a:endParaRPr lang="it-IT" sz="8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CEB225-3CB8-B8E7-BA6E-2EB121909906}"/>
              </a:ext>
            </a:extLst>
          </p:cNvPr>
          <p:cNvSpPr/>
          <p:nvPr/>
        </p:nvSpPr>
        <p:spPr>
          <a:xfrm>
            <a:off x="7991990" y="1314025"/>
            <a:ext cx="3545711" cy="10685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6CC8DB6-0A9A-8B1E-F068-1320C3C53890}"/>
              </a:ext>
            </a:extLst>
          </p:cNvPr>
          <p:cNvGrpSpPr/>
          <p:nvPr/>
        </p:nvGrpSpPr>
        <p:grpSpPr>
          <a:xfrm>
            <a:off x="11027982" y="1180385"/>
            <a:ext cx="331465" cy="211524"/>
            <a:chOff x="2495256" y="4943317"/>
            <a:chExt cx="322175" cy="192940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57C13A9-66CE-3EF3-7351-DEAD567E47B7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C19C6A0-642C-A5DC-A4F7-9572D5A5969F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86FC438-ED59-AC5E-91BB-77F03E5CF4E9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75B9FC6-F815-FBCF-4695-81F2258F789F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AFB4512-7D2F-63FE-3D82-EFDD9880C301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0CE10EAF-C0B7-D4A9-9256-6CFFF20B7751}"/>
              </a:ext>
            </a:extLst>
          </p:cNvPr>
          <p:cNvSpPr txBox="1"/>
          <p:nvPr/>
        </p:nvSpPr>
        <p:spPr>
          <a:xfrm>
            <a:off x="9009892" y="1086085"/>
            <a:ext cx="2046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infra3 10.200.44.64/27 (non production)</a:t>
            </a:r>
            <a:endParaRPr lang="it-IT" sz="800"/>
          </a:p>
        </p:txBody>
      </p:sp>
      <p:pic>
        <p:nvPicPr>
          <p:cNvPr id="104" name="Graphic 103">
            <a:extLst>
              <a:ext uri="{FF2B5EF4-FFF2-40B4-BE49-F238E27FC236}">
                <a16:creationId xmlns:a16="http://schemas.microsoft.com/office/drawing/2014/main" id="{1CEC0E8E-4EEC-2941-5319-C58F4F2FD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551" y="1325929"/>
            <a:ext cx="262234" cy="206478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9632BD93-F5E4-5935-2CA5-39C9F71EB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2258" y="1592971"/>
            <a:ext cx="262234" cy="197186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7FCA6612-B191-1DC8-BCDC-4F4A9F24C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6031" y="1860015"/>
            <a:ext cx="262234" cy="206478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429D4532-836F-8727-5219-C0FD967AE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551" y="2142509"/>
            <a:ext cx="262234" cy="206478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C4B68DD5-8799-D4A1-6008-AB25C3C96CB3}"/>
              </a:ext>
            </a:extLst>
          </p:cNvPr>
          <p:cNvSpPr txBox="1"/>
          <p:nvPr/>
        </p:nvSpPr>
        <p:spPr>
          <a:xfrm>
            <a:off x="4481663" y="1328316"/>
            <a:ext cx="2467342" cy="2308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900"/>
              <a:t>cfoadastudiohubdev01_pep – 10.200.44.103</a:t>
            </a:r>
            <a:endParaRPr lang="it-IT" sz="9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4E24AF7-8ED2-C332-EFA5-A2F4DCA7DED9}"/>
              </a:ext>
            </a:extLst>
          </p:cNvPr>
          <p:cNvSpPr txBox="1"/>
          <p:nvPr/>
        </p:nvSpPr>
        <p:spPr>
          <a:xfrm>
            <a:off x="4466891" y="1602726"/>
            <a:ext cx="2339102" cy="2308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900"/>
              <a:t>cfoadasyndev01_pepdev – 10.200.44.110</a:t>
            </a:r>
            <a:endParaRPr lang="it-IT" sz="9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35C5F02-C37E-D7D1-D15F-07270E0AB0D3}"/>
              </a:ext>
            </a:extLst>
          </p:cNvPr>
          <p:cNvSpPr txBox="1"/>
          <p:nvPr/>
        </p:nvSpPr>
        <p:spPr>
          <a:xfrm>
            <a:off x="4466891" y="1883636"/>
            <a:ext cx="2294218" cy="2308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900"/>
              <a:t>cfoadasyndev01_pepsql – 10.200.44.111</a:t>
            </a:r>
            <a:endParaRPr lang="it-IT" sz="9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4A92FF0-276F-839A-762D-584158744E25}"/>
              </a:ext>
            </a:extLst>
          </p:cNvPr>
          <p:cNvSpPr txBox="1"/>
          <p:nvPr/>
        </p:nvSpPr>
        <p:spPr>
          <a:xfrm>
            <a:off x="4481663" y="2166442"/>
            <a:ext cx="2839239" cy="2308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900"/>
              <a:t>cfoadasyndev01_pepsqlondemand – 10.200.44.109</a:t>
            </a:r>
            <a:endParaRPr lang="it-IT" sz="900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491229F-8738-AC3E-8912-CA687E27DE45}"/>
              </a:ext>
            </a:extLst>
          </p:cNvPr>
          <p:cNvCxnSpPr>
            <a:cxnSpLocks/>
          </p:cNvCxnSpPr>
          <p:nvPr/>
        </p:nvCxnSpPr>
        <p:spPr>
          <a:xfrm>
            <a:off x="2701498" y="1847886"/>
            <a:ext cx="1150067" cy="3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B4F4556-7189-D9DF-3746-6C158FD4114E}"/>
              </a:ext>
            </a:extLst>
          </p:cNvPr>
          <p:cNvCxnSpPr>
            <a:cxnSpLocks/>
          </p:cNvCxnSpPr>
          <p:nvPr/>
        </p:nvCxnSpPr>
        <p:spPr>
          <a:xfrm flipV="1">
            <a:off x="7519868" y="1848278"/>
            <a:ext cx="4070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>
            <a:extLst>
              <a:ext uri="{FF2B5EF4-FFF2-40B4-BE49-F238E27FC236}">
                <a16:creationId xmlns:a16="http://schemas.microsoft.com/office/drawing/2014/main" id="{48C84399-750E-46C2-D257-B196FE38DA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8601" y="1529000"/>
            <a:ext cx="443791" cy="443791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26504414-52F8-DDE9-D246-78598F5A72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43213" y="1569458"/>
            <a:ext cx="390417" cy="409003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2D7EC333-8967-5CDD-14DE-1338F4ACB5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7301" y="1539903"/>
            <a:ext cx="443791" cy="471669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EA35FCE8-E14D-ACA8-E253-CE4D2EE9AA3E}"/>
              </a:ext>
            </a:extLst>
          </p:cNvPr>
          <p:cNvSpPr txBox="1"/>
          <p:nvPr/>
        </p:nvSpPr>
        <p:spPr>
          <a:xfrm>
            <a:off x="805974" y="873638"/>
            <a:ext cx="1718740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800"/>
              <a:t>cfoadasyndev01 (managed </a:t>
            </a:r>
            <a:r>
              <a:rPr lang="en-US" sz="800" err="1"/>
              <a:t>vnet</a:t>
            </a:r>
            <a:r>
              <a:rPr lang="en-US" sz="800"/>
              <a:t>)</a:t>
            </a:r>
            <a:endParaRPr lang="it-IT" sz="800"/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06CCFA06-A73F-208A-52C6-F41C27AF5F9A}"/>
              </a:ext>
            </a:extLst>
          </p:cNvPr>
          <p:cNvSpPr txBox="1">
            <a:spLocks/>
          </p:cNvSpPr>
          <p:nvPr/>
        </p:nvSpPr>
        <p:spPr>
          <a:xfrm rot="16200000">
            <a:off x="-302743" y="1558284"/>
            <a:ext cx="1604422" cy="4436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Development</a:t>
            </a:r>
            <a:endParaRPr lang="en-US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002C6D77-1F3E-6F4D-DDC6-C8F72F4300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53802" y="3249352"/>
            <a:ext cx="461095" cy="488972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A5D3A94A-523D-95BA-7C37-FE9F45CE54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60875" y="1623133"/>
            <a:ext cx="461095" cy="4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87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FEE1-0193-45C7-AB7E-67F93904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067" y="303885"/>
            <a:ext cx="11182248" cy="425095"/>
          </a:xfrm>
        </p:spPr>
        <p:txBody>
          <a:bodyPr/>
          <a:lstStyle/>
          <a:p>
            <a:r>
              <a:rPr lang="en-US"/>
              <a:t>ADA SaaS: Purview view</a:t>
            </a:r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54B5B-2F5E-4E93-9EC4-C58796B5AB91}"/>
              </a:ext>
            </a:extLst>
          </p:cNvPr>
          <p:cNvSpPr/>
          <p:nvPr/>
        </p:nvSpPr>
        <p:spPr>
          <a:xfrm>
            <a:off x="208259" y="1273223"/>
            <a:ext cx="425097" cy="22817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1B6FD4-DF54-467E-A5A0-E78869FFFB16}"/>
              </a:ext>
            </a:extLst>
          </p:cNvPr>
          <p:cNvSpPr/>
          <p:nvPr/>
        </p:nvSpPr>
        <p:spPr>
          <a:xfrm>
            <a:off x="883414" y="4324228"/>
            <a:ext cx="1839044" cy="16079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AFD01E6-D7B7-460F-B0E7-3D34AA3F2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876" y="4168945"/>
            <a:ext cx="322060" cy="32206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7D0249B-F8F7-4D1D-B9D0-D8AD93183AE5}"/>
              </a:ext>
            </a:extLst>
          </p:cNvPr>
          <p:cNvSpPr/>
          <p:nvPr/>
        </p:nvSpPr>
        <p:spPr>
          <a:xfrm>
            <a:off x="3937574" y="4293479"/>
            <a:ext cx="3603254" cy="17167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C27BBF-45B5-43C3-B1DE-750C799E5AD8}"/>
              </a:ext>
            </a:extLst>
          </p:cNvPr>
          <p:cNvGrpSpPr/>
          <p:nvPr/>
        </p:nvGrpSpPr>
        <p:grpSpPr>
          <a:xfrm>
            <a:off x="7126496" y="4197010"/>
            <a:ext cx="322175" cy="192940"/>
            <a:chOff x="2495256" y="4943317"/>
            <a:chExt cx="322175" cy="19294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14D3073-CBD5-4FE3-8795-439400B71C6A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1E2F07C-E9E5-4E9F-B874-84E07BE91257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EBF1664-B700-4893-B18D-537B3071D4F6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6663328-0115-435F-86BD-4B0C88E8D270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B892A99-59D7-451E-B7A5-6A86D63B3E71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63179FDD-526D-478F-8581-4C24B410FDE8}"/>
              </a:ext>
            </a:extLst>
          </p:cNvPr>
          <p:cNvSpPr/>
          <p:nvPr/>
        </p:nvSpPr>
        <p:spPr>
          <a:xfrm>
            <a:off x="3765711" y="3848755"/>
            <a:ext cx="8021074" cy="22767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1C26053D-E3B2-41FA-8B55-C5297E668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2880" y="3698284"/>
            <a:ext cx="322060" cy="32206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905E0C6-F03B-4E6D-8A44-347B615511A5}"/>
              </a:ext>
            </a:extLst>
          </p:cNvPr>
          <p:cNvSpPr txBox="1"/>
          <p:nvPr/>
        </p:nvSpPr>
        <p:spPr>
          <a:xfrm>
            <a:off x="3806273" y="3487366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620E78-1B82-446A-B0E4-5C8D078BE2B4}"/>
              </a:ext>
            </a:extLst>
          </p:cNvPr>
          <p:cNvSpPr txBox="1"/>
          <p:nvPr/>
        </p:nvSpPr>
        <p:spPr>
          <a:xfrm>
            <a:off x="5713025" y="4002688"/>
            <a:ext cx="1999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infra6 10.200.44.160/27 (production)</a:t>
            </a:r>
            <a:endParaRPr lang="it-IT" sz="8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B5E84F-42A4-4B10-A9B9-BD38DEE4FAB7}"/>
              </a:ext>
            </a:extLst>
          </p:cNvPr>
          <p:cNvSpPr/>
          <p:nvPr/>
        </p:nvSpPr>
        <p:spPr>
          <a:xfrm>
            <a:off x="8012950" y="4455405"/>
            <a:ext cx="3545711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10CBA8-5790-48BC-BF77-87B9ADC76E19}"/>
              </a:ext>
            </a:extLst>
          </p:cNvPr>
          <p:cNvGrpSpPr/>
          <p:nvPr/>
        </p:nvGrpSpPr>
        <p:grpSpPr>
          <a:xfrm>
            <a:off x="9339089" y="4358935"/>
            <a:ext cx="322175" cy="192940"/>
            <a:chOff x="2495256" y="4943317"/>
            <a:chExt cx="322175" cy="192940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DBD3114-1C2A-4A0B-832E-B96A5781ED82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04B1470-7E02-44A9-995F-A3064AD18B34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467CF2B-20C1-4FE1-A78D-473270C7BADF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3633125-6AC7-40D5-B6CB-9C1456577783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3838C68-DAF7-4F36-9C57-C4F152C5B540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80D8DC1-E2C5-470F-B13B-E5E5575D40F3}"/>
              </a:ext>
            </a:extLst>
          </p:cNvPr>
          <p:cNvSpPr txBox="1"/>
          <p:nvPr/>
        </p:nvSpPr>
        <p:spPr>
          <a:xfrm>
            <a:off x="7952901" y="4123851"/>
            <a:ext cx="198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infra5 10.200.44.128/27 (production)</a:t>
            </a:r>
            <a:endParaRPr lang="it-IT" sz="80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0EC2DB63-2D4E-425B-BAD5-FA77862D8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7462" y="4351846"/>
            <a:ext cx="262234" cy="262234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26BCF399-1689-4014-B91E-9A2B59E1D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7462" y="4618889"/>
            <a:ext cx="262234" cy="262234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FEAA6109-B398-4948-AFFB-CFCA9FF8C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1942" y="4885932"/>
            <a:ext cx="262234" cy="262234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AB4C77F5-0FC2-42E6-BD42-20CBE1F55C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7462" y="5168426"/>
            <a:ext cx="262234" cy="26223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63673F2F-0B68-4E48-946E-A07446F4808D}"/>
              </a:ext>
            </a:extLst>
          </p:cNvPr>
          <p:cNvSpPr txBox="1"/>
          <p:nvPr/>
        </p:nvSpPr>
        <p:spPr>
          <a:xfrm>
            <a:off x="4409696" y="4391404"/>
            <a:ext cx="2839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cfoadapurviewprod01_pepaccount – 10.200.44.170</a:t>
            </a:r>
            <a:endParaRPr lang="it-IT" sz="9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3DE613-3F6B-4E58-8BFE-E954CC0E3D42}"/>
              </a:ext>
            </a:extLst>
          </p:cNvPr>
          <p:cNvSpPr txBox="1"/>
          <p:nvPr/>
        </p:nvSpPr>
        <p:spPr>
          <a:xfrm>
            <a:off x="4394924" y="4665814"/>
            <a:ext cx="27238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cfoadapurviewprod01_pepportal – 10.200.44.170</a:t>
            </a:r>
            <a:endParaRPr lang="it-IT" sz="9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BE8A20-8716-45C0-8D75-C52D30687F2A}"/>
              </a:ext>
            </a:extLst>
          </p:cNvPr>
          <p:cNvSpPr txBox="1"/>
          <p:nvPr/>
        </p:nvSpPr>
        <p:spPr>
          <a:xfrm>
            <a:off x="4394924" y="4946724"/>
            <a:ext cx="28135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cfoadapurviewprod01-default-blob – 10.200.44.169</a:t>
            </a:r>
            <a:endParaRPr lang="it-IT" sz="9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6F7D1A-2A6E-4191-8468-2287EF3F4EE7}"/>
              </a:ext>
            </a:extLst>
          </p:cNvPr>
          <p:cNvSpPr txBox="1"/>
          <p:nvPr/>
        </p:nvSpPr>
        <p:spPr>
          <a:xfrm>
            <a:off x="4409696" y="5229530"/>
            <a:ext cx="29225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cfoadapurviewprod01-default-queue – 10.200.44.171</a:t>
            </a:r>
            <a:endParaRPr lang="it-IT" sz="90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6158947-F082-496D-BFB7-5CBC36A55DC5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>
            <a:off x="2722458" y="5128190"/>
            <a:ext cx="1215116" cy="236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B8E72B3-7A2E-452D-8D62-488297A47762}"/>
              </a:ext>
            </a:extLst>
          </p:cNvPr>
          <p:cNvCxnSpPr>
            <a:cxnSpLocks/>
            <a:stCxn id="42" idx="3"/>
            <a:endCxn id="53" idx="1"/>
          </p:cNvCxnSpPr>
          <p:nvPr/>
        </p:nvCxnSpPr>
        <p:spPr>
          <a:xfrm>
            <a:off x="7540828" y="5151877"/>
            <a:ext cx="472122" cy="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>
            <a:extLst>
              <a:ext uri="{FF2B5EF4-FFF2-40B4-BE49-F238E27FC236}">
                <a16:creationId xmlns:a16="http://schemas.microsoft.com/office/drawing/2014/main" id="{1C07D267-7C80-4A6E-9E13-FA9EDF49AB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79561" y="4902696"/>
            <a:ext cx="443791" cy="443791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ECBB1B3-74A9-4C09-B8EE-AD85B4205E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64173" y="4943155"/>
            <a:ext cx="390417" cy="39041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33FE7B35-F984-4E55-A8F1-941D671FFC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48260" y="4904307"/>
            <a:ext cx="443791" cy="443791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B9936B25-48F5-42F0-A45A-A189EDDD7B74}"/>
              </a:ext>
            </a:extLst>
          </p:cNvPr>
          <p:cNvSpPr txBox="1"/>
          <p:nvPr/>
        </p:nvSpPr>
        <p:spPr>
          <a:xfrm>
            <a:off x="818155" y="3980242"/>
            <a:ext cx="24079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cfoadapurviewprod01 (managed </a:t>
            </a:r>
            <a:r>
              <a:rPr lang="en-US" sz="800" err="1"/>
              <a:t>vnet</a:t>
            </a:r>
            <a:r>
              <a:rPr lang="en-US" sz="800"/>
              <a:t>)</a:t>
            </a:r>
            <a:endParaRPr lang="it-IT" sz="800"/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0DE7814E-9E96-4BB1-85B8-5EC6A0DDA6FD}"/>
              </a:ext>
            </a:extLst>
          </p:cNvPr>
          <p:cNvSpPr txBox="1">
            <a:spLocks/>
          </p:cNvSpPr>
          <p:nvPr/>
        </p:nvSpPr>
        <p:spPr>
          <a:xfrm rot="16200000">
            <a:off x="-251633" y="2250588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Certification</a:t>
            </a:r>
            <a:endParaRPr lang="it-IT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F8D6B85-FD8E-4E17-925A-B251ACB0B60C}"/>
              </a:ext>
            </a:extLst>
          </p:cNvPr>
          <p:cNvSpPr/>
          <p:nvPr/>
        </p:nvSpPr>
        <p:spPr>
          <a:xfrm>
            <a:off x="201871" y="3640360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4120F419-C74F-4C64-9DEC-73C0B4F01239}"/>
              </a:ext>
            </a:extLst>
          </p:cNvPr>
          <p:cNvSpPr txBox="1">
            <a:spLocks/>
          </p:cNvSpPr>
          <p:nvPr/>
        </p:nvSpPr>
        <p:spPr>
          <a:xfrm rot="16200000">
            <a:off x="-258021" y="4617725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85B0A209-11FE-462C-8A55-A7841A860A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27027" y="4665430"/>
            <a:ext cx="708061" cy="708061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52D44373-C94D-4241-BC7B-F36E6A560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372" y="5481918"/>
            <a:ext cx="262234" cy="26223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671E791-3874-4942-91D5-4FB726357D76}"/>
              </a:ext>
            </a:extLst>
          </p:cNvPr>
          <p:cNvSpPr txBox="1"/>
          <p:nvPr/>
        </p:nvSpPr>
        <p:spPr>
          <a:xfrm>
            <a:off x="4422606" y="5543022"/>
            <a:ext cx="3198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cfoadapurviewprod01-default-namespace – 10.200.44.171</a:t>
            </a:r>
            <a:endParaRPr lang="it-IT" sz="900"/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C1B61470-6BD6-44E6-9243-4B1E74C151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7467" y="5506626"/>
            <a:ext cx="322061" cy="322061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0D314723-000C-482C-BC1D-35E14F098D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07274" y="5506625"/>
            <a:ext cx="322061" cy="322061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0209D395-F316-4D07-966C-9B4BC7423487}"/>
              </a:ext>
            </a:extLst>
          </p:cNvPr>
          <p:cNvSpPr txBox="1"/>
          <p:nvPr/>
        </p:nvSpPr>
        <p:spPr>
          <a:xfrm rot="19478993">
            <a:off x="4439551" y="2018524"/>
            <a:ext cx="2724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>
                    <a:lumMod val="50000"/>
                  </a:schemeClr>
                </a:solidFill>
              </a:rPr>
              <a:t>NOT CREATED</a:t>
            </a:r>
            <a:endParaRPr lang="it-IT" sz="2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8619A-7BC0-2747-8692-DDA5271EB44E}"/>
              </a:ext>
            </a:extLst>
          </p:cNvPr>
          <p:cNvSpPr txBox="1"/>
          <p:nvPr/>
        </p:nvSpPr>
        <p:spPr>
          <a:xfrm rot="1418517">
            <a:off x="4150144" y="3070148"/>
            <a:ext cx="40751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>
                <a:solidFill>
                  <a:schemeClr val="tx2"/>
                </a:solidFill>
              </a:rPr>
              <a:t>REMOVED</a:t>
            </a:r>
            <a:endParaRPr lang="it-IT" sz="6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115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FEE1-0193-45C7-AB7E-67F93904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067" y="303885"/>
            <a:ext cx="11182248" cy="425095"/>
          </a:xfrm>
        </p:spPr>
        <p:txBody>
          <a:bodyPr/>
          <a:lstStyle/>
          <a:p>
            <a:r>
              <a:rPr lang="en-US"/>
              <a:t>ADA SaaS: Databricks view</a:t>
            </a:r>
            <a:endParaRPr lang="it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55E8C-92FC-4723-81DE-692FC608BC7A}"/>
              </a:ext>
            </a:extLst>
          </p:cNvPr>
          <p:cNvSpPr txBox="1"/>
          <p:nvPr/>
        </p:nvSpPr>
        <p:spPr>
          <a:xfrm>
            <a:off x="7424324" y="1626046"/>
            <a:ext cx="19159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sn_dbksada_cert_priv</a:t>
            </a:r>
            <a:r>
              <a:rPr lang="en-US" sz="800"/>
              <a:t> 10.206.5.0/26</a:t>
            </a:r>
            <a:endParaRPr lang="it-IT" sz="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ABFB5-E7C6-4287-82AB-3C317AB833AC}"/>
              </a:ext>
            </a:extLst>
          </p:cNvPr>
          <p:cNvSpPr txBox="1"/>
          <p:nvPr/>
        </p:nvSpPr>
        <p:spPr>
          <a:xfrm>
            <a:off x="9351036" y="1621205"/>
            <a:ext cx="19816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sn_dbksada_cert_pub</a:t>
            </a:r>
            <a:r>
              <a:rPr lang="en-US" sz="800"/>
              <a:t> 10.206.5.64/26</a:t>
            </a:r>
            <a:endParaRPr lang="it-IT" sz="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07AE5A2-0B2D-4243-89B3-B61F40015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3163" y="4482068"/>
            <a:ext cx="584438" cy="5844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E76DFA-65E6-4D57-A9E4-B2ADA3CA515C}"/>
              </a:ext>
            </a:extLst>
          </p:cNvPr>
          <p:cNvSpPr/>
          <p:nvPr/>
        </p:nvSpPr>
        <p:spPr>
          <a:xfrm>
            <a:off x="7424324" y="4237263"/>
            <a:ext cx="1530490" cy="1089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C41AF-77CC-47E1-9B65-DBCF7CFA4A75}"/>
              </a:ext>
            </a:extLst>
          </p:cNvPr>
          <p:cNvSpPr txBox="1"/>
          <p:nvPr/>
        </p:nvSpPr>
        <p:spPr>
          <a:xfrm>
            <a:off x="7311215" y="3929254"/>
            <a:ext cx="19902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err="1"/>
              <a:t>sn_dbksada_prod_priv</a:t>
            </a:r>
            <a:r>
              <a:rPr lang="en-US" sz="800"/>
              <a:t> 10.200.46.0/26</a:t>
            </a:r>
            <a:endParaRPr lang="it-IT" sz="8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99E9793-FB41-468C-A04C-E89F71C4D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0711" y="4555558"/>
            <a:ext cx="563620" cy="5636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54F8578-13C4-4D31-B892-E6B13B7537B1}"/>
              </a:ext>
            </a:extLst>
          </p:cNvPr>
          <p:cNvSpPr/>
          <p:nvPr/>
        </p:nvSpPr>
        <p:spPr>
          <a:xfrm>
            <a:off x="9412059" y="4237263"/>
            <a:ext cx="1375611" cy="1089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7032A7-D8E4-4FA2-9D46-0FB4D28EA2E4}"/>
              </a:ext>
            </a:extLst>
          </p:cNvPr>
          <p:cNvSpPr txBox="1"/>
          <p:nvPr/>
        </p:nvSpPr>
        <p:spPr>
          <a:xfrm>
            <a:off x="9417164" y="3905119"/>
            <a:ext cx="22008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err="1"/>
              <a:t>sn_dbksada_prod_pub</a:t>
            </a:r>
            <a:r>
              <a:rPr lang="en-US" sz="800"/>
              <a:t> 10.200.46.64/26</a:t>
            </a:r>
            <a:endParaRPr lang="it-IT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6E8670-0BF5-485C-BD5F-68E7D4C2BD1B}"/>
              </a:ext>
            </a:extLst>
          </p:cNvPr>
          <p:cNvGrpSpPr/>
          <p:nvPr/>
        </p:nvGrpSpPr>
        <p:grpSpPr>
          <a:xfrm>
            <a:off x="7560476" y="4180780"/>
            <a:ext cx="322175" cy="192940"/>
            <a:chOff x="2495256" y="4943317"/>
            <a:chExt cx="322175" cy="19294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71FFE15-61C3-465F-BE5E-87A751D39B10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A2BBD0-E028-4E97-A1DC-BEBA296BAD44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03C14A7-C3C9-46FC-8176-463253A32D09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569C487-D80E-4771-9F66-3CD88FD6D8DD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FC37CB-0B8E-4942-9596-30071E86455E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ECF54B-9E14-48FF-9DE9-007218B64C3E}"/>
              </a:ext>
            </a:extLst>
          </p:cNvPr>
          <p:cNvGrpSpPr/>
          <p:nvPr/>
        </p:nvGrpSpPr>
        <p:grpSpPr>
          <a:xfrm>
            <a:off x="9548651" y="4171330"/>
            <a:ext cx="322175" cy="192940"/>
            <a:chOff x="2495256" y="4943317"/>
            <a:chExt cx="322175" cy="19294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DF40C3-4ADD-4AB3-9425-A3C7828E4828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41C87ED-7DEB-45B5-A4BE-FC2963D9C2B6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13B8117-A931-48B3-BD46-B9C0C96CEA34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7F06348-7EE3-46C3-8580-54DAEBA831EE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3D87F45-F7A6-4A99-A8A6-08791BC72037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F08BD4B-E778-4B2C-B5B3-6E64D36AE735}"/>
              </a:ext>
            </a:extLst>
          </p:cNvPr>
          <p:cNvSpPr/>
          <p:nvPr/>
        </p:nvSpPr>
        <p:spPr>
          <a:xfrm>
            <a:off x="208259" y="1273223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CFE03081-6F3F-4313-98AA-65F1B4F07A3E}"/>
              </a:ext>
            </a:extLst>
          </p:cNvPr>
          <p:cNvSpPr txBox="1">
            <a:spLocks/>
          </p:cNvSpPr>
          <p:nvPr/>
        </p:nvSpPr>
        <p:spPr>
          <a:xfrm rot="16200000">
            <a:off x="-251633" y="2250588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Certification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A53C30-1C44-4E79-BB6B-72D378548431}"/>
              </a:ext>
            </a:extLst>
          </p:cNvPr>
          <p:cNvSpPr/>
          <p:nvPr/>
        </p:nvSpPr>
        <p:spPr>
          <a:xfrm>
            <a:off x="201871" y="3640360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2E0BA66-ECEA-4555-B007-9BB5931CC730}"/>
              </a:ext>
            </a:extLst>
          </p:cNvPr>
          <p:cNvSpPr txBox="1">
            <a:spLocks/>
          </p:cNvSpPr>
          <p:nvPr/>
        </p:nvSpPr>
        <p:spPr>
          <a:xfrm rot="16200000">
            <a:off x="-258021" y="4617725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BCF744-2E8E-4392-8F19-CD2DD408FAD9}"/>
              </a:ext>
            </a:extLst>
          </p:cNvPr>
          <p:cNvSpPr/>
          <p:nvPr/>
        </p:nvSpPr>
        <p:spPr>
          <a:xfrm>
            <a:off x="990600" y="1333936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725E926E-4A91-4EB1-ABC4-8E0ACA613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181" y="1187990"/>
            <a:ext cx="322060" cy="3220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427540B-F8B0-4173-A695-73621D557D87}"/>
              </a:ext>
            </a:extLst>
          </p:cNvPr>
          <p:cNvSpPr txBox="1"/>
          <p:nvPr/>
        </p:nvSpPr>
        <p:spPr>
          <a:xfrm>
            <a:off x="955532" y="1035327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B27293-D7DE-4D8B-92C7-F19439D17318}"/>
              </a:ext>
            </a:extLst>
          </p:cNvPr>
          <p:cNvSpPr/>
          <p:nvPr/>
        </p:nvSpPr>
        <p:spPr>
          <a:xfrm>
            <a:off x="990600" y="3727609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8BB2E400-1EFF-4E93-AEA9-AF7D38512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181" y="3581663"/>
            <a:ext cx="322060" cy="32206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61906AA-A260-4A95-9FAF-E296101D8F96}"/>
              </a:ext>
            </a:extLst>
          </p:cNvPr>
          <p:cNvSpPr txBox="1"/>
          <p:nvPr/>
        </p:nvSpPr>
        <p:spPr>
          <a:xfrm>
            <a:off x="955532" y="3429000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F6D61D2-ED47-49CD-B1D5-273C88874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0007" y="2140302"/>
            <a:ext cx="584438" cy="58443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E29794D-752D-4FD2-9F82-21A5A7D41C1B}"/>
              </a:ext>
            </a:extLst>
          </p:cNvPr>
          <p:cNvSpPr/>
          <p:nvPr/>
        </p:nvSpPr>
        <p:spPr>
          <a:xfrm>
            <a:off x="7434932" y="1906769"/>
            <a:ext cx="1742786" cy="1089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0CFF10D-70FD-4320-90B1-FCC41D2D9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3480" y="2138660"/>
            <a:ext cx="563620" cy="56362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8B77C5B-3805-4E92-996D-009A31EC34BB}"/>
              </a:ext>
            </a:extLst>
          </p:cNvPr>
          <p:cNvSpPr/>
          <p:nvPr/>
        </p:nvSpPr>
        <p:spPr>
          <a:xfrm>
            <a:off x="9406657" y="1908785"/>
            <a:ext cx="1670278" cy="1089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21A799E-72A4-49B4-93B5-4AAFA6B46540}"/>
              </a:ext>
            </a:extLst>
          </p:cNvPr>
          <p:cNvGrpSpPr/>
          <p:nvPr/>
        </p:nvGrpSpPr>
        <p:grpSpPr>
          <a:xfrm>
            <a:off x="7571084" y="1850286"/>
            <a:ext cx="322175" cy="192940"/>
            <a:chOff x="2495256" y="4943317"/>
            <a:chExt cx="322175" cy="19294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8E453FD-AA78-46DB-85AE-1B1436ADD432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4DEFB34-0FE8-4733-A848-2F7CDB69A7F5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741C6B4-7019-4B22-90B4-58AF1CA89D9C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87EF6A7-2001-4FC8-AD5A-A4BABD2CF459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9BE72CF-A3DF-4F87-A310-C9F1AEAC71C5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FC7C16A-C797-4488-BDBC-0C4AFF3ED69F}"/>
              </a:ext>
            </a:extLst>
          </p:cNvPr>
          <p:cNvGrpSpPr/>
          <p:nvPr/>
        </p:nvGrpSpPr>
        <p:grpSpPr>
          <a:xfrm>
            <a:off x="9543248" y="1842852"/>
            <a:ext cx="322175" cy="192940"/>
            <a:chOff x="2495256" y="4943317"/>
            <a:chExt cx="322175" cy="192940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BD9ADDC-E0D7-4582-B437-AB3CA82919B6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9CE19D4-60ED-4D28-B2CA-59622C5EF558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305642E-56B8-4376-BFE3-6D6A333E214E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05FDA64-6DDA-4C02-A62D-B966A61A86AC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B0411E8-9ACE-41F0-8260-20C103B3A431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DC58AD-4712-B6A8-3C7C-E5FB0FA95F8D}"/>
              </a:ext>
            </a:extLst>
          </p:cNvPr>
          <p:cNvSpPr txBox="1"/>
          <p:nvPr/>
        </p:nvSpPr>
        <p:spPr>
          <a:xfrm>
            <a:off x="3439931" y="1630284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Infra4</a:t>
            </a:r>
            <a:endParaRPr lang="it-IT" sz="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A5B8C-FAD0-C20A-1E54-9A2D5931C2FD}"/>
              </a:ext>
            </a:extLst>
          </p:cNvPr>
          <p:cNvSpPr/>
          <p:nvPr/>
        </p:nvSpPr>
        <p:spPr>
          <a:xfrm>
            <a:off x="3450539" y="1911007"/>
            <a:ext cx="1742786" cy="1089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92AD2C-E76B-566E-4269-6A75F1729E43}"/>
              </a:ext>
            </a:extLst>
          </p:cNvPr>
          <p:cNvGrpSpPr/>
          <p:nvPr/>
        </p:nvGrpSpPr>
        <p:grpSpPr>
          <a:xfrm>
            <a:off x="3586691" y="1854524"/>
            <a:ext cx="322175" cy="192940"/>
            <a:chOff x="2495256" y="4943317"/>
            <a:chExt cx="322175" cy="19294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23FC31-0DAF-A85A-4CBB-A521594079EE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63D315B-466D-ADD8-4EA5-91798C60A6BF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7812D2C-F82A-E825-59CB-D1C26549A748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AA24B81-D031-A45D-D6AD-125633E5E1F1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ACC13FD-AFDC-1146-6AE6-CEA1B13858AB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7364185-A6B5-F012-CDC3-D6AFA85A982E}"/>
              </a:ext>
            </a:extLst>
          </p:cNvPr>
          <p:cNvSpPr txBox="1"/>
          <p:nvPr/>
        </p:nvSpPr>
        <p:spPr>
          <a:xfrm>
            <a:off x="3485608" y="2704421"/>
            <a:ext cx="17427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databricks_ui_api</a:t>
            </a:r>
            <a:r>
              <a:rPr lang="en-US" sz="800"/>
              <a:t> - 10.200.44.108</a:t>
            </a:r>
            <a:endParaRPr lang="it-IT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40E64A-6664-9C30-BD3C-4DC9B0142B66}"/>
              </a:ext>
            </a:extLst>
          </p:cNvPr>
          <p:cNvSpPr txBox="1"/>
          <p:nvPr/>
        </p:nvSpPr>
        <p:spPr>
          <a:xfrm>
            <a:off x="3448636" y="3975791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Infra6</a:t>
            </a:r>
            <a:endParaRPr lang="it-IT" sz="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0EF5D9-EC5E-E042-DA34-E6059C64E612}"/>
              </a:ext>
            </a:extLst>
          </p:cNvPr>
          <p:cNvSpPr/>
          <p:nvPr/>
        </p:nvSpPr>
        <p:spPr>
          <a:xfrm>
            <a:off x="3459244" y="4256514"/>
            <a:ext cx="1742786" cy="108977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DA98D7-0F88-B98A-3923-8D6E3676BAF6}"/>
              </a:ext>
            </a:extLst>
          </p:cNvPr>
          <p:cNvGrpSpPr/>
          <p:nvPr/>
        </p:nvGrpSpPr>
        <p:grpSpPr>
          <a:xfrm>
            <a:off x="3595396" y="4200031"/>
            <a:ext cx="322175" cy="192940"/>
            <a:chOff x="2495256" y="4943317"/>
            <a:chExt cx="322175" cy="19294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54B493D-CE7E-07C2-9E26-8E48E0225EA7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3564670-BA52-576A-316C-EC4042DA7127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CACE34F-812F-5E23-31C7-84C8B620785F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4844245-B9E9-DDC7-0BBF-DE539BCDF955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86FFD0D-8C20-71B8-BA21-EBFE0B06774D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4B96580-DFD2-2AB0-3634-7D452A6E8F78}"/>
              </a:ext>
            </a:extLst>
          </p:cNvPr>
          <p:cNvSpPr txBox="1"/>
          <p:nvPr/>
        </p:nvSpPr>
        <p:spPr>
          <a:xfrm>
            <a:off x="3494313" y="5049928"/>
            <a:ext cx="17427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databricks_ui_api</a:t>
            </a:r>
            <a:r>
              <a:rPr lang="en-US" sz="800"/>
              <a:t> - 10.200.44.168</a:t>
            </a:r>
            <a:endParaRPr lang="it-IT" sz="800"/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AF03BDE6-05A2-F8A3-6781-A9B1AACF61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0815" y="4679705"/>
            <a:ext cx="262234" cy="262234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A6F0C1EC-BC2C-0698-1046-3D7C8AE5D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3471" y="2311468"/>
            <a:ext cx="262234" cy="2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26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FEE1-0193-45C7-AB7E-67F93904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067" y="303885"/>
            <a:ext cx="11182248" cy="425095"/>
          </a:xfrm>
        </p:spPr>
        <p:txBody>
          <a:bodyPr/>
          <a:lstStyle/>
          <a:p>
            <a:r>
              <a:rPr lang="en-US"/>
              <a:t>ADA SaaS: Storage account view</a:t>
            </a:r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9725D0-1F07-46D9-A5D4-705BAB9ABFD6}"/>
              </a:ext>
            </a:extLst>
          </p:cNvPr>
          <p:cNvSpPr/>
          <p:nvPr/>
        </p:nvSpPr>
        <p:spPr>
          <a:xfrm>
            <a:off x="208259" y="1273223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7633CB-39FE-4A55-B5D0-59D81199BF21}"/>
              </a:ext>
            </a:extLst>
          </p:cNvPr>
          <p:cNvSpPr/>
          <p:nvPr/>
        </p:nvSpPr>
        <p:spPr>
          <a:xfrm>
            <a:off x="990600" y="1333936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1A00F36-1B20-448C-9491-551CA7C8E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81" y="1187990"/>
            <a:ext cx="322060" cy="322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377AD6-BA59-4DE4-A820-4CBEF215DA1E}"/>
              </a:ext>
            </a:extLst>
          </p:cNvPr>
          <p:cNvSpPr txBox="1"/>
          <p:nvPr/>
        </p:nvSpPr>
        <p:spPr>
          <a:xfrm>
            <a:off x="955532" y="1035327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15927-57E9-44B4-8C9F-0CC6AAEDB179}"/>
              </a:ext>
            </a:extLst>
          </p:cNvPr>
          <p:cNvSpPr/>
          <p:nvPr/>
        </p:nvSpPr>
        <p:spPr>
          <a:xfrm>
            <a:off x="1518999" y="1757924"/>
            <a:ext cx="9699841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83DF84-A598-4781-A516-EB65A29E1482}"/>
              </a:ext>
            </a:extLst>
          </p:cNvPr>
          <p:cNvGrpSpPr/>
          <p:nvPr/>
        </p:nvGrpSpPr>
        <p:grpSpPr>
          <a:xfrm>
            <a:off x="1936170" y="1682190"/>
            <a:ext cx="322175" cy="192940"/>
            <a:chOff x="2495256" y="4943317"/>
            <a:chExt cx="322175" cy="19294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4C0BD06-B66D-44A0-B956-5B002E0560FF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0E40BE-BC74-48F7-B6A7-1C3BCD592361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0A0F0B3-D0D2-4ADD-AE3A-DF1C0E801A45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7736CD-F012-445A-8B59-3DF1C052396E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B481E4-294A-468F-98A3-5F80A6DBBC8F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2CD7837-B451-4327-9E43-FE0A6189ACA3}"/>
              </a:ext>
            </a:extLst>
          </p:cNvPr>
          <p:cNvSpPr txBox="1"/>
          <p:nvPr/>
        </p:nvSpPr>
        <p:spPr>
          <a:xfrm>
            <a:off x="1232211" y="1475941"/>
            <a:ext cx="18278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infra3 10.200.44.64/27 (certification)</a:t>
            </a:r>
            <a:endParaRPr lang="it-IT" sz="80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6CE7572-EA1A-4B41-9DFA-C172C8C51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0746" y="2289996"/>
            <a:ext cx="443791" cy="443791"/>
          </a:xfrm>
          <a:prstGeom prst="rect">
            <a:avLst/>
          </a:prstGeom>
        </p:spPr>
      </p:pic>
      <p:sp>
        <p:nvSpPr>
          <p:cNvPr id="76" name="Title 1">
            <a:extLst>
              <a:ext uri="{FF2B5EF4-FFF2-40B4-BE49-F238E27FC236}">
                <a16:creationId xmlns:a16="http://schemas.microsoft.com/office/drawing/2014/main" id="{B35C332F-6E7F-4400-91F0-836AC1664A38}"/>
              </a:ext>
            </a:extLst>
          </p:cNvPr>
          <p:cNvSpPr txBox="1">
            <a:spLocks/>
          </p:cNvSpPr>
          <p:nvPr/>
        </p:nvSpPr>
        <p:spPr>
          <a:xfrm rot="16200000">
            <a:off x="-251633" y="2250588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Certification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0B8D5D3-6658-415E-ACE3-B4E39285DE82}"/>
              </a:ext>
            </a:extLst>
          </p:cNvPr>
          <p:cNvSpPr/>
          <p:nvPr/>
        </p:nvSpPr>
        <p:spPr>
          <a:xfrm>
            <a:off x="201871" y="3640360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4B48559C-3075-4F28-B7EF-08A34EF8F152}"/>
              </a:ext>
            </a:extLst>
          </p:cNvPr>
          <p:cNvSpPr txBox="1">
            <a:spLocks/>
          </p:cNvSpPr>
          <p:nvPr/>
        </p:nvSpPr>
        <p:spPr>
          <a:xfrm rot="16200000">
            <a:off x="-258021" y="4617725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B8D79928-B07B-4CAA-B0AC-1CD9AA96B4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7458" y="1969170"/>
            <a:ext cx="262234" cy="26223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80E04335-F069-4E2B-8FAD-AEC1020DD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9549" y="2368577"/>
            <a:ext cx="262234" cy="262234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D26039C-2DDD-4487-AA2E-18BCCD6AA8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9549" y="2718086"/>
            <a:ext cx="262234" cy="262234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43EAB22E-A85C-46CA-BAD7-413C878A6F2B}"/>
              </a:ext>
            </a:extLst>
          </p:cNvPr>
          <p:cNvSpPr txBox="1"/>
          <p:nvPr/>
        </p:nvSpPr>
        <p:spPr>
          <a:xfrm>
            <a:off x="5961783" y="1969972"/>
            <a:ext cx="2582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cfoadaadslgen2dlcert_pepadfs – 10.200.44.84</a:t>
            </a:r>
            <a:endParaRPr lang="it-IT" sz="9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C81934-DC27-4A99-996A-0FED11A5ED4A}"/>
              </a:ext>
            </a:extLst>
          </p:cNvPr>
          <p:cNvSpPr txBox="1"/>
          <p:nvPr/>
        </p:nvSpPr>
        <p:spPr>
          <a:xfrm>
            <a:off x="5953915" y="2393960"/>
            <a:ext cx="2557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cfoadaadslgen2dlcert_pepblob – 10.200.44.81</a:t>
            </a:r>
            <a:endParaRPr lang="it-IT" sz="9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111464-12F4-4414-9DB2-0B9D37116F07}"/>
              </a:ext>
            </a:extLst>
          </p:cNvPr>
          <p:cNvSpPr txBox="1"/>
          <p:nvPr/>
        </p:nvSpPr>
        <p:spPr>
          <a:xfrm>
            <a:off x="5987039" y="2733787"/>
            <a:ext cx="2486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cfoadaadslgen2dlcert_pepfile – 10.200.44.88</a:t>
            </a:r>
            <a:endParaRPr lang="it-IT" sz="90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6D69F83-86AF-4AAE-A580-CCFED709A3EF}"/>
              </a:ext>
            </a:extLst>
          </p:cNvPr>
          <p:cNvCxnSpPr>
            <a:stCxn id="38" idx="3"/>
            <a:endCxn id="79" idx="1"/>
          </p:cNvCxnSpPr>
          <p:nvPr/>
        </p:nvCxnSpPr>
        <p:spPr>
          <a:xfrm flipV="1">
            <a:off x="4174537" y="2100287"/>
            <a:ext cx="1532921" cy="411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6F41FAA-8129-4262-9177-885D73E9CD77}"/>
              </a:ext>
            </a:extLst>
          </p:cNvPr>
          <p:cNvCxnSpPr>
            <a:stCxn id="38" idx="3"/>
            <a:endCxn id="80" idx="1"/>
          </p:cNvCxnSpPr>
          <p:nvPr/>
        </p:nvCxnSpPr>
        <p:spPr>
          <a:xfrm flipV="1">
            <a:off x="4174537" y="2499694"/>
            <a:ext cx="1525012" cy="12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12E5A72-9157-4007-9E98-7740FAD1A2BB}"/>
              </a:ext>
            </a:extLst>
          </p:cNvPr>
          <p:cNvCxnSpPr>
            <a:stCxn id="38" idx="3"/>
            <a:endCxn id="81" idx="1"/>
          </p:cNvCxnSpPr>
          <p:nvPr/>
        </p:nvCxnSpPr>
        <p:spPr>
          <a:xfrm>
            <a:off x="4174537" y="2511892"/>
            <a:ext cx="1525012" cy="337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99D2921-7522-42C7-B9BC-EFA50188038D}"/>
              </a:ext>
            </a:extLst>
          </p:cNvPr>
          <p:cNvSpPr txBox="1"/>
          <p:nvPr/>
        </p:nvSpPr>
        <p:spPr>
          <a:xfrm>
            <a:off x="3332028" y="2710905"/>
            <a:ext cx="12811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cfoadaadslgen2dlcert</a:t>
            </a:r>
            <a:endParaRPr lang="it-IT" sz="90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8619594-B88A-4E9F-BE09-79F6B592B416}"/>
              </a:ext>
            </a:extLst>
          </p:cNvPr>
          <p:cNvSpPr/>
          <p:nvPr/>
        </p:nvSpPr>
        <p:spPr>
          <a:xfrm>
            <a:off x="990600" y="3812912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5B1C19BF-8B59-41FB-A7A9-C3C799107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81" y="3666966"/>
            <a:ext cx="322060" cy="32206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C81BFC5B-2948-4B14-8374-76B918704CFC}"/>
              </a:ext>
            </a:extLst>
          </p:cNvPr>
          <p:cNvSpPr txBox="1"/>
          <p:nvPr/>
        </p:nvSpPr>
        <p:spPr>
          <a:xfrm>
            <a:off x="955532" y="3514303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03EF9B5-88BA-4B36-995D-2BC9326CCF97}"/>
              </a:ext>
            </a:extLst>
          </p:cNvPr>
          <p:cNvSpPr/>
          <p:nvPr/>
        </p:nvSpPr>
        <p:spPr>
          <a:xfrm>
            <a:off x="1518999" y="4236900"/>
            <a:ext cx="9699841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6269AD9-660E-4B78-AA51-808C6D033E69}"/>
              </a:ext>
            </a:extLst>
          </p:cNvPr>
          <p:cNvGrpSpPr/>
          <p:nvPr/>
        </p:nvGrpSpPr>
        <p:grpSpPr>
          <a:xfrm>
            <a:off x="1936170" y="4161166"/>
            <a:ext cx="322175" cy="192940"/>
            <a:chOff x="2495256" y="4943317"/>
            <a:chExt cx="322175" cy="19294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B178B14-F038-4036-AA27-A886F2DF8F54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C2CA0F3-70D2-47C5-A919-709D76BE56BD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8086786-1B4E-411B-B43B-7DB762AF3E6F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0A3F887-6B03-4449-B932-0DA36DA191DF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F2A7868-CF3B-4C71-85BB-80E125881D29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14E26892-A167-4E8C-B86B-49BF3C7CBDE0}"/>
              </a:ext>
            </a:extLst>
          </p:cNvPr>
          <p:cNvSpPr txBox="1"/>
          <p:nvPr/>
        </p:nvSpPr>
        <p:spPr>
          <a:xfrm>
            <a:off x="1232211" y="3954917"/>
            <a:ext cx="2015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Infra5 10.200.44.128/27 (production)</a:t>
            </a:r>
            <a:endParaRPr lang="it-IT" sz="800"/>
          </a:p>
        </p:txBody>
      </p:sp>
      <p:pic>
        <p:nvPicPr>
          <p:cNvPr id="106" name="Graphic 105">
            <a:extLst>
              <a:ext uri="{FF2B5EF4-FFF2-40B4-BE49-F238E27FC236}">
                <a16:creationId xmlns:a16="http://schemas.microsoft.com/office/drawing/2014/main" id="{738A07EA-0E22-4510-9EEC-C5232E28E3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0746" y="4768972"/>
            <a:ext cx="443791" cy="443791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FF5D91FC-DB43-441E-8C74-531F76FD66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7458" y="4448146"/>
            <a:ext cx="262234" cy="262234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02580060-2DFF-43B9-BC2C-132F849237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9549" y="4847553"/>
            <a:ext cx="262234" cy="262234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D340444D-BE73-4D0D-B6F8-D038DD4A5C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99549" y="5197062"/>
            <a:ext cx="262234" cy="262234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75C22BD-939F-419F-B9E4-7785C47E5355}"/>
              </a:ext>
            </a:extLst>
          </p:cNvPr>
          <p:cNvSpPr txBox="1"/>
          <p:nvPr/>
        </p:nvSpPr>
        <p:spPr>
          <a:xfrm>
            <a:off x="5961783" y="4448948"/>
            <a:ext cx="2659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cfoadaadslgen2dlprod_pepadfs – 10.200.44.141</a:t>
            </a:r>
            <a:endParaRPr lang="it-IT" sz="9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04827AE-BBA4-4E7D-AEA7-92B1BFC7B56D}"/>
              </a:ext>
            </a:extLst>
          </p:cNvPr>
          <p:cNvSpPr txBox="1"/>
          <p:nvPr/>
        </p:nvSpPr>
        <p:spPr>
          <a:xfrm>
            <a:off x="5953915" y="4872936"/>
            <a:ext cx="2659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cfoadaadslgen2dlprod_pepblob – 10.200.44.139</a:t>
            </a:r>
            <a:endParaRPr lang="it-IT" sz="9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C8B882F-4DCC-4DD9-9BB7-3A8FC73E7BD9}"/>
              </a:ext>
            </a:extLst>
          </p:cNvPr>
          <p:cNvSpPr txBox="1"/>
          <p:nvPr/>
        </p:nvSpPr>
        <p:spPr>
          <a:xfrm>
            <a:off x="5987039" y="5212763"/>
            <a:ext cx="25891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cfoadaadslgen2dlprod_pepfile – 10.200.44.145</a:t>
            </a:r>
            <a:endParaRPr lang="it-IT" sz="90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B7BCC22-D873-4DDD-AC29-0D8026EC4AA8}"/>
              </a:ext>
            </a:extLst>
          </p:cNvPr>
          <p:cNvCxnSpPr>
            <a:stCxn id="106" idx="3"/>
            <a:endCxn id="107" idx="1"/>
          </p:cNvCxnSpPr>
          <p:nvPr/>
        </p:nvCxnSpPr>
        <p:spPr>
          <a:xfrm flipV="1">
            <a:off x="4174537" y="4579263"/>
            <a:ext cx="1532921" cy="411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2D53BA5-3217-4B3C-91B2-DB5E74F3A737}"/>
              </a:ext>
            </a:extLst>
          </p:cNvPr>
          <p:cNvCxnSpPr>
            <a:stCxn id="106" idx="3"/>
            <a:endCxn id="108" idx="1"/>
          </p:cNvCxnSpPr>
          <p:nvPr/>
        </p:nvCxnSpPr>
        <p:spPr>
          <a:xfrm flipV="1">
            <a:off x="4174537" y="4978670"/>
            <a:ext cx="1525012" cy="12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0398D9F-2341-40EB-9D37-D799E1535F08}"/>
              </a:ext>
            </a:extLst>
          </p:cNvPr>
          <p:cNvCxnSpPr>
            <a:stCxn id="106" idx="3"/>
            <a:endCxn id="109" idx="1"/>
          </p:cNvCxnSpPr>
          <p:nvPr/>
        </p:nvCxnSpPr>
        <p:spPr>
          <a:xfrm>
            <a:off x="4174537" y="4990868"/>
            <a:ext cx="1525012" cy="337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0F7DE98-E2BA-4248-8017-AA64288BF94D}"/>
              </a:ext>
            </a:extLst>
          </p:cNvPr>
          <p:cNvSpPr txBox="1"/>
          <p:nvPr/>
        </p:nvSpPr>
        <p:spPr>
          <a:xfrm>
            <a:off x="3332028" y="5189881"/>
            <a:ext cx="1319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cfoadaadslgen2dlprod</a:t>
            </a: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289419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FEE1-0193-45C7-AB7E-67F93904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067" y="303885"/>
            <a:ext cx="11182248" cy="425095"/>
          </a:xfrm>
        </p:spPr>
        <p:txBody>
          <a:bodyPr/>
          <a:lstStyle/>
          <a:p>
            <a:r>
              <a:rPr lang="en-US"/>
              <a:t>ADA PaaS: Automation account view</a:t>
            </a:r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9725D0-1F07-46D9-A5D4-705BAB9ABFD6}"/>
              </a:ext>
            </a:extLst>
          </p:cNvPr>
          <p:cNvSpPr/>
          <p:nvPr/>
        </p:nvSpPr>
        <p:spPr>
          <a:xfrm>
            <a:off x="208259" y="1273223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7633CB-39FE-4A55-B5D0-59D81199BF21}"/>
              </a:ext>
            </a:extLst>
          </p:cNvPr>
          <p:cNvSpPr/>
          <p:nvPr/>
        </p:nvSpPr>
        <p:spPr>
          <a:xfrm>
            <a:off x="990600" y="1333936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1A00F36-1B20-448C-9491-551CA7C8E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81" y="1187990"/>
            <a:ext cx="322060" cy="322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377AD6-BA59-4DE4-A820-4CBEF215DA1E}"/>
              </a:ext>
            </a:extLst>
          </p:cNvPr>
          <p:cNvSpPr txBox="1"/>
          <p:nvPr/>
        </p:nvSpPr>
        <p:spPr>
          <a:xfrm>
            <a:off x="955532" y="1035327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15927-57E9-44B4-8C9F-0CC6AAEDB179}"/>
              </a:ext>
            </a:extLst>
          </p:cNvPr>
          <p:cNvSpPr/>
          <p:nvPr/>
        </p:nvSpPr>
        <p:spPr>
          <a:xfrm>
            <a:off x="1519000" y="1757924"/>
            <a:ext cx="3413728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83DF84-A598-4781-A516-EB65A29E1482}"/>
              </a:ext>
            </a:extLst>
          </p:cNvPr>
          <p:cNvGrpSpPr/>
          <p:nvPr/>
        </p:nvGrpSpPr>
        <p:grpSpPr>
          <a:xfrm>
            <a:off x="1936170" y="1682190"/>
            <a:ext cx="322175" cy="192940"/>
            <a:chOff x="2495256" y="4943317"/>
            <a:chExt cx="322175" cy="19294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4C0BD06-B66D-44A0-B956-5B002E0560FF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0E40BE-BC74-48F7-B6A7-1C3BCD592361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0A0F0B3-D0D2-4ADD-AE3A-DF1C0E801A45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7736CD-F012-445A-8B59-3DF1C052396E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B481E4-294A-468F-98A3-5F80A6DBBC8F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2CD7837-B451-4327-9E43-FE0A6189ACA3}"/>
              </a:ext>
            </a:extLst>
          </p:cNvPr>
          <p:cNvSpPr txBox="1"/>
          <p:nvPr/>
        </p:nvSpPr>
        <p:spPr>
          <a:xfrm>
            <a:off x="1232211" y="1475941"/>
            <a:ext cx="18278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infra3 10.200.44.64/27 (certification)</a:t>
            </a:r>
            <a:endParaRPr lang="it-IT" sz="800"/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B35C332F-6E7F-4400-91F0-836AC1664A38}"/>
              </a:ext>
            </a:extLst>
          </p:cNvPr>
          <p:cNvSpPr txBox="1">
            <a:spLocks/>
          </p:cNvSpPr>
          <p:nvPr/>
        </p:nvSpPr>
        <p:spPr>
          <a:xfrm rot="16200000">
            <a:off x="-251633" y="2250588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Certification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0B8D5D3-6658-415E-ACE3-B4E39285DE82}"/>
              </a:ext>
            </a:extLst>
          </p:cNvPr>
          <p:cNvSpPr/>
          <p:nvPr/>
        </p:nvSpPr>
        <p:spPr>
          <a:xfrm>
            <a:off x="201871" y="3640360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4B48559C-3075-4F28-B7EF-08A34EF8F152}"/>
              </a:ext>
            </a:extLst>
          </p:cNvPr>
          <p:cNvSpPr txBox="1">
            <a:spLocks/>
          </p:cNvSpPr>
          <p:nvPr/>
        </p:nvSpPr>
        <p:spPr>
          <a:xfrm rot="16200000">
            <a:off x="-258021" y="4617725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B8D79928-B07B-4CAA-B0AC-1CD9AA96B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7458" y="1969170"/>
            <a:ext cx="262234" cy="26223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80E04335-F069-4E2B-8FAD-AEC1020DD9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9549" y="2368577"/>
            <a:ext cx="262234" cy="262234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43EAB22E-A85C-46CA-BAD7-413C878A6F2B}"/>
              </a:ext>
            </a:extLst>
          </p:cNvPr>
          <p:cNvSpPr txBox="1"/>
          <p:nvPr/>
        </p:nvSpPr>
        <p:spPr>
          <a:xfrm>
            <a:off x="5961783" y="1969972"/>
            <a:ext cx="31534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pe-</a:t>
            </a:r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automationaccount</a:t>
            </a:r>
            <a:r>
              <a:rPr lang="en-US" sz="900"/>
              <a:t>-cert-webhook – 10.200.44.112</a:t>
            </a:r>
            <a:endParaRPr lang="it-IT" sz="9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C81934-DC27-4A99-996A-0FED11A5ED4A}"/>
              </a:ext>
            </a:extLst>
          </p:cNvPr>
          <p:cNvSpPr txBox="1"/>
          <p:nvPr/>
        </p:nvSpPr>
        <p:spPr>
          <a:xfrm>
            <a:off x="5953915" y="2393960"/>
            <a:ext cx="41857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pe-</a:t>
            </a:r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automationaccount</a:t>
            </a:r>
            <a:r>
              <a:rPr lang="en-US" sz="900"/>
              <a:t>-cert-</a:t>
            </a:r>
            <a:r>
              <a:rPr lang="en-US" sz="900" err="1"/>
              <a:t>hybridworker</a:t>
            </a:r>
            <a:r>
              <a:rPr lang="en-US" sz="900"/>
              <a:t> – 10.200.44.113 / 10.200.44.114</a:t>
            </a:r>
            <a:endParaRPr lang="it-IT" sz="90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6D69F83-86AF-4AAE-A580-CCFED709A3EF}"/>
              </a:ext>
            </a:extLst>
          </p:cNvPr>
          <p:cNvCxnSpPr>
            <a:cxnSpLocks/>
            <a:stCxn id="5" idx="3"/>
            <a:endCxn id="79" idx="1"/>
          </p:cNvCxnSpPr>
          <p:nvPr/>
        </p:nvCxnSpPr>
        <p:spPr>
          <a:xfrm flipV="1">
            <a:off x="4055760" y="2100287"/>
            <a:ext cx="1651698" cy="212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6F41FAA-8129-4262-9177-885D73E9CD77}"/>
              </a:ext>
            </a:extLst>
          </p:cNvPr>
          <p:cNvCxnSpPr>
            <a:cxnSpLocks/>
            <a:stCxn id="5" idx="3"/>
            <a:endCxn id="80" idx="1"/>
          </p:cNvCxnSpPr>
          <p:nvPr/>
        </p:nvCxnSpPr>
        <p:spPr>
          <a:xfrm>
            <a:off x="4055760" y="2312980"/>
            <a:ext cx="1643789" cy="186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99D2921-7522-42C7-B9BC-EFA50188038D}"/>
              </a:ext>
            </a:extLst>
          </p:cNvPr>
          <p:cNvSpPr txBox="1"/>
          <p:nvPr/>
        </p:nvSpPr>
        <p:spPr>
          <a:xfrm>
            <a:off x="3041190" y="2551499"/>
            <a:ext cx="1620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automationaccount</a:t>
            </a:r>
            <a:r>
              <a:rPr lang="en-US" sz="900"/>
              <a:t>-cert</a:t>
            </a:r>
            <a:endParaRPr lang="it-IT" sz="90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8619594-B88A-4E9F-BE09-79F6B592B416}"/>
              </a:ext>
            </a:extLst>
          </p:cNvPr>
          <p:cNvSpPr/>
          <p:nvPr/>
        </p:nvSpPr>
        <p:spPr>
          <a:xfrm>
            <a:off x="990600" y="3812912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5B1C19BF-8B59-41FB-A7A9-C3C799107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81" y="3666966"/>
            <a:ext cx="322060" cy="32206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C81BFC5B-2948-4B14-8374-76B918704CFC}"/>
              </a:ext>
            </a:extLst>
          </p:cNvPr>
          <p:cNvSpPr txBox="1"/>
          <p:nvPr/>
        </p:nvSpPr>
        <p:spPr>
          <a:xfrm>
            <a:off x="955532" y="3514303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03EF9B5-88BA-4B36-995D-2BC9326CCF97}"/>
              </a:ext>
            </a:extLst>
          </p:cNvPr>
          <p:cNvSpPr/>
          <p:nvPr/>
        </p:nvSpPr>
        <p:spPr>
          <a:xfrm>
            <a:off x="1518999" y="4236900"/>
            <a:ext cx="3586881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6269AD9-660E-4B78-AA51-808C6D033E69}"/>
              </a:ext>
            </a:extLst>
          </p:cNvPr>
          <p:cNvGrpSpPr/>
          <p:nvPr/>
        </p:nvGrpSpPr>
        <p:grpSpPr>
          <a:xfrm>
            <a:off x="1936170" y="4161166"/>
            <a:ext cx="322175" cy="192940"/>
            <a:chOff x="2495256" y="4943317"/>
            <a:chExt cx="322175" cy="19294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B178B14-F038-4036-AA27-A886F2DF8F54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C2CA0F3-70D2-47C5-A919-709D76BE56BD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8086786-1B4E-411B-B43B-7DB762AF3E6F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0A3F887-6B03-4449-B932-0DA36DA191DF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F2A7868-CF3B-4C71-85BB-80E125881D29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14E26892-A167-4E8C-B86B-49BF3C7CBDE0}"/>
              </a:ext>
            </a:extLst>
          </p:cNvPr>
          <p:cNvSpPr txBox="1"/>
          <p:nvPr/>
        </p:nvSpPr>
        <p:spPr>
          <a:xfrm>
            <a:off x="1232211" y="3954917"/>
            <a:ext cx="2015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Infra5 10.200.44.128/27 (production)</a:t>
            </a:r>
            <a:endParaRPr lang="it-IT" sz="800"/>
          </a:p>
        </p:txBody>
      </p:sp>
      <p:pic>
        <p:nvPicPr>
          <p:cNvPr id="107" name="Graphic 106">
            <a:extLst>
              <a:ext uri="{FF2B5EF4-FFF2-40B4-BE49-F238E27FC236}">
                <a16:creationId xmlns:a16="http://schemas.microsoft.com/office/drawing/2014/main" id="{FF5D91FC-DB43-441E-8C74-531F76FD6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7458" y="4448146"/>
            <a:ext cx="262234" cy="262234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02580060-2DFF-43B9-BC2C-132F849237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9549" y="4847553"/>
            <a:ext cx="262234" cy="262234"/>
          </a:xfrm>
          <a:prstGeom prst="rect">
            <a:avLst/>
          </a:prstGeom>
        </p:spPr>
      </p:pic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B7BCC22-D873-4DDD-AC29-0D8026EC4AA8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4092434" y="4579263"/>
            <a:ext cx="1615024" cy="212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2D53BA5-3217-4B3C-91B2-DB5E74F3A737}"/>
              </a:ext>
            </a:extLst>
          </p:cNvPr>
          <p:cNvCxnSpPr>
            <a:cxnSpLocks/>
            <a:stCxn id="7" idx="3"/>
            <a:endCxn id="108" idx="1"/>
          </p:cNvCxnSpPr>
          <p:nvPr/>
        </p:nvCxnSpPr>
        <p:spPr>
          <a:xfrm>
            <a:off x="4092434" y="4792012"/>
            <a:ext cx="1607115" cy="186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55136FE6-69E3-163D-4E51-B0A432B89A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4156" y="2107178"/>
            <a:ext cx="411604" cy="411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18068-BD53-A701-6712-388AF33D36C3}"/>
              </a:ext>
            </a:extLst>
          </p:cNvPr>
          <p:cNvSpPr txBox="1"/>
          <p:nvPr/>
        </p:nvSpPr>
        <p:spPr>
          <a:xfrm>
            <a:off x="3206451" y="4967983"/>
            <a:ext cx="16594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automationaccount</a:t>
            </a:r>
            <a:r>
              <a:rPr lang="en-US" sz="900"/>
              <a:t>-prod</a:t>
            </a:r>
            <a:endParaRPr lang="it-IT" sz="9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D277258-F3AA-33AF-7256-80396DEF4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0830" y="4586210"/>
            <a:ext cx="411604" cy="4116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2A05FF-45C9-D7A2-8FFD-C92EFF34F08F}"/>
              </a:ext>
            </a:extLst>
          </p:cNvPr>
          <p:cNvSpPr/>
          <p:nvPr/>
        </p:nvSpPr>
        <p:spPr>
          <a:xfrm>
            <a:off x="5084908" y="1738467"/>
            <a:ext cx="6257007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55B809-DE43-4CC2-8E16-E5620095A053}"/>
              </a:ext>
            </a:extLst>
          </p:cNvPr>
          <p:cNvGrpSpPr/>
          <p:nvPr/>
        </p:nvGrpSpPr>
        <p:grpSpPr>
          <a:xfrm>
            <a:off x="5502079" y="1662733"/>
            <a:ext cx="322175" cy="192940"/>
            <a:chOff x="2495256" y="4943317"/>
            <a:chExt cx="322175" cy="19294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96F4F7-A70A-E996-BFC5-1074221799A5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9FCBC61-C2EA-72F5-2EE2-5A3D1365CAFF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02FD48-D57E-F853-6C25-29433928DBEF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CFC0A28-9FE5-9E1D-0E5E-CB5E4A7F9981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AE2D20-CBBE-32D3-B47F-CA8ABCD5E6C8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EAEE334-78E3-5BEE-D6C5-78440D2D4DA7}"/>
              </a:ext>
            </a:extLst>
          </p:cNvPr>
          <p:cNvSpPr txBox="1"/>
          <p:nvPr/>
        </p:nvSpPr>
        <p:spPr>
          <a:xfrm>
            <a:off x="4798120" y="1456484"/>
            <a:ext cx="18278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infra4 10.200.44.96/27 (certification)</a:t>
            </a:r>
            <a:endParaRPr lang="it-IT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54199-0EEA-8348-6AEF-5375E8BFA065}"/>
              </a:ext>
            </a:extLst>
          </p:cNvPr>
          <p:cNvSpPr txBox="1"/>
          <p:nvPr/>
        </p:nvSpPr>
        <p:spPr>
          <a:xfrm>
            <a:off x="5977560" y="4513629"/>
            <a:ext cx="31918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pe-</a:t>
            </a:r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automationaccount</a:t>
            </a:r>
            <a:r>
              <a:rPr lang="en-US" sz="900"/>
              <a:t>-prod-webhook – 10.200.44.170</a:t>
            </a:r>
            <a:endParaRPr lang="it-IT" sz="9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7F7EC5-AD5C-9746-FAE6-D631FCBC00B0}"/>
              </a:ext>
            </a:extLst>
          </p:cNvPr>
          <p:cNvSpPr txBox="1"/>
          <p:nvPr/>
        </p:nvSpPr>
        <p:spPr>
          <a:xfrm>
            <a:off x="5969692" y="4937617"/>
            <a:ext cx="42242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pe-</a:t>
            </a:r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automationaccount</a:t>
            </a:r>
            <a:r>
              <a:rPr lang="en-US" sz="900"/>
              <a:t>-prod-</a:t>
            </a:r>
            <a:r>
              <a:rPr lang="en-US" sz="900" err="1"/>
              <a:t>hybridworker</a:t>
            </a:r>
            <a:r>
              <a:rPr lang="en-US" sz="900"/>
              <a:t> – 10.200.44.172 / 10.200.44.176</a:t>
            </a:r>
            <a:endParaRPr lang="it-IT" sz="9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340188-0FF8-12AF-134D-7ACC1DD4DEA6}"/>
              </a:ext>
            </a:extLst>
          </p:cNvPr>
          <p:cNvSpPr/>
          <p:nvPr/>
        </p:nvSpPr>
        <p:spPr>
          <a:xfrm>
            <a:off x="5205137" y="4236900"/>
            <a:ext cx="6257007" cy="13937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FE53E1-69F7-1AF9-5B01-1B5865DB8949}"/>
              </a:ext>
            </a:extLst>
          </p:cNvPr>
          <p:cNvGrpSpPr/>
          <p:nvPr/>
        </p:nvGrpSpPr>
        <p:grpSpPr>
          <a:xfrm>
            <a:off x="5622308" y="4161166"/>
            <a:ext cx="322175" cy="192940"/>
            <a:chOff x="2495256" y="4943317"/>
            <a:chExt cx="322175" cy="19294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EDFF60E-EFE4-F341-3353-1CDC6455990A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E37ADF5-5071-54A5-8E63-C45DD5EF44AF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40623FA-1EDC-A603-1F94-5DB3C7A1DEB9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6AF2155-92DD-F761-319B-FDD4D15ACC25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8A7F56D-AA92-D46A-77BC-FA1BCEDF70B4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94AE5A7-D40E-E6B0-D1B3-401687B9FF20}"/>
              </a:ext>
            </a:extLst>
          </p:cNvPr>
          <p:cNvSpPr txBox="1"/>
          <p:nvPr/>
        </p:nvSpPr>
        <p:spPr>
          <a:xfrm>
            <a:off x="4918349" y="3954917"/>
            <a:ext cx="2015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infra6 10.200.44.160/27 (production)</a:t>
            </a:r>
            <a:endParaRPr lang="it-IT" sz="800"/>
          </a:p>
        </p:txBody>
      </p:sp>
    </p:spTree>
    <p:extLst>
      <p:ext uri="{BB962C8B-B14F-4D97-AF65-F5344CB8AC3E}">
        <p14:creationId xmlns:p14="http://schemas.microsoft.com/office/powerpoint/2010/main" val="558962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FEE1-0193-45C7-AB7E-67F939045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992" y="170520"/>
            <a:ext cx="11182248" cy="425095"/>
          </a:xfrm>
        </p:spPr>
        <p:txBody>
          <a:bodyPr/>
          <a:lstStyle/>
          <a:p>
            <a:r>
              <a:rPr lang="en-US"/>
              <a:t>ADA SaaS: SQL Elastic pool view</a:t>
            </a:r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08902-F522-494B-AE95-1530CED15EDE}"/>
              </a:ext>
            </a:extLst>
          </p:cNvPr>
          <p:cNvSpPr/>
          <p:nvPr/>
        </p:nvSpPr>
        <p:spPr>
          <a:xfrm>
            <a:off x="208259" y="1273223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FDF595-6624-4D9F-AB02-9A8D6FC5AE7C}"/>
              </a:ext>
            </a:extLst>
          </p:cNvPr>
          <p:cNvSpPr txBox="1">
            <a:spLocks/>
          </p:cNvSpPr>
          <p:nvPr/>
        </p:nvSpPr>
        <p:spPr>
          <a:xfrm rot="16200000">
            <a:off x="-251633" y="2250588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Certification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299EB9-9915-4F98-AC05-BF3D7561B24D}"/>
              </a:ext>
            </a:extLst>
          </p:cNvPr>
          <p:cNvSpPr/>
          <p:nvPr/>
        </p:nvSpPr>
        <p:spPr>
          <a:xfrm>
            <a:off x="201871" y="3640360"/>
            <a:ext cx="425097" cy="22817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38AB75A-73F3-490C-A168-6FB461F0E8FF}"/>
              </a:ext>
            </a:extLst>
          </p:cNvPr>
          <p:cNvSpPr txBox="1">
            <a:spLocks/>
          </p:cNvSpPr>
          <p:nvPr/>
        </p:nvSpPr>
        <p:spPr>
          <a:xfrm rot="16200000">
            <a:off x="-258021" y="4617725"/>
            <a:ext cx="140927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Production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4F6567-9ABD-47CB-B709-D17E27E8A8F4}"/>
              </a:ext>
            </a:extLst>
          </p:cNvPr>
          <p:cNvSpPr/>
          <p:nvPr/>
        </p:nvSpPr>
        <p:spPr>
          <a:xfrm>
            <a:off x="990600" y="3812912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F859434C-861E-4F7F-BD13-9C267D195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81" y="3666966"/>
            <a:ext cx="322060" cy="3220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13716A2-47E5-4285-A2A3-BB254DD0AAB4}"/>
              </a:ext>
            </a:extLst>
          </p:cNvPr>
          <p:cNvSpPr txBox="1"/>
          <p:nvPr/>
        </p:nvSpPr>
        <p:spPr>
          <a:xfrm>
            <a:off x="955532" y="3514303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3DF8F6-D25B-45EA-9363-BB82101C080F}"/>
              </a:ext>
            </a:extLst>
          </p:cNvPr>
          <p:cNvSpPr/>
          <p:nvPr/>
        </p:nvSpPr>
        <p:spPr>
          <a:xfrm>
            <a:off x="1071181" y="4236900"/>
            <a:ext cx="10574134" cy="15174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DAF4E79-67B7-4A07-81CF-CAE717A04D01}"/>
              </a:ext>
            </a:extLst>
          </p:cNvPr>
          <p:cNvGrpSpPr/>
          <p:nvPr/>
        </p:nvGrpSpPr>
        <p:grpSpPr>
          <a:xfrm>
            <a:off x="1936170" y="4161166"/>
            <a:ext cx="322175" cy="192940"/>
            <a:chOff x="2495256" y="4943317"/>
            <a:chExt cx="322175" cy="19294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885A8A3-A784-4E33-B4DC-3F7D4CA9CF19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F6F0B10-0EBF-43EF-B3AC-6FAE79758BDC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299CA9-3C18-4EF3-AE04-B2619288A986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5192014-102F-4CF4-835E-D312AE33E118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9901A47-7536-45B2-8813-42F6C9E27840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6B3B7B0-D4D7-4EC7-BA77-518090C65D9B}"/>
              </a:ext>
            </a:extLst>
          </p:cNvPr>
          <p:cNvSpPr txBox="1"/>
          <p:nvPr/>
        </p:nvSpPr>
        <p:spPr>
          <a:xfrm>
            <a:off x="1232211" y="3954917"/>
            <a:ext cx="2015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Infra5 10.200.44.128/27 (production)</a:t>
            </a:r>
            <a:endParaRPr lang="it-IT" sz="80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9A86422-1312-4F32-A39C-1B125D746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5919" y="4853248"/>
            <a:ext cx="262234" cy="26223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35CC63B-31E0-4D52-ADDD-883D52C87057}"/>
              </a:ext>
            </a:extLst>
          </p:cNvPr>
          <p:cNvSpPr txBox="1"/>
          <p:nvPr/>
        </p:nvSpPr>
        <p:spPr>
          <a:xfrm>
            <a:off x="9052156" y="5112105"/>
            <a:ext cx="2582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database-</a:t>
            </a:r>
            <a:r>
              <a:rPr lang="en-US" sz="900" err="1"/>
              <a:t>ada</a:t>
            </a:r>
            <a:r>
              <a:rPr lang="en-US" sz="900"/>
              <a:t>-</a:t>
            </a:r>
            <a:r>
              <a:rPr lang="en-US" sz="900" err="1"/>
              <a:t>privateendpoint</a:t>
            </a:r>
            <a:r>
              <a:rPr lang="en-US" sz="900"/>
              <a:t> – 10.200.44.146</a:t>
            </a:r>
            <a:endParaRPr lang="it-IT" sz="900"/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10FB98D9-858F-4617-B47E-56B31FC739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7446" y="4769111"/>
            <a:ext cx="553357" cy="553357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2D994D37-1D33-44DA-8628-EA1A5941E5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1081" y="4797719"/>
            <a:ext cx="509713" cy="509713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C0AC2A5-1ABC-4211-B78A-0F9707B3EA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2434" y="4379899"/>
            <a:ext cx="265680" cy="26568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2F83B1A-376B-468A-8E8F-B55D317850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60982" y="4665139"/>
            <a:ext cx="265680" cy="26568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C2DEA9F3-2C51-4442-AB5E-7A7230194F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71013" y="4970373"/>
            <a:ext cx="265680" cy="26568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89F076C5-D06F-439B-B15E-098DE4F9FF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76715" y="5284337"/>
            <a:ext cx="265680" cy="26568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C771AE6-C842-4FB9-80A5-C4B2FEA7A1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78397" y="4349740"/>
            <a:ext cx="265680" cy="265680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83110AE-E79A-4682-B038-DAAF51E6EC77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1900803" y="5045790"/>
            <a:ext cx="530278" cy="6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0D2E74B-9EEE-42F1-A3EF-6BE7F6D016A4}"/>
              </a:ext>
            </a:extLst>
          </p:cNvPr>
          <p:cNvSpPr txBox="1"/>
          <p:nvPr/>
        </p:nvSpPr>
        <p:spPr>
          <a:xfrm>
            <a:off x="2048103" y="4545066"/>
            <a:ext cx="9669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repos-</a:t>
            </a:r>
            <a:r>
              <a:rPr lang="en-US" sz="900" err="1"/>
              <a:t>infa</a:t>
            </a:r>
            <a:r>
              <a:rPr lang="en-US" sz="900"/>
              <a:t>-prod</a:t>
            </a:r>
            <a:endParaRPr lang="it-IT" sz="9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0901A3-7667-4975-805D-C276BAFAD961}"/>
              </a:ext>
            </a:extLst>
          </p:cNvPr>
          <p:cNvSpPr txBox="1"/>
          <p:nvPr/>
        </p:nvSpPr>
        <p:spPr>
          <a:xfrm>
            <a:off x="1019980" y="5363793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repos.-</a:t>
            </a:r>
            <a:r>
              <a:rPr lang="en-US" sz="900" err="1"/>
              <a:t>infa</a:t>
            </a:r>
            <a:r>
              <a:rPr lang="en-US" sz="900"/>
              <a:t>-prod-pool</a:t>
            </a:r>
            <a:endParaRPr lang="it-IT" sz="9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C767A9-91FE-486B-8D98-FE1A995D3533}"/>
              </a:ext>
            </a:extLst>
          </p:cNvPr>
          <p:cNvSpPr txBox="1"/>
          <p:nvPr/>
        </p:nvSpPr>
        <p:spPr>
          <a:xfrm>
            <a:off x="3387535" y="4385781"/>
            <a:ext cx="2082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ADA_ENETRPRISEPORTAL_PROD</a:t>
            </a:r>
            <a:endParaRPr lang="it-IT" sz="9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AF0B14-C9ED-4F0D-9238-619FBF24C3E8}"/>
              </a:ext>
            </a:extLst>
          </p:cNvPr>
          <p:cNvSpPr txBox="1"/>
          <p:nvPr/>
        </p:nvSpPr>
        <p:spPr>
          <a:xfrm>
            <a:off x="3387535" y="4668114"/>
            <a:ext cx="10823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EDC_105_PROD</a:t>
            </a:r>
            <a:endParaRPr lang="it-IT" sz="9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AF12F7-AF11-4240-B1FA-372F664BE8FC}"/>
              </a:ext>
            </a:extLst>
          </p:cNvPr>
          <p:cNvSpPr txBox="1"/>
          <p:nvPr/>
        </p:nvSpPr>
        <p:spPr>
          <a:xfrm>
            <a:off x="3372911" y="4982013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EDC_ASSET_PROD</a:t>
            </a:r>
            <a:endParaRPr lang="it-IT" sz="9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E5BA0DE-FFB2-46DB-932C-53D35BAE9660}"/>
              </a:ext>
            </a:extLst>
          </p:cNvPr>
          <p:cNvSpPr txBox="1"/>
          <p:nvPr/>
        </p:nvSpPr>
        <p:spPr>
          <a:xfrm>
            <a:off x="3373335" y="5309102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EDC_DOC_PROD</a:t>
            </a:r>
            <a:endParaRPr lang="it-IT" sz="9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398E2F-9E2B-4443-9EB4-62250EB4D0DD}"/>
              </a:ext>
            </a:extLst>
          </p:cNvPr>
          <p:cNvSpPr txBox="1"/>
          <p:nvPr/>
        </p:nvSpPr>
        <p:spPr>
          <a:xfrm>
            <a:off x="5988188" y="4374142"/>
            <a:ext cx="1159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EDC_DOM_PROD</a:t>
            </a:r>
            <a:endParaRPr lang="it-IT" sz="9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84D6450-B50C-429A-B379-37F5EF67FD04}"/>
              </a:ext>
            </a:extLst>
          </p:cNvPr>
          <p:cNvSpPr txBox="1"/>
          <p:nvPr/>
        </p:nvSpPr>
        <p:spPr>
          <a:xfrm>
            <a:off x="5988508" y="4706239"/>
            <a:ext cx="1159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EDC_MON_PROD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BC883-F169-4751-ABEF-B9B22DC23791}"/>
              </a:ext>
            </a:extLst>
          </p:cNvPr>
          <p:cNvSpPr txBox="1"/>
          <p:nvPr/>
        </p:nvSpPr>
        <p:spPr>
          <a:xfrm>
            <a:off x="5985590" y="5001147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EDC_MRS_PROD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2713D9-CA80-4A08-874C-E3B5202129C0}"/>
              </a:ext>
            </a:extLst>
          </p:cNvPr>
          <p:cNvSpPr txBox="1"/>
          <p:nvPr/>
        </p:nvSpPr>
        <p:spPr>
          <a:xfrm>
            <a:off x="5996007" y="5335811"/>
            <a:ext cx="1159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EDC_PWH_PROD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BBB459-EB21-4C32-BFB3-6740291C9741}"/>
              </a:ext>
            </a:extLst>
          </p:cNvPr>
          <p:cNvSpPr txBox="1"/>
          <p:nvPr/>
        </p:nvSpPr>
        <p:spPr>
          <a:xfrm>
            <a:off x="7462084" y="4364685"/>
            <a:ext cx="11657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EDC_RWH_PROD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DEFE1E-F467-4F1A-B845-791EBC2C6D1B}"/>
              </a:ext>
            </a:extLst>
          </p:cNvPr>
          <p:cNvSpPr txBox="1"/>
          <p:nvPr/>
        </p:nvSpPr>
        <p:spPr>
          <a:xfrm>
            <a:off x="7461441" y="4697349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EDC_WKF_PROD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BBBC81F-A154-4065-A70F-7CC58B4059A7}"/>
              </a:ext>
            </a:extLst>
          </p:cNvPr>
          <p:cNvSpPr txBox="1"/>
          <p:nvPr/>
        </p:nvSpPr>
        <p:spPr>
          <a:xfrm>
            <a:off x="7445411" y="5022472"/>
            <a:ext cx="11785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INFADBPREPROD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FC94FE-48E7-40DA-8EC9-E1A467840036}"/>
              </a:ext>
            </a:extLst>
          </p:cNvPr>
          <p:cNvSpPr txBox="1"/>
          <p:nvPr/>
        </p:nvSpPr>
        <p:spPr>
          <a:xfrm>
            <a:off x="7430951" y="5374231"/>
            <a:ext cx="9412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INFADBPROD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F1CCCB72-42C2-48F2-97B1-3D7D400016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97957" y="4684653"/>
            <a:ext cx="265680" cy="26568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DBF8D089-9FD8-4737-BC5E-BE59FEC5E9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7517" y="5005951"/>
            <a:ext cx="265680" cy="26568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48854147-968B-4DD7-9A21-46935D49D6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25811" y="5324231"/>
            <a:ext cx="265680" cy="26568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FF2C409A-F758-4E57-A512-34C2BC1370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24687" y="4339294"/>
            <a:ext cx="265680" cy="26568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EC60F1E0-4326-4FDA-ABFE-742BE9527C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24687" y="4673891"/>
            <a:ext cx="265680" cy="265680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B0099428-3E4C-42C1-8055-A4148CF4EB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24687" y="5017786"/>
            <a:ext cx="265680" cy="26568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17D647E2-7445-4781-8E87-82B19350A7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24687" y="5350005"/>
            <a:ext cx="265680" cy="26568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3407D6EE-50FE-41AF-A708-547823D7057D}"/>
              </a:ext>
            </a:extLst>
          </p:cNvPr>
          <p:cNvSpPr/>
          <p:nvPr/>
        </p:nvSpPr>
        <p:spPr>
          <a:xfrm>
            <a:off x="2953614" y="4291973"/>
            <a:ext cx="5734910" cy="13780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B7DDB3B-20BE-4CAB-8F67-D74F30E47487}"/>
              </a:ext>
            </a:extLst>
          </p:cNvPr>
          <p:cNvCxnSpPr>
            <a:stCxn id="86" idx="3"/>
            <a:endCxn id="41" idx="1"/>
          </p:cNvCxnSpPr>
          <p:nvPr/>
        </p:nvCxnSpPr>
        <p:spPr>
          <a:xfrm>
            <a:off x="8688524" y="4980992"/>
            <a:ext cx="1397395" cy="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130673D4-D497-45D0-B7C5-B37B520EB3C4}"/>
              </a:ext>
            </a:extLst>
          </p:cNvPr>
          <p:cNvSpPr/>
          <p:nvPr/>
        </p:nvSpPr>
        <p:spPr>
          <a:xfrm>
            <a:off x="990600" y="1469749"/>
            <a:ext cx="10756640" cy="2095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1" name="Graphic 90">
            <a:extLst>
              <a:ext uri="{FF2B5EF4-FFF2-40B4-BE49-F238E27FC236}">
                <a16:creationId xmlns:a16="http://schemas.microsoft.com/office/drawing/2014/main" id="{C238A409-67A8-4AB3-B91C-D2AB3E449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81" y="1323803"/>
            <a:ext cx="322060" cy="32206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E2A3899A-9F6E-4A20-AA10-646F15175CE2}"/>
              </a:ext>
            </a:extLst>
          </p:cNvPr>
          <p:cNvSpPr txBox="1"/>
          <p:nvPr/>
        </p:nvSpPr>
        <p:spPr>
          <a:xfrm>
            <a:off x="955532" y="1171140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450342A-B5B1-4993-BC37-2217B3AE619C}"/>
              </a:ext>
            </a:extLst>
          </p:cNvPr>
          <p:cNvSpPr/>
          <p:nvPr/>
        </p:nvSpPr>
        <p:spPr>
          <a:xfrm>
            <a:off x="1071181" y="1893737"/>
            <a:ext cx="10574134" cy="15174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65CDDE2-A0E8-4296-B151-D4FB88DD813D}"/>
              </a:ext>
            </a:extLst>
          </p:cNvPr>
          <p:cNvGrpSpPr/>
          <p:nvPr/>
        </p:nvGrpSpPr>
        <p:grpSpPr>
          <a:xfrm>
            <a:off x="1936170" y="1818003"/>
            <a:ext cx="322175" cy="192940"/>
            <a:chOff x="2495256" y="4943317"/>
            <a:chExt cx="322175" cy="192940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EBF823D-1B61-4B2E-95B2-351D8FFCF50F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1E64E17-583D-4F79-98FC-84E8DC61E66B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CF17AE6-182E-49B5-B3E6-9EF4892E004C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183337F-9448-4B76-ADFC-799B0CCA32A0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FF29A83-34AC-48D8-B6C4-A55B210BAC06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E73229A-032D-49F7-B069-E342BC9C4783}"/>
              </a:ext>
            </a:extLst>
          </p:cNvPr>
          <p:cNvSpPr txBox="1"/>
          <p:nvPr/>
        </p:nvSpPr>
        <p:spPr>
          <a:xfrm>
            <a:off x="1232211" y="1611754"/>
            <a:ext cx="2015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Infra3 10.200.44. 64/27 (production)</a:t>
            </a:r>
            <a:endParaRPr lang="it-IT" sz="800"/>
          </a:p>
        </p:txBody>
      </p:sp>
      <p:pic>
        <p:nvPicPr>
          <p:cNvPr id="101" name="Graphic 100">
            <a:extLst>
              <a:ext uri="{FF2B5EF4-FFF2-40B4-BE49-F238E27FC236}">
                <a16:creationId xmlns:a16="http://schemas.microsoft.com/office/drawing/2014/main" id="{51C05465-D682-4401-B3DA-7692E507D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5919" y="2510085"/>
            <a:ext cx="262234" cy="26223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81D6D19D-94B6-480E-AAFE-C596E863B470}"/>
              </a:ext>
            </a:extLst>
          </p:cNvPr>
          <p:cNvSpPr txBox="1"/>
          <p:nvPr/>
        </p:nvSpPr>
        <p:spPr>
          <a:xfrm>
            <a:off x="9396316" y="2768942"/>
            <a:ext cx="16850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edc</a:t>
            </a:r>
            <a:r>
              <a:rPr lang="en-US" sz="900"/>
              <a:t>-database – 10.200.44.85</a:t>
            </a:r>
            <a:endParaRPr lang="it-IT" sz="900"/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A1E9CE9-2A5C-4050-87DB-345B4C1C4A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7446" y="2425948"/>
            <a:ext cx="553357" cy="553357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42A8C0BF-C662-45C4-B1C9-8A3BE56ECC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1081" y="2454556"/>
            <a:ext cx="509713" cy="509713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B8EEC914-5F66-4075-A549-462D5A5C54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2434" y="2036736"/>
            <a:ext cx="265680" cy="265680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F485D8E6-281C-4D50-ADB3-AFB7624CED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60982" y="2321976"/>
            <a:ext cx="265680" cy="26568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5BA9FA50-4427-4089-98E1-34A5C4A9FE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71013" y="2627210"/>
            <a:ext cx="265680" cy="265680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20646D1F-CC2B-487B-9ECD-DDC0CDBFB6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76715" y="2941174"/>
            <a:ext cx="265680" cy="26568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CDE7FF05-C963-47DF-B272-8E9E00429D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78397" y="2006577"/>
            <a:ext cx="265680" cy="265680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006AB50-F85B-49A7-A919-F61F3CE570BA}"/>
              </a:ext>
            </a:extLst>
          </p:cNvPr>
          <p:cNvCxnSpPr>
            <a:stCxn id="103" idx="3"/>
            <a:endCxn id="104" idx="1"/>
          </p:cNvCxnSpPr>
          <p:nvPr/>
        </p:nvCxnSpPr>
        <p:spPr>
          <a:xfrm>
            <a:off x="1900803" y="2702627"/>
            <a:ext cx="530278" cy="6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1EC1D3AB-A646-454A-ABD1-936385FFCB9E}"/>
              </a:ext>
            </a:extLst>
          </p:cNvPr>
          <p:cNvSpPr txBox="1"/>
          <p:nvPr/>
        </p:nvSpPr>
        <p:spPr>
          <a:xfrm>
            <a:off x="2220518" y="2212240"/>
            <a:ext cx="6976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repos-</a:t>
            </a:r>
            <a:r>
              <a:rPr lang="en-US" sz="900" err="1"/>
              <a:t>infa</a:t>
            </a:r>
            <a:endParaRPr lang="it-IT" sz="9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8380446-9203-4DB1-9EFB-740097C3213A}"/>
              </a:ext>
            </a:extLst>
          </p:cNvPr>
          <p:cNvSpPr txBox="1"/>
          <p:nvPr/>
        </p:nvSpPr>
        <p:spPr>
          <a:xfrm>
            <a:off x="1174762" y="3001566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repos-</a:t>
            </a:r>
            <a:r>
              <a:rPr lang="en-US" sz="900" err="1"/>
              <a:t>infa</a:t>
            </a:r>
            <a:r>
              <a:rPr lang="en-US" sz="900"/>
              <a:t>-pool</a:t>
            </a:r>
            <a:endParaRPr lang="it-IT" sz="9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53A83A6-DD00-4C2C-B96A-56FA721846F6}"/>
              </a:ext>
            </a:extLst>
          </p:cNvPr>
          <p:cNvSpPr txBox="1"/>
          <p:nvPr/>
        </p:nvSpPr>
        <p:spPr>
          <a:xfrm>
            <a:off x="3387535" y="2042618"/>
            <a:ext cx="20633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ADA_ENETRPRISEPORTAL_CERT</a:t>
            </a:r>
            <a:endParaRPr lang="it-IT" sz="9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8181BEF-84F5-43C9-8295-B3AA9655A2E8}"/>
              </a:ext>
            </a:extLst>
          </p:cNvPr>
          <p:cNvSpPr txBox="1"/>
          <p:nvPr/>
        </p:nvSpPr>
        <p:spPr>
          <a:xfrm>
            <a:off x="3387535" y="2324951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infa</a:t>
            </a:r>
            <a:endParaRPr lang="it-IT" sz="9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CDC2453-F1C6-42AA-ACB0-4A72E2B8FF0C}"/>
              </a:ext>
            </a:extLst>
          </p:cNvPr>
          <p:cNvSpPr txBox="1"/>
          <p:nvPr/>
        </p:nvSpPr>
        <p:spPr>
          <a:xfrm>
            <a:off x="3372911" y="2638850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INFA_DB</a:t>
            </a:r>
            <a:endParaRPr lang="it-IT" sz="9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1B868C0-3968-47E1-B450-5B029E68C35F}"/>
              </a:ext>
            </a:extLst>
          </p:cNvPr>
          <p:cNvSpPr txBox="1"/>
          <p:nvPr/>
        </p:nvSpPr>
        <p:spPr>
          <a:xfrm>
            <a:off x="3373335" y="2965939"/>
            <a:ext cx="9220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INFADBCERT</a:t>
            </a:r>
            <a:endParaRPr lang="it-IT" sz="9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0EE6D03-1441-4A4D-9D48-5CCF85898C93}"/>
              </a:ext>
            </a:extLst>
          </p:cNvPr>
          <p:cNvSpPr txBox="1"/>
          <p:nvPr/>
        </p:nvSpPr>
        <p:spPr>
          <a:xfrm>
            <a:off x="5988188" y="2030979"/>
            <a:ext cx="8451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INFADBDEV</a:t>
            </a:r>
            <a:endParaRPr lang="it-IT" sz="9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247A7AB-7CA9-4CB4-B91A-88383AC716D5}"/>
              </a:ext>
            </a:extLst>
          </p:cNvPr>
          <p:cNvSpPr txBox="1"/>
          <p:nvPr/>
        </p:nvSpPr>
        <p:spPr>
          <a:xfrm>
            <a:off x="5988508" y="2363076"/>
            <a:ext cx="10887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err="1"/>
              <a:t>INFADBDEV_bck</a:t>
            </a:r>
            <a:endParaRPr lang="en-US" sz="9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4C57C05-82C2-425A-81EC-10A71BBDEA39}"/>
              </a:ext>
            </a:extLst>
          </p:cNvPr>
          <p:cNvSpPr txBox="1"/>
          <p:nvPr/>
        </p:nvSpPr>
        <p:spPr>
          <a:xfrm>
            <a:off x="5985590" y="2657984"/>
            <a:ext cx="8835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INFAEDC105</a:t>
            </a:r>
          </a:p>
        </p:txBody>
      </p:sp>
      <p:pic>
        <p:nvPicPr>
          <p:cNvPr id="125" name="Graphic 124">
            <a:extLst>
              <a:ext uri="{FF2B5EF4-FFF2-40B4-BE49-F238E27FC236}">
                <a16:creationId xmlns:a16="http://schemas.microsoft.com/office/drawing/2014/main" id="{6FCD0F35-63A7-4326-987B-56857DC44E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97957" y="2341490"/>
            <a:ext cx="265680" cy="265680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3D8A3B26-BF75-49B1-A456-9EACCAC86F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7517" y="2662788"/>
            <a:ext cx="265680" cy="265680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5B7BEC2E-6B05-4BB5-A07C-58939A72529C}"/>
              </a:ext>
            </a:extLst>
          </p:cNvPr>
          <p:cNvSpPr/>
          <p:nvPr/>
        </p:nvSpPr>
        <p:spPr>
          <a:xfrm>
            <a:off x="2953614" y="1948810"/>
            <a:ext cx="5734910" cy="13780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88F8D05-5928-4E53-9364-1F86AC9F43AF}"/>
              </a:ext>
            </a:extLst>
          </p:cNvPr>
          <p:cNvCxnSpPr>
            <a:stCxn id="132" idx="3"/>
            <a:endCxn id="101" idx="1"/>
          </p:cNvCxnSpPr>
          <p:nvPr/>
        </p:nvCxnSpPr>
        <p:spPr>
          <a:xfrm>
            <a:off x="8688524" y="2637829"/>
            <a:ext cx="1397395" cy="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04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04876" y="139982"/>
            <a:ext cx="11182248" cy="425095"/>
          </a:xfrm>
        </p:spPr>
        <p:txBody>
          <a:bodyPr/>
          <a:lstStyle/>
          <a:p>
            <a:r>
              <a:rPr lang="it-IT"/>
              <a:t>ADA SaaS: Application Gateway </a:t>
            </a:r>
            <a:r>
              <a:rPr lang="it-IT" err="1"/>
              <a:t>view</a:t>
            </a:r>
            <a:endParaRPr lang="it-IT"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387EA-2CA8-44F1-A8D0-089B1E0B5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" y="3249525"/>
            <a:ext cx="693520" cy="6935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FCAC56-E9CC-49A6-BA05-E03E5F6219D9}"/>
              </a:ext>
            </a:extLst>
          </p:cNvPr>
          <p:cNvSpPr/>
          <p:nvPr/>
        </p:nvSpPr>
        <p:spPr>
          <a:xfrm>
            <a:off x="1917378" y="1374679"/>
            <a:ext cx="8964200" cy="466681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9BAEEC4-D75C-4D4D-B866-1DCF5EE8F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5985" y="1187990"/>
            <a:ext cx="322060" cy="322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ADE1B9-4FA2-48B8-8B83-65948C0C131A}"/>
              </a:ext>
            </a:extLst>
          </p:cNvPr>
          <p:cNvSpPr txBox="1"/>
          <p:nvPr/>
        </p:nvSpPr>
        <p:spPr>
          <a:xfrm>
            <a:off x="2110336" y="1045519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ghovnet</a:t>
            </a:r>
            <a:endParaRPr lang="it-IT" sz="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3E5496-A29E-4468-822B-61C97011C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2554" y="3235977"/>
            <a:ext cx="778126" cy="7781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3CD1B15-7CEF-4A27-A678-6537E388E22A}"/>
              </a:ext>
            </a:extLst>
          </p:cNvPr>
          <p:cNvSpPr/>
          <p:nvPr/>
        </p:nvSpPr>
        <p:spPr>
          <a:xfrm>
            <a:off x="2182222" y="1809144"/>
            <a:ext cx="4290465" cy="39745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E46331-596D-4237-B0A4-4060FC0EF1C6}"/>
              </a:ext>
            </a:extLst>
          </p:cNvPr>
          <p:cNvGrpSpPr/>
          <p:nvPr/>
        </p:nvGrpSpPr>
        <p:grpSpPr>
          <a:xfrm>
            <a:off x="2306406" y="1762166"/>
            <a:ext cx="322175" cy="192940"/>
            <a:chOff x="2495256" y="4943317"/>
            <a:chExt cx="322175" cy="19294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57F7620-93B0-4977-862A-AA4F9C7B2BEF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01C30E-E6D1-4AA8-9AA2-538D445D6D49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76D3147-7D55-470C-95C6-D69CCA034207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DAE618-A030-49B6-A6EB-0E739AB0350B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0ED13D3-1B6F-4D92-A624-C7E182A230EB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DD037E9-A7F0-4349-98DF-B25F18EE6E20}"/>
              </a:ext>
            </a:extLst>
          </p:cNvPr>
          <p:cNvSpPr txBox="1"/>
          <p:nvPr/>
        </p:nvSpPr>
        <p:spPr>
          <a:xfrm>
            <a:off x="2082548" y="1554293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err="1"/>
              <a:t>appgwghosn</a:t>
            </a:r>
            <a:endParaRPr lang="it-IT" sz="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6A59A-90FE-4430-B695-6BCB7A99639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038" y="3019225"/>
            <a:ext cx="550738" cy="45736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471BFA-C338-4EC4-A56E-42861C617C28}"/>
              </a:ext>
            </a:extLst>
          </p:cNvPr>
          <p:cNvCxnSpPr>
            <a:cxnSpLocks/>
          </p:cNvCxnSpPr>
          <p:nvPr/>
        </p:nvCxnSpPr>
        <p:spPr>
          <a:xfrm flipH="1" flipV="1">
            <a:off x="778160" y="3610662"/>
            <a:ext cx="1964394" cy="143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DDBFB9-0334-4E71-9F20-3581E7B21DE5}"/>
              </a:ext>
            </a:extLst>
          </p:cNvPr>
          <p:cNvSpPr txBox="1"/>
          <p:nvPr/>
        </p:nvSpPr>
        <p:spPr>
          <a:xfrm>
            <a:off x="2189911" y="2584652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/>
              <a:t>ada.generali.com</a:t>
            </a:r>
          </a:p>
          <a:p>
            <a:r>
              <a:rPr lang="en-US" sz="900"/>
              <a:t>Issued by Global Sign</a:t>
            </a:r>
            <a:endParaRPr lang="it-IT" sz="9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FBB509-B438-4E6D-895B-938578BA6836}"/>
              </a:ext>
            </a:extLst>
          </p:cNvPr>
          <p:cNvSpPr/>
          <p:nvPr/>
        </p:nvSpPr>
        <p:spPr>
          <a:xfrm>
            <a:off x="3542669" y="2100321"/>
            <a:ext cx="2709768" cy="34237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E15BFD0-C869-4007-A1AC-4262C486D4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67084" y="1881174"/>
            <a:ext cx="463831" cy="46383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7924705-6DA2-432A-9D5F-622D38B001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7875" y="3009892"/>
            <a:ext cx="457576" cy="45757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A49F00B-E6F4-4249-8FB8-A987520A976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680" y="2821622"/>
            <a:ext cx="341663" cy="28373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10FE8C4-3B5C-435B-83E5-041459C6F6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85391" y="3658791"/>
            <a:ext cx="457576" cy="45757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45B1CB-98A2-41C1-8478-0CD28D64986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196" y="3470521"/>
            <a:ext cx="341663" cy="28373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CAB33738-304D-4DFD-A19E-E4A84C1CE9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0343" y="2368656"/>
            <a:ext cx="457576" cy="45757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EE18462-C252-4C28-A9F0-C07EEA08273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148" y="2180386"/>
            <a:ext cx="341663" cy="283734"/>
          </a:xfrm>
          <a:prstGeom prst="rect">
            <a:avLst/>
          </a:prstGeom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74A08E9-56B3-4679-9D6F-E1A0D8AFE717}"/>
              </a:ext>
            </a:extLst>
          </p:cNvPr>
          <p:cNvCxnSpPr>
            <a:cxnSpLocks/>
            <a:stCxn id="9" idx="3"/>
            <a:endCxn id="35" idx="1"/>
          </p:cNvCxnSpPr>
          <p:nvPr/>
        </p:nvCxnSpPr>
        <p:spPr>
          <a:xfrm flipV="1">
            <a:off x="3520680" y="2597444"/>
            <a:ext cx="809663" cy="1027596"/>
          </a:xfrm>
          <a:prstGeom prst="bentConnector3">
            <a:avLst>
              <a:gd name="adj1" fmla="val 256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AF705B3D-2B71-4D7E-8F77-6972AD6027C2}"/>
              </a:ext>
            </a:extLst>
          </p:cNvPr>
          <p:cNvCxnSpPr>
            <a:endCxn id="26" idx="1"/>
          </p:cNvCxnSpPr>
          <p:nvPr/>
        </p:nvCxnSpPr>
        <p:spPr>
          <a:xfrm flipV="1">
            <a:off x="3520441" y="3238680"/>
            <a:ext cx="787434" cy="361451"/>
          </a:xfrm>
          <a:prstGeom prst="bentConnector3">
            <a:avLst>
              <a:gd name="adj1" fmla="val 264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D283EC6-C3EE-497E-B166-EFA810FF12E0}"/>
              </a:ext>
            </a:extLst>
          </p:cNvPr>
          <p:cNvCxnSpPr>
            <a:stCxn id="9" idx="3"/>
            <a:endCxn id="29" idx="1"/>
          </p:cNvCxnSpPr>
          <p:nvPr/>
        </p:nvCxnSpPr>
        <p:spPr>
          <a:xfrm>
            <a:off x="3520680" y="3625040"/>
            <a:ext cx="764711" cy="262539"/>
          </a:xfrm>
          <a:prstGeom prst="bentConnector3">
            <a:avLst>
              <a:gd name="adj1" fmla="val 288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2936584-B49B-4591-8EA6-A81D17C2BF01}"/>
              </a:ext>
            </a:extLst>
          </p:cNvPr>
          <p:cNvSpPr txBox="1"/>
          <p:nvPr/>
        </p:nvSpPr>
        <p:spPr>
          <a:xfrm>
            <a:off x="4338974" y="2059944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/>
              <a:t>ada-preprod.generali.com</a:t>
            </a:r>
          </a:p>
          <a:p>
            <a:r>
              <a:rPr lang="en-US" sz="900"/>
              <a:t>Issued by Global Sign</a:t>
            </a:r>
            <a:endParaRPr lang="it-IT" sz="9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131114-90A0-47F1-879D-1E71FF6B325E}"/>
              </a:ext>
            </a:extLst>
          </p:cNvPr>
          <p:cNvSpPr txBox="1"/>
          <p:nvPr/>
        </p:nvSpPr>
        <p:spPr>
          <a:xfrm>
            <a:off x="4305199" y="2758200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/>
              <a:t>ada.generali.com</a:t>
            </a:r>
          </a:p>
          <a:p>
            <a:r>
              <a:rPr lang="en-US" sz="900"/>
              <a:t>Issued by Global Sign</a:t>
            </a:r>
            <a:endParaRPr lang="it-IT" sz="9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94C7C9-0CAF-4D00-8BA2-47DD4D2834F4}"/>
              </a:ext>
            </a:extLst>
          </p:cNvPr>
          <p:cNvSpPr txBox="1"/>
          <p:nvPr/>
        </p:nvSpPr>
        <p:spPr>
          <a:xfrm>
            <a:off x="4268529" y="3384923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/>
              <a:t>ada-axon.generali.com</a:t>
            </a:r>
          </a:p>
          <a:p>
            <a:r>
              <a:rPr lang="en-US" sz="900"/>
              <a:t>Issued by Global Sign</a:t>
            </a:r>
            <a:endParaRPr lang="it-IT" sz="900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4B7EEF7D-C0AD-45CE-91E5-8F35DCC034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37925" y="2393263"/>
            <a:ext cx="390417" cy="390417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991F2169-2EBB-4AD8-901A-7B56C2D8E464}"/>
              </a:ext>
            </a:extLst>
          </p:cNvPr>
          <p:cNvSpPr/>
          <p:nvPr/>
        </p:nvSpPr>
        <p:spPr>
          <a:xfrm>
            <a:off x="6525895" y="1856993"/>
            <a:ext cx="4207319" cy="39745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782BA79-6B1C-4513-844C-32BDA9BEB2F1}"/>
              </a:ext>
            </a:extLst>
          </p:cNvPr>
          <p:cNvGrpSpPr/>
          <p:nvPr/>
        </p:nvGrpSpPr>
        <p:grpSpPr>
          <a:xfrm>
            <a:off x="6663825" y="1800310"/>
            <a:ext cx="322175" cy="192940"/>
            <a:chOff x="2495256" y="4943317"/>
            <a:chExt cx="322175" cy="192940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C237B0F-E67A-4896-91DC-1F66DF98312C}"/>
                </a:ext>
              </a:extLst>
            </p:cNvPr>
            <p:cNvSpPr/>
            <p:nvPr/>
          </p:nvSpPr>
          <p:spPr>
            <a:xfrm>
              <a:off x="2636327" y="5019051"/>
              <a:ext cx="41509" cy="41509"/>
            </a:xfrm>
            <a:custGeom>
              <a:avLst/>
              <a:gdLst>
                <a:gd name="connsiteX0" fmla="*/ 41510 w 41509"/>
                <a:gd name="connsiteY0" fmla="*/ 20755 h 41509"/>
                <a:gd name="connsiteX1" fmla="*/ 20755 w 41509"/>
                <a:gd name="connsiteY1" fmla="*/ 41510 h 41509"/>
                <a:gd name="connsiteX2" fmla="*/ 0 w 41509"/>
                <a:gd name="connsiteY2" fmla="*/ 20755 h 41509"/>
                <a:gd name="connsiteX3" fmla="*/ 20755 w 41509"/>
                <a:gd name="connsiteY3" fmla="*/ 0 h 41509"/>
                <a:gd name="connsiteX4" fmla="*/ 41510 w 41509"/>
                <a:gd name="connsiteY4" fmla="*/ 20755 h 4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09" h="41509">
                  <a:moveTo>
                    <a:pt x="41510" y="20755"/>
                  </a:moveTo>
                  <a:cubicBezTo>
                    <a:pt x="41510" y="32218"/>
                    <a:pt x="32218" y="41510"/>
                    <a:pt x="20755" y="41510"/>
                  </a:cubicBezTo>
                  <a:cubicBezTo>
                    <a:pt x="9292" y="41510"/>
                    <a:pt x="0" y="32218"/>
                    <a:pt x="0" y="20755"/>
                  </a:cubicBezTo>
                  <a:cubicBezTo>
                    <a:pt x="0" y="9292"/>
                    <a:pt x="9292" y="0"/>
                    <a:pt x="20755" y="0"/>
                  </a:cubicBezTo>
                  <a:cubicBezTo>
                    <a:pt x="32218" y="0"/>
                    <a:pt x="41510" y="9292"/>
                    <a:pt x="41510" y="20755"/>
                  </a:cubicBezTo>
                  <a:close/>
                </a:path>
              </a:pathLst>
            </a:custGeom>
            <a:solidFill>
              <a:srgbClr val="86D633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E04A308-4147-4D04-A32A-757F675602CD}"/>
                </a:ext>
              </a:extLst>
            </p:cNvPr>
            <p:cNvSpPr/>
            <p:nvPr/>
          </p:nvSpPr>
          <p:spPr>
            <a:xfrm>
              <a:off x="2495409" y="5019945"/>
              <a:ext cx="112116" cy="116312"/>
            </a:xfrm>
            <a:custGeom>
              <a:avLst/>
              <a:gdLst>
                <a:gd name="connsiteX0" fmla="*/ 110538 w 112116"/>
                <a:gd name="connsiteY0" fmla="*/ 102844 h 116312"/>
                <a:gd name="connsiteX1" fmla="*/ 98657 w 112116"/>
                <a:gd name="connsiteY1" fmla="*/ 114743 h 116312"/>
                <a:gd name="connsiteX2" fmla="*/ 91071 w 112116"/>
                <a:gd name="connsiteY2" fmla="*/ 114743 h 116312"/>
                <a:gd name="connsiteX3" fmla="*/ 3149 w 112116"/>
                <a:gd name="connsiteY3" fmla="*/ 27089 h 116312"/>
                <a:gd name="connsiteX4" fmla="*/ 3131 w 112116"/>
                <a:gd name="connsiteY4" fmla="*/ 11916 h 116312"/>
                <a:gd name="connsiteX5" fmla="*/ 14993 w 112116"/>
                <a:gd name="connsiteY5" fmla="*/ 0 h 116312"/>
                <a:gd name="connsiteX6" fmla="*/ 110538 w 112116"/>
                <a:gd name="connsiteY6" fmla="*/ 95258 h 116312"/>
                <a:gd name="connsiteX7" fmla="*/ 110551 w 112116"/>
                <a:gd name="connsiteY7" fmla="*/ 102850 h 116312"/>
                <a:gd name="connsiteX8" fmla="*/ 110538 w 112116"/>
                <a:gd name="connsiteY8" fmla="*/ 102862 h 11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16" h="116312">
                  <a:moveTo>
                    <a:pt x="110538" y="102844"/>
                  </a:moveTo>
                  <a:lnTo>
                    <a:pt x="98657" y="114743"/>
                  </a:lnTo>
                  <a:cubicBezTo>
                    <a:pt x="96562" y="116836"/>
                    <a:pt x="93167" y="116836"/>
                    <a:pt x="91071" y="114743"/>
                  </a:cubicBezTo>
                  <a:lnTo>
                    <a:pt x="3149" y="27089"/>
                  </a:lnTo>
                  <a:cubicBezTo>
                    <a:pt x="-1043" y="22902"/>
                    <a:pt x="-1051" y="16112"/>
                    <a:pt x="3131" y="11916"/>
                  </a:cubicBezTo>
                  <a:lnTo>
                    <a:pt x="14993" y="0"/>
                  </a:lnTo>
                  <a:lnTo>
                    <a:pt x="110538" y="95258"/>
                  </a:lnTo>
                  <a:cubicBezTo>
                    <a:pt x="112637" y="97352"/>
                    <a:pt x="112643" y="100749"/>
                    <a:pt x="110551" y="102850"/>
                  </a:cubicBezTo>
                  <a:cubicBezTo>
                    <a:pt x="110546" y="102853"/>
                    <a:pt x="110542" y="102859"/>
                    <a:pt x="110538" y="102862"/>
                  </a:cubicBez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E9D70EF-8EAB-4EA1-90C3-843AE04B4EA9}"/>
                </a:ext>
              </a:extLst>
            </p:cNvPr>
            <p:cNvSpPr/>
            <p:nvPr/>
          </p:nvSpPr>
          <p:spPr>
            <a:xfrm>
              <a:off x="2495256" y="4943586"/>
              <a:ext cx="110506" cy="115131"/>
            </a:xfrm>
            <a:custGeom>
              <a:avLst/>
              <a:gdLst>
                <a:gd name="connsiteX0" fmla="*/ 97020 w 110506"/>
                <a:gd name="connsiteY0" fmla="*/ 1534 h 115131"/>
                <a:gd name="connsiteX1" fmla="*/ 108936 w 110506"/>
                <a:gd name="connsiteY1" fmla="*/ 13414 h 115131"/>
                <a:gd name="connsiteX2" fmla="*/ 108936 w 110506"/>
                <a:gd name="connsiteY2" fmla="*/ 21001 h 115131"/>
                <a:gd name="connsiteX3" fmla="*/ 15074 w 110506"/>
                <a:gd name="connsiteY3" fmla="*/ 115132 h 115131"/>
                <a:gd name="connsiteX4" fmla="*/ 3157 w 110506"/>
                <a:gd name="connsiteY4" fmla="*/ 103269 h 115131"/>
                <a:gd name="connsiteX5" fmla="*/ 3131 w 110506"/>
                <a:gd name="connsiteY5" fmla="*/ 88087 h 115131"/>
                <a:gd name="connsiteX6" fmla="*/ 3140 w 110506"/>
                <a:gd name="connsiteY6" fmla="*/ 88079 h 115131"/>
                <a:gd name="connsiteX7" fmla="*/ 89434 w 110506"/>
                <a:gd name="connsiteY7" fmla="*/ 1570 h 115131"/>
                <a:gd name="connsiteX8" fmla="*/ 97020 w 110506"/>
                <a:gd name="connsiteY8" fmla="*/ 1570 h 115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6" h="115131">
                  <a:moveTo>
                    <a:pt x="97020" y="1534"/>
                  </a:moveTo>
                  <a:lnTo>
                    <a:pt x="108936" y="13414"/>
                  </a:lnTo>
                  <a:cubicBezTo>
                    <a:pt x="111029" y="15510"/>
                    <a:pt x="111029" y="18905"/>
                    <a:pt x="108936" y="21001"/>
                  </a:cubicBezTo>
                  <a:lnTo>
                    <a:pt x="15074" y="115132"/>
                  </a:lnTo>
                  <a:lnTo>
                    <a:pt x="3157" y="103269"/>
                  </a:lnTo>
                  <a:cubicBezTo>
                    <a:pt x="-1042" y="99084"/>
                    <a:pt x="-1054" y="92287"/>
                    <a:pt x="3131" y="88087"/>
                  </a:cubicBezTo>
                  <a:cubicBezTo>
                    <a:pt x="3134" y="88084"/>
                    <a:pt x="3137" y="88082"/>
                    <a:pt x="3140" y="88079"/>
                  </a:cubicBezTo>
                  <a:lnTo>
                    <a:pt x="89434" y="1570"/>
                  </a:lnTo>
                  <a:cubicBezTo>
                    <a:pt x="91530" y="-523"/>
                    <a:pt x="94924" y="-523"/>
                    <a:pt x="97020" y="1570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1C49392-68A6-4C09-8A00-2023575A7822}"/>
                </a:ext>
              </a:extLst>
            </p:cNvPr>
            <p:cNvSpPr/>
            <p:nvPr/>
          </p:nvSpPr>
          <p:spPr>
            <a:xfrm>
              <a:off x="2705199" y="5019766"/>
              <a:ext cx="112117" cy="116330"/>
            </a:xfrm>
            <a:custGeom>
              <a:avLst/>
              <a:gdLst>
                <a:gd name="connsiteX0" fmla="*/ 97115 w 112117"/>
                <a:gd name="connsiteY0" fmla="*/ 0 h 116330"/>
                <a:gd name="connsiteX1" fmla="*/ 108977 w 112117"/>
                <a:gd name="connsiteY1" fmla="*/ 11916 h 116330"/>
                <a:gd name="connsiteX2" fmla="*/ 108977 w 112117"/>
                <a:gd name="connsiteY2" fmla="*/ 27089 h 116330"/>
                <a:gd name="connsiteX3" fmla="*/ 21037 w 112117"/>
                <a:gd name="connsiteY3" fmla="*/ 114761 h 116330"/>
                <a:gd name="connsiteX4" fmla="*/ 13450 w 112117"/>
                <a:gd name="connsiteY4" fmla="*/ 114761 h 116330"/>
                <a:gd name="connsiteX5" fmla="*/ 1570 w 112117"/>
                <a:gd name="connsiteY5" fmla="*/ 102844 h 116330"/>
                <a:gd name="connsiteX6" fmla="*/ 1570 w 112117"/>
                <a:gd name="connsiteY6" fmla="*/ 95258 h 116330"/>
                <a:gd name="connsiteX7" fmla="*/ 97115 w 112117"/>
                <a:gd name="connsiteY7" fmla="*/ 0 h 1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117" h="116330">
                  <a:moveTo>
                    <a:pt x="97115" y="0"/>
                  </a:moveTo>
                  <a:lnTo>
                    <a:pt x="108977" y="11916"/>
                  </a:lnTo>
                  <a:cubicBezTo>
                    <a:pt x="113164" y="16107"/>
                    <a:pt x="113164" y="22898"/>
                    <a:pt x="108977" y="27089"/>
                  </a:cubicBezTo>
                  <a:lnTo>
                    <a:pt x="21037" y="114761"/>
                  </a:lnTo>
                  <a:cubicBezTo>
                    <a:pt x="18942" y="116854"/>
                    <a:pt x="15546" y="116854"/>
                    <a:pt x="13450" y="114761"/>
                  </a:cubicBezTo>
                  <a:lnTo>
                    <a:pt x="1570" y="102844"/>
                  </a:lnTo>
                  <a:cubicBezTo>
                    <a:pt x="-523" y="100749"/>
                    <a:pt x="-523" y="97353"/>
                    <a:pt x="1570" y="95258"/>
                  </a:cubicBezTo>
                  <a:lnTo>
                    <a:pt x="97115" y="0"/>
                  </a:lnTo>
                  <a:close/>
                </a:path>
              </a:pathLst>
            </a:custGeom>
            <a:solidFill>
              <a:srgbClr val="50E6F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1B59DD5-3A4E-4DFC-8F4C-C75C3EA3DEFF}"/>
                </a:ext>
              </a:extLst>
            </p:cNvPr>
            <p:cNvSpPr/>
            <p:nvPr/>
          </p:nvSpPr>
          <p:spPr>
            <a:xfrm>
              <a:off x="2706782" y="4943317"/>
              <a:ext cx="110649" cy="115292"/>
            </a:xfrm>
            <a:custGeom>
              <a:avLst/>
              <a:gdLst>
                <a:gd name="connsiteX0" fmla="*/ 107358 w 110649"/>
                <a:gd name="connsiteY0" fmla="*/ 103412 h 115292"/>
                <a:gd name="connsiteX1" fmla="*/ 95459 w 110649"/>
                <a:gd name="connsiteY1" fmla="*/ 115293 h 115292"/>
                <a:gd name="connsiteX2" fmla="*/ 1579 w 110649"/>
                <a:gd name="connsiteY2" fmla="*/ 21162 h 115292"/>
                <a:gd name="connsiteX3" fmla="*/ 1566 w 110649"/>
                <a:gd name="connsiteY3" fmla="*/ 13571 h 115292"/>
                <a:gd name="connsiteX4" fmla="*/ 1579 w 110649"/>
                <a:gd name="connsiteY4" fmla="*/ 13558 h 115292"/>
                <a:gd name="connsiteX5" fmla="*/ 13638 w 110649"/>
                <a:gd name="connsiteY5" fmla="*/ 1570 h 115292"/>
                <a:gd name="connsiteX6" fmla="*/ 21225 w 110649"/>
                <a:gd name="connsiteY6" fmla="*/ 1570 h 115292"/>
                <a:gd name="connsiteX7" fmla="*/ 107519 w 110649"/>
                <a:gd name="connsiteY7" fmla="*/ 88097 h 115292"/>
                <a:gd name="connsiteX8" fmla="*/ 107492 w 110649"/>
                <a:gd name="connsiteY8" fmla="*/ 103279 h 115292"/>
                <a:gd name="connsiteX9" fmla="*/ 107483 w 110649"/>
                <a:gd name="connsiteY9" fmla="*/ 103287 h 11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649" h="115292">
                  <a:moveTo>
                    <a:pt x="107358" y="103412"/>
                  </a:moveTo>
                  <a:lnTo>
                    <a:pt x="95459" y="115293"/>
                  </a:lnTo>
                  <a:lnTo>
                    <a:pt x="1579" y="21162"/>
                  </a:lnTo>
                  <a:cubicBezTo>
                    <a:pt x="-522" y="19069"/>
                    <a:pt x="-527" y="15671"/>
                    <a:pt x="1566" y="13571"/>
                  </a:cubicBezTo>
                  <a:cubicBezTo>
                    <a:pt x="1570" y="13566"/>
                    <a:pt x="1575" y="13562"/>
                    <a:pt x="1579" y="13558"/>
                  </a:cubicBezTo>
                  <a:lnTo>
                    <a:pt x="13638" y="1570"/>
                  </a:lnTo>
                  <a:cubicBezTo>
                    <a:pt x="15734" y="-523"/>
                    <a:pt x="19129" y="-523"/>
                    <a:pt x="21225" y="1570"/>
                  </a:cubicBezTo>
                  <a:lnTo>
                    <a:pt x="107519" y="88097"/>
                  </a:lnTo>
                  <a:cubicBezTo>
                    <a:pt x="111704" y="92297"/>
                    <a:pt x="111691" y="99094"/>
                    <a:pt x="107492" y="103279"/>
                  </a:cubicBezTo>
                  <a:cubicBezTo>
                    <a:pt x="107488" y="103281"/>
                    <a:pt x="107487" y="103284"/>
                    <a:pt x="107483" y="103287"/>
                  </a:cubicBezTo>
                  <a:close/>
                </a:path>
              </a:pathLst>
            </a:custGeom>
            <a:solidFill>
              <a:srgbClr val="1490DF"/>
            </a:solidFill>
            <a:ln w="17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E8376FDB-475E-4719-B6E9-E18ED7DE1F9B}"/>
              </a:ext>
            </a:extLst>
          </p:cNvPr>
          <p:cNvSpPr txBox="1"/>
          <p:nvPr/>
        </p:nvSpPr>
        <p:spPr>
          <a:xfrm>
            <a:off x="6525895" y="1579828"/>
            <a:ext cx="2143536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800"/>
              <a:t>Infra5 / infra3 (production/non production)</a:t>
            </a:r>
            <a:endParaRPr lang="it-IT" sz="80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F7DAF0E-3D1A-44F7-B578-126A403A25A9}"/>
              </a:ext>
            </a:extLst>
          </p:cNvPr>
          <p:cNvCxnSpPr>
            <a:stCxn id="35" idx="3"/>
            <a:endCxn id="63" idx="1"/>
          </p:cNvCxnSpPr>
          <p:nvPr/>
        </p:nvCxnSpPr>
        <p:spPr>
          <a:xfrm flipV="1">
            <a:off x="4787919" y="2588472"/>
            <a:ext cx="2850006" cy="8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1BAC018-27E5-42EA-953A-655D0C649C81}"/>
              </a:ext>
            </a:extLst>
          </p:cNvPr>
          <p:cNvSpPr txBox="1"/>
          <p:nvPr/>
        </p:nvSpPr>
        <p:spPr>
          <a:xfrm>
            <a:off x="8047488" y="2429395"/>
            <a:ext cx="18261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vm-preprod-enterpriseportal-01-idm</a:t>
            </a:r>
            <a:endParaRPr lang="it-IT" sz="800"/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0D0749FD-2E1A-4B6A-8437-915DF810EB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37925" y="3030326"/>
            <a:ext cx="390417" cy="39041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B26E3049-0018-414A-B179-9BD48A23125C}"/>
              </a:ext>
            </a:extLst>
          </p:cNvPr>
          <p:cNvSpPr txBox="1"/>
          <p:nvPr/>
        </p:nvSpPr>
        <p:spPr>
          <a:xfrm>
            <a:off x="8047488" y="3066458"/>
            <a:ext cx="1659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vm-prod-enterpriseportal-01-idm</a:t>
            </a:r>
            <a:endParaRPr lang="it-IT" sz="800"/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716CB32F-A200-4E63-A5BA-6B6DC602C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91310" y="3666586"/>
            <a:ext cx="390417" cy="39041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1E48D218-CE22-4E71-AD7A-E55AECFC36EB}"/>
              </a:ext>
            </a:extLst>
          </p:cNvPr>
          <p:cNvSpPr txBox="1"/>
          <p:nvPr/>
        </p:nvSpPr>
        <p:spPr>
          <a:xfrm>
            <a:off x="8100873" y="3702718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vm-prod-infa-axn-01-idm</a:t>
            </a:r>
            <a:endParaRPr lang="it-IT" sz="80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39D69DB-6298-4E19-A442-7038D829D6EA}"/>
              </a:ext>
            </a:extLst>
          </p:cNvPr>
          <p:cNvCxnSpPr>
            <a:stCxn id="26" idx="3"/>
            <a:endCxn id="76" idx="1"/>
          </p:cNvCxnSpPr>
          <p:nvPr/>
        </p:nvCxnSpPr>
        <p:spPr>
          <a:xfrm flipV="1">
            <a:off x="4765451" y="3225535"/>
            <a:ext cx="2872474" cy="13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8B3B2EF-1326-4B87-9E9D-01D4DBA1F963}"/>
              </a:ext>
            </a:extLst>
          </p:cNvPr>
          <p:cNvCxnSpPr>
            <a:stCxn id="29" idx="3"/>
            <a:endCxn id="78" idx="1"/>
          </p:cNvCxnSpPr>
          <p:nvPr/>
        </p:nvCxnSpPr>
        <p:spPr>
          <a:xfrm flipV="1">
            <a:off x="4742967" y="3861795"/>
            <a:ext cx="2948343" cy="2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B6EB592-66C2-4003-8E0B-0732AB1C0E0C}"/>
              </a:ext>
            </a:extLst>
          </p:cNvPr>
          <p:cNvGrpSpPr/>
          <p:nvPr/>
        </p:nvGrpSpPr>
        <p:grpSpPr>
          <a:xfrm>
            <a:off x="7182568" y="2171690"/>
            <a:ext cx="378880" cy="330419"/>
            <a:chOff x="5769863" y="516224"/>
            <a:chExt cx="378880" cy="330419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60442CC-70EA-4137-9918-E9E42DBFB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863" y="562909"/>
              <a:ext cx="341663" cy="283734"/>
            </a:xfrm>
            <a:prstGeom prst="rect">
              <a:avLst/>
            </a:prstGeom>
          </p:spPr>
        </p:pic>
        <p:pic>
          <p:nvPicPr>
            <p:cNvPr id="94" name="Graphic 93" descr="Close">
              <a:extLst>
                <a:ext uri="{FF2B5EF4-FFF2-40B4-BE49-F238E27FC236}">
                  <a16:creationId xmlns:a16="http://schemas.microsoft.com/office/drawing/2014/main" id="{20991C85-6464-4B7F-937C-57A67A315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940694" y="516224"/>
              <a:ext cx="208049" cy="208049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0A0CEC0-460C-466D-B161-45ACCE88DCEF}"/>
              </a:ext>
            </a:extLst>
          </p:cNvPr>
          <p:cNvGrpSpPr/>
          <p:nvPr/>
        </p:nvGrpSpPr>
        <p:grpSpPr>
          <a:xfrm>
            <a:off x="7196498" y="2821651"/>
            <a:ext cx="378880" cy="330419"/>
            <a:chOff x="5769863" y="516224"/>
            <a:chExt cx="378880" cy="330419"/>
          </a:xfrm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44D43095-C446-41F3-B741-5A742D852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863" y="562909"/>
              <a:ext cx="341663" cy="283734"/>
            </a:xfrm>
            <a:prstGeom prst="rect">
              <a:avLst/>
            </a:prstGeom>
          </p:spPr>
        </p:pic>
        <p:pic>
          <p:nvPicPr>
            <p:cNvPr id="99" name="Graphic 98" descr="Close">
              <a:extLst>
                <a:ext uri="{FF2B5EF4-FFF2-40B4-BE49-F238E27FC236}">
                  <a16:creationId xmlns:a16="http://schemas.microsoft.com/office/drawing/2014/main" id="{E2BC9207-7859-4E41-847C-3CC58376E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940694" y="516224"/>
              <a:ext cx="208049" cy="208049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BC5759F-308C-46A1-8818-55295CBD2123}"/>
              </a:ext>
            </a:extLst>
          </p:cNvPr>
          <p:cNvGrpSpPr/>
          <p:nvPr/>
        </p:nvGrpSpPr>
        <p:grpSpPr>
          <a:xfrm>
            <a:off x="7196498" y="3460568"/>
            <a:ext cx="378880" cy="330419"/>
            <a:chOff x="5769863" y="516224"/>
            <a:chExt cx="378880" cy="330419"/>
          </a:xfrm>
        </p:grpSpPr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C0961140-F105-4AE8-A51D-BBAA03904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863" y="562909"/>
              <a:ext cx="341663" cy="283734"/>
            </a:xfrm>
            <a:prstGeom prst="rect">
              <a:avLst/>
            </a:prstGeom>
          </p:spPr>
        </p:pic>
        <p:pic>
          <p:nvPicPr>
            <p:cNvPr id="102" name="Graphic 101" descr="Close">
              <a:extLst>
                <a:ext uri="{FF2B5EF4-FFF2-40B4-BE49-F238E27FC236}">
                  <a16:creationId xmlns:a16="http://schemas.microsoft.com/office/drawing/2014/main" id="{4A566BDD-C328-4D18-80D2-BE54BEE06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940694" y="516224"/>
              <a:ext cx="208049" cy="208049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188282C-8C3D-45D5-81C3-211AA7D6B2E9}"/>
              </a:ext>
            </a:extLst>
          </p:cNvPr>
          <p:cNvGrpSpPr/>
          <p:nvPr/>
        </p:nvGrpSpPr>
        <p:grpSpPr>
          <a:xfrm>
            <a:off x="8820015" y="377129"/>
            <a:ext cx="378880" cy="330419"/>
            <a:chOff x="5769863" y="516224"/>
            <a:chExt cx="378880" cy="330419"/>
          </a:xfrm>
        </p:grpSpPr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076CEC36-7585-404D-9E14-86E66D87A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863" y="562909"/>
              <a:ext cx="341663" cy="283734"/>
            </a:xfrm>
            <a:prstGeom prst="rect">
              <a:avLst/>
            </a:prstGeom>
          </p:spPr>
        </p:pic>
        <p:pic>
          <p:nvPicPr>
            <p:cNvPr id="111" name="Graphic 110" descr="Close">
              <a:extLst>
                <a:ext uri="{FF2B5EF4-FFF2-40B4-BE49-F238E27FC236}">
                  <a16:creationId xmlns:a16="http://schemas.microsoft.com/office/drawing/2014/main" id="{3402A61F-8A71-4DB6-9658-B377E1B41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940694" y="516224"/>
              <a:ext cx="208049" cy="208049"/>
            </a:xfrm>
            <a:prstGeom prst="rect">
              <a:avLst/>
            </a:prstGeom>
          </p:spPr>
        </p:pic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21D5A96A-A55F-4247-9CD8-0475C3F7B377}"/>
              </a:ext>
            </a:extLst>
          </p:cNvPr>
          <p:cNvSpPr txBox="1"/>
          <p:nvPr/>
        </p:nvSpPr>
        <p:spPr>
          <a:xfrm>
            <a:off x="9198895" y="468970"/>
            <a:ext cx="11705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Self-signed certificate</a:t>
            </a:r>
            <a:endParaRPr lang="it-IT" sz="80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A06AB855-8715-4038-A03E-18FEA9F324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623" y="810753"/>
            <a:ext cx="341663" cy="283734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8A2BFF70-406D-4701-9873-7C7728A2493C}"/>
              </a:ext>
            </a:extLst>
          </p:cNvPr>
          <p:cNvSpPr txBox="1"/>
          <p:nvPr/>
        </p:nvSpPr>
        <p:spPr>
          <a:xfrm>
            <a:off x="9198895" y="818423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Signed by Global Sign</a:t>
            </a:r>
            <a:endParaRPr lang="it-IT" sz="8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2780BE-3ED9-4AB4-9157-385987228931}"/>
              </a:ext>
            </a:extLst>
          </p:cNvPr>
          <p:cNvSpPr txBox="1"/>
          <p:nvPr/>
        </p:nvSpPr>
        <p:spPr>
          <a:xfrm>
            <a:off x="5962813" y="2358605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tx2"/>
                </a:solidFill>
              </a:rPr>
              <a:t>HTTPS – 443 port</a:t>
            </a:r>
            <a:endParaRPr lang="it-IT" sz="800" b="1">
              <a:solidFill>
                <a:schemeClr val="tx2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427B9FB-DFF1-44B0-82BB-A10FEC078757}"/>
              </a:ext>
            </a:extLst>
          </p:cNvPr>
          <p:cNvSpPr txBox="1"/>
          <p:nvPr/>
        </p:nvSpPr>
        <p:spPr>
          <a:xfrm>
            <a:off x="5930686" y="2985388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tx2"/>
                </a:solidFill>
              </a:rPr>
              <a:t>HTTPS – 443 port</a:t>
            </a:r>
            <a:endParaRPr lang="it-IT" sz="800" b="1">
              <a:solidFill>
                <a:schemeClr val="tx2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2410FAC-8BB4-4F3D-8C52-C77A7CCC5C60}"/>
              </a:ext>
            </a:extLst>
          </p:cNvPr>
          <p:cNvSpPr txBox="1"/>
          <p:nvPr/>
        </p:nvSpPr>
        <p:spPr>
          <a:xfrm>
            <a:off x="5940834" y="3646533"/>
            <a:ext cx="10951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tx2"/>
                </a:solidFill>
              </a:rPr>
              <a:t>HTTPS – 9443 port</a:t>
            </a:r>
            <a:endParaRPr lang="it-IT" sz="800" b="1">
              <a:solidFill>
                <a:schemeClr val="tx2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6B5CD5-38C0-1988-580A-4955890EB1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7875" y="4350374"/>
            <a:ext cx="457576" cy="457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C20202-9E7C-6215-EDDA-7AE6CBA989B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680" y="4162104"/>
            <a:ext cx="341663" cy="2837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71C067A-05AA-2BEB-6F56-14448CB72475}"/>
              </a:ext>
            </a:extLst>
          </p:cNvPr>
          <p:cNvSpPr txBox="1"/>
          <p:nvPr/>
        </p:nvSpPr>
        <p:spPr>
          <a:xfrm>
            <a:off x="4316506" y="4041662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/>
              <a:t>ada-cert.generali.com</a:t>
            </a:r>
          </a:p>
          <a:p>
            <a:r>
              <a:rPr lang="en-US" sz="900"/>
              <a:t>Issued by Global Sign</a:t>
            </a:r>
            <a:endParaRPr lang="it-IT" sz="90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77762B7-2F84-E64D-F73A-E1B95E0279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18356" y="4385606"/>
            <a:ext cx="390417" cy="39041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00EDC-F5A9-2AC3-E7AC-24FDCE4EE670}"/>
              </a:ext>
            </a:extLst>
          </p:cNvPr>
          <p:cNvGrpSpPr/>
          <p:nvPr/>
        </p:nvGrpSpPr>
        <p:grpSpPr>
          <a:xfrm>
            <a:off x="7160100" y="4153408"/>
            <a:ext cx="378880" cy="330419"/>
            <a:chOff x="5769863" y="516224"/>
            <a:chExt cx="378880" cy="33041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5F6558D-CFE9-2B64-CEDC-A165BF4AF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863" y="562909"/>
              <a:ext cx="341663" cy="283734"/>
            </a:xfrm>
            <a:prstGeom prst="rect">
              <a:avLst/>
            </a:prstGeom>
          </p:spPr>
        </p:pic>
        <p:pic>
          <p:nvPicPr>
            <p:cNvPr id="27" name="Graphic 26" descr="Close">
              <a:extLst>
                <a:ext uri="{FF2B5EF4-FFF2-40B4-BE49-F238E27FC236}">
                  <a16:creationId xmlns:a16="http://schemas.microsoft.com/office/drawing/2014/main" id="{C6EF6DD3-95CC-C8DF-C3C4-3EEAB2493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940694" y="516224"/>
              <a:ext cx="208049" cy="208049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9629185-F827-83E4-4606-9F630D7A9B9A}"/>
              </a:ext>
            </a:extLst>
          </p:cNvPr>
          <p:cNvSpPr txBox="1"/>
          <p:nvPr/>
        </p:nvSpPr>
        <p:spPr>
          <a:xfrm>
            <a:off x="5940345" y="4340323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chemeClr val="tx2"/>
                </a:solidFill>
              </a:rPr>
              <a:t>HTTPS – 443 port</a:t>
            </a:r>
            <a:endParaRPr lang="it-IT" sz="800" b="1">
              <a:solidFill>
                <a:schemeClr val="tx2"/>
              </a:solidFill>
            </a:endParaRP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31A74B8-A488-A4EA-F141-80DF105EFBE0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3520680" y="3625040"/>
            <a:ext cx="787195" cy="954122"/>
          </a:xfrm>
          <a:prstGeom prst="bentConnector3">
            <a:avLst>
              <a:gd name="adj1" fmla="val 277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173C66-9B54-91FE-EC93-B46CF171C9BD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765451" y="4569999"/>
            <a:ext cx="2952905" cy="10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4FB43E-16E9-AC5F-4323-0B0AE0AA7CA7}"/>
              </a:ext>
            </a:extLst>
          </p:cNvPr>
          <p:cNvSpPr txBox="1"/>
          <p:nvPr/>
        </p:nvSpPr>
        <p:spPr>
          <a:xfrm>
            <a:off x="8055261" y="4402139"/>
            <a:ext cx="1624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vm-cert-enterpriseportal-01-idm</a:t>
            </a:r>
            <a:endParaRPr lang="it-IT" sz="800"/>
          </a:p>
        </p:txBody>
      </p:sp>
      <p:pic>
        <p:nvPicPr>
          <p:cNvPr id="34" name="Picture 2" descr="Imperva Logo">
            <a:extLst>
              <a:ext uri="{FF2B5EF4-FFF2-40B4-BE49-F238E27FC236}">
                <a16:creationId xmlns:a16="http://schemas.microsoft.com/office/drawing/2014/main" id="{589337CC-03CC-15FF-C805-886F93E2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09" y="3335281"/>
            <a:ext cx="685637" cy="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7815E5C0-AE45-52E2-0156-8D6E4E0ADCE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66" y="2918583"/>
            <a:ext cx="550738" cy="457360"/>
          </a:xfrm>
          <a:prstGeom prst="rect">
            <a:avLst/>
          </a:prstGeom>
        </p:spPr>
      </p:pic>
      <p:sp>
        <p:nvSpPr>
          <p:cNvPr id="39" name="TextBox 21">
            <a:extLst>
              <a:ext uri="{FF2B5EF4-FFF2-40B4-BE49-F238E27FC236}">
                <a16:creationId xmlns:a16="http://schemas.microsoft.com/office/drawing/2014/main" id="{3EDE7377-380E-1200-4B3F-5242FF3B47CD}"/>
              </a:ext>
            </a:extLst>
          </p:cNvPr>
          <p:cNvSpPr txBox="1"/>
          <p:nvPr/>
        </p:nvSpPr>
        <p:spPr>
          <a:xfrm>
            <a:off x="651533" y="2541519"/>
            <a:ext cx="130676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900" b="1"/>
              <a:t>*.generali.com</a:t>
            </a:r>
          </a:p>
          <a:p>
            <a:r>
              <a:rPr lang="en-US" sz="900"/>
              <a:t>Issued by Global Sign</a:t>
            </a: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3889160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661CC52E-BA34-4986-81FD-4BDD57D9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2305789"/>
            <a:ext cx="11182248" cy="1298575"/>
          </a:xfrm>
        </p:spPr>
        <p:txBody>
          <a:bodyPr/>
          <a:lstStyle/>
          <a:p>
            <a:pPr algn="ctr"/>
            <a:r>
              <a:rPr lang="it-IT" sz="3600" b="1"/>
              <a:t>SYSTEM MONITORING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1207288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33C96D-3B9C-4617-A89D-A007DD9EE34B}"/>
              </a:ext>
            </a:extLst>
          </p:cNvPr>
          <p:cNvSpPr/>
          <p:nvPr/>
        </p:nvSpPr>
        <p:spPr>
          <a:xfrm>
            <a:off x="301701" y="1987727"/>
            <a:ext cx="2057636" cy="3039374"/>
          </a:xfrm>
          <a:prstGeom prst="roundRect">
            <a:avLst>
              <a:gd name="adj" fmla="val 5912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04876" y="139982"/>
            <a:ext cx="11182248" cy="425095"/>
          </a:xfrm>
        </p:spPr>
        <p:txBody>
          <a:bodyPr/>
          <a:lstStyle/>
          <a:p>
            <a:r>
              <a:rPr lang="it-IT"/>
              <a:t>Monitoring - </a:t>
            </a:r>
            <a:r>
              <a:rPr lang="it-IT" err="1"/>
              <a:t>Infrastructure</a:t>
            </a:r>
            <a:endParaRPr lang="it-IT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4F51B-DD1C-494F-B423-81AF171863E9}"/>
              </a:ext>
            </a:extLst>
          </p:cNvPr>
          <p:cNvSpPr txBox="1"/>
          <p:nvPr/>
        </p:nvSpPr>
        <p:spPr>
          <a:xfrm>
            <a:off x="301703" y="2026280"/>
            <a:ext cx="192138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Strumenti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adottati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9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Azure Log Analytics: 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serve per la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raccolta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delle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informazioni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e lo storage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dei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raccolti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e da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analizzare</a:t>
            </a:r>
            <a:endParaRPr lang="en-US" sz="900" i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Azure Monitoring</a:t>
            </a:r>
            <a:r>
              <a:rPr lang="it-IT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with Email </a:t>
            </a:r>
            <a:r>
              <a:rPr lang="it-IT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Alert</a:t>
            </a:r>
            <a:r>
              <a:rPr lang="it-IT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it-IT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strumento messo a disposizione da </a:t>
            </a:r>
            <a:r>
              <a:rPr lang="it-IT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microsoft</a:t>
            </a:r>
            <a:r>
              <a:rPr lang="it-IT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per tracciare e monitorare i log presenti in Azure Log Analytics, che al verificarsi di superamento di soglie </a:t>
            </a:r>
            <a:r>
              <a:rPr lang="it-IT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</a:t>
            </a:r>
            <a:r>
              <a:rPr lang="it-IT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-impostate invia una mail di segnalazione al supporto AMS</a:t>
            </a:r>
          </a:p>
          <a:p>
            <a:pPr marL="171450" indent="-171450">
              <a:buFontTx/>
              <a:buChar char="-"/>
            </a:pPr>
            <a:r>
              <a:rPr lang="it-IT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Dashboard custom: </a:t>
            </a:r>
            <a:r>
              <a:rPr lang="it-IT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dashboard preconfezionate per una maggior efficacia delle analisi in fase di </a:t>
            </a:r>
            <a:r>
              <a:rPr lang="it-IT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troubleshooting</a:t>
            </a:r>
            <a:r>
              <a:rPr lang="it-IT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di un eventuale problema verificato</a:t>
            </a:r>
            <a:endParaRPr lang="en-US" sz="900" i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2593A1-A162-4129-9760-B6B6804C8359}"/>
              </a:ext>
            </a:extLst>
          </p:cNvPr>
          <p:cNvSpPr/>
          <p:nvPr/>
        </p:nvSpPr>
        <p:spPr>
          <a:xfrm>
            <a:off x="301701" y="1061313"/>
            <a:ext cx="2057636" cy="896290"/>
          </a:xfrm>
          <a:prstGeom prst="roundRect">
            <a:avLst>
              <a:gd name="adj" fmla="val 10115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E3AFB-DA64-4E3E-A151-38BD6F0EA428}"/>
              </a:ext>
            </a:extLst>
          </p:cNvPr>
          <p:cNvSpPr txBox="1"/>
          <p:nvPr/>
        </p:nvSpPr>
        <p:spPr>
          <a:xfrm>
            <a:off x="301701" y="1061313"/>
            <a:ext cx="219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Risorse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monitorate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- Sia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ambiente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produzione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ambiente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non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produzione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- Sia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infrastruttura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tipo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IaaS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PaaS/SaaS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648713-EC8F-466B-A65E-C69E7947CECC}"/>
              </a:ext>
            </a:extLst>
          </p:cNvPr>
          <p:cNvSpPr/>
          <p:nvPr/>
        </p:nvSpPr>
        <p:spPr>
          <a:xfrm>
            <a:off x="2428189" y="963782"/>
            <a:ext cx="4435718" cy="2742651"/>
          </a:xfrm>
          <a:prstGeom prst="roundRect">
            <a:avLst>
              <a:gd name="adj" fmla="val 3589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4A94A-A4B0-4275-8542-539B70BB9DB7}"/>
              </a:ext>
            </a:extLst>
          </p:cNvPr>
          <p:cNvSpPr txBox="1"/>
          <p:nvPr/>
        </p:nvSpPr>
        <p:spPr>
          <a:xfrm>
            <a:off x="3806657" y="963782"/>
            <a:ext cx="1526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IaaS Monitoring</a:t>
            </a:r>
            <a:endParaRPr lang="it-IT" sz="1400" b="1">
              <a:solidFill>
                <a:schemeClr val="accent1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F054797-42AB-4616-B1B9-BEA7DC2AE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4972" y="1303188"/>
            <a:ext cx="307777" cy="307777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E9FE69-BD4A-4B1B-A417-FD5A8693CDAE}"/>
              </a:ext>
            </a:extLst>
          </p:cNvPr>
          <p:cNvSpPr/>
          <p:nvPr/>
        </p:nvSpPr>
        <p:spPr>
          <a:xfrm>
            <a:off x="6932757" y="963781"/>
            <a:ext cx="5066401" cy="2742651"/>
          </a:xfrm>
          <a:prstGeom prst="roundRect">
            <a:avLst>
              <a:gd name="adj" fmla="val 3589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F86AB-3561-4426-8A33-1D19624EECBE}"/>
              </a:ext>
            </a:extLst>
          </p:cNvPr>
          <p:cNvSpPr txBox="1"/>
          <p:nvPr/>
        </p:nvSpPr>
        <p:spPr>
          <a:xfrm>
            <a:off x="8085795" y="969967"/>
            <a:ext cx="2085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PaaS/SaaS Monitoring</a:t>
            </a:r>
            <a:endParaRPr lang="it-IT" sz="1400" b="1">
              <a:solidFill>
                <a:schemeClr val="accent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44A8AA7-5FB9-4BA7-993E-8563650A9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4276" y="1267434"/>
            <a:ext cx="377869" cy="37786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BD6478B-E24C-4C1B-A92F-677409F952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2581" y="1275558"/>
            <a:ext cx="392603" cy="39260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AB7B9DA-2FE0-4ABB-93C4-F78D0C20ED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87102" y="1254937"/>
            <a:ext cx="399149" cy="39914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1AD9C94-D5D7-4518-BBEE-9E5F4E12C21D}"/>
              </a:ext>
            </a:extLst>
          </p:cNvPr>
          <p:cNvSpPr/>
          <p:nvPr/>
        </p:nvSpPr>
        <p:spPr>
          <a:xfrm rot="20736078">
            <a:off x="8767177" y="1505462"/>
            <a:ext cx="306992" cy="1172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>
                <a:solidFill>
                  <a:schemeClr val="tx2"/>
                </a:solidFill>
              </a:rPr>
              <a:t>WIP</a:t>
            </a:r>
            <a:endParaRPr lang="it-IT" sz="500">
              <a:solidFill>
                <a:schemeClr val="tx2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245A6CC-406E-43F5-A21C-1C607B4AE3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18584" y="1239281"/>
            <a:ext cx="377869" cy="3778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BDFADBA-269A-4E23-A5F4-80A802920E50}"/>
              </a:ext>
            </a:extLst>
          </p:cNvPr>
          <p:cNvSpPr txBox="1"/>
          <p:nvPr/>
        </p:nvSpPr>
        <p:spPr>
          <a:xfrm>
            <a:off x="2537269" y="1668161"/>
            <a:ext cx="41566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err="1"/>
              <a:t>Sono</a:t>
            </a:r>
            <a:r>
              <a:rPr lang="en-US" sz="800"/>
              <a:t> </a:t>
            </a:r>
            <a:r>
              <a:rPr lang="en-US" sz="800" err="1"/>
              <a:t>stati</a:t>
            </a:r>
            <a:r>
              <a:rPr lang="en-US" sz="800"/>
              <a:t> </a:t>
            </a:r>
            <a:r>
              <a:rPr lang="en-US" sz="800" err="1"/>
              <a:t>configurati</a:t>
            </a:r>
            <a:r>
              <a:rPr lang="en-US" sz="800"/>
              <a:t> per </a:t>
            </a:r>
            <a:r>
              <a:rPr lang="en-US" sz="800" err="1"/>
              <a:t>ogni</a:t>
            </a:r>
            <a:r>
              <a:rPr lang="en-US" sz="800"/>
              <a:t> </a:t>
            </a:r>
            <a:r>
              <a:rPr lang="en-US" sz="800" err="1"/>
              <a:t>ambiente</a:t>
            </a:r>
            <a:r>
              <a:rPr lang="en-US" sz="800"/>
              <a:t> (prod e non-prod) 14 server IaaS </a:t>
            </a:r>
            <a:r>
              <a:rPr lang="en-US" sz="800" err="1"/>
              <a:t>collegati</a:t>
            </a:r>
            <a:r>
              <a:rPr lang="en-US" sz="800"/>
              <a:t> </a:t>
            </a:r>
            <a:r>
              <a:rPr lang="en-US" sz="800" err="1"/>
              <a:t>direttamente</a:t>
            </a:r>
            <a:r>
              <a:rPr lang="en-US" sz="800"/>
              <a:t> al </a:t>
            </a:r>
            <a:r>
              <a:rPr lang="en-US" sz="800" err="1"/>
              <a:t>servizio</a:t>
            </a:r>
            <a:r>
              <a:rPr lang="en-US" sz="800"/>
              <a:t> SaaS Azure Log Analytics.</a:t>
            </a:r>
          </a:p>
          <a:p>
            <a:endParaRPr lang="en-US" sz="800"/>
          </a:p>
          <a:p>
            <a:r>
              <a:rPr lang="en-US" sz="800"/>
              <a:t>Le </a:t>
            </a:r>
            <a:r>
              <a:rPr lang="en-US" sz="800" err="1"/>
              <a:t>principali</a:t>
            </a:r>
            <a:r>
              <a:rPr lang="en-US" sz="800"/>
              <a:t> </a:t>
            </a:r>
            <a:r>
              <a:rPr lang="en-US" sz="800" err="1"/>
              <a:t>informazioni</a:t>
            </a:r>
            <a:r>
              <a:rPr lang="en-US" sz="800"/>
              <a:t> </a:t>
            </a:r>
            <a:r>
              <a:rPr lang="en-US" sz="800" err="1"/>
              <a:t>raccolte</a:t>
            </a:r>
            <a:r>
              <a:rPr lang="en-US" sz="800"/>
              <a:t> in Azure Log Analytics </a:t>
            </a:r>
            <a:r>
              <a:rPr lang="en-US" sz="800" err="1"/>
              <a:t>sono</a:t>
            </a:r>
            <a:r>
              <a:rPr lang="en-US" sz="800"/>
              <a:t> %CPU di </a:t>
            </a:r>
            <a:r>
              <a:rPr lang="en-US" sz="800" err="1"/>
              <a:t>utilizzo</a:t>
            </a:r>
            <a:r>
              <a:rPr lang="en-US" sz="800"/>
              <a:t>, </a:t>
            </a:r>
            <a:r>
              <a:rPr lang="en-US" sz="800" err="1"/>
              <a:t>memoria</a:t>
            </a:r>
            <a:r>
              <a:rPr lang="en-US" sz="800"/>
              <a:t> </a:t>
            </a:r>
            <a:r>
              <a:rPr lang="en-US" sz="800" err="1"/>
              <a:t>disponibile</a:t>
            </a:r>
            <a:r>
              <a:rPr lang="en-US" sz="800"/>
              <a:t> e </a:t>
            </a:r>
            <a:r>
              <a:rPr lang="en-US" sz="800" err="1"/>
              <a:t>spazio</a:t>
            </a:r>
            <a:r>
              <a:rPr lang="en-US" sz="800"/>
              <a:t> disco </a:t>
            </a:r>
            <a:r>
              <a:rPr lang="en-US" sz="800" err="1"/>
              <a:t>disponibile</a:t>
            </a:r>
            <a:r>
              <a:rPr lang="en-US" sz="800"/>
              <a:t> con una retention di 30 </a:t>
            </a:r>
            <a:r>
              <a:rPr lang="en-US" sz="800" err="1"/>
              <a:t>giorni</a:t>
            </a:r>
            <a:r>
              <a:rPr lang="en-US" sz="800"/>
              <a:t>.</a:t>
            </a:r>
          </a:p>
          <a:p>
            <a:endParaRPr lang="en-US" sz="800"/>
          </a:p>
          <a:p>
            <a:r>
              <a:rPr lang="en-US" sz="800" err="1"/>
              <a:t>Soglie</a:t>
            </a:r>
            <a:r>
              <a:rPr lang="en-US" sz="800"/>
              <a:t> </a:t>
            </a:r>
            <a:r>
              <a:rPr lang="en-US" sz="800" err="1"/>
              <a:t>implementate</a:t>
            </a:r>
            <a:r>
              <a:rPr lang="en-US" sz="800"/>
              <a:t> per la </a:t>
            </a:r>
            <a:r>
              <a:rPr lang="en-US" sz="800" err="1"/>
              <a:t>segnalazione</a:t>
            </a:r>
            <a:r>
              <a:rPr lang="en-US" sz="800"/>
              <a:t> via mail e </a:t>
            </a:r>
            <a:r>
              <a:rPr lang="en-US" sz="800" err="1"/>
              <a:t>attivazione</a:t>
            </a:r>
            <a:r>
              <a:rPr lang="en-US" sz="800"/>
              <a:t> del team AMS di NTT </a:t>
            </a:r>
            <a:r>
              <a:rPr lang="en-US" sz="800" err="1"/>
              <a:t>sono</a:t>
            </a:r>
            <a:r>
              <a:rPr lang="en-US" sz="800"/>
              <a:t>:</a:t>
            </a:r>
          </a:p>
          <a:p>
            <a:pPr marL="171450" indent="-171450">
              <a:buFontTx/>
              <a:buChar char="-"/>
            </a:pPr>
            <a:r>
              <a:rPr lang="en-US" sz="800"/>
              <a:t>% CPU media </a:t>
            </a:r>
            <a:r>
              <a:rPr lang="en-US" sz="800" err="1"/>
              <a:t>nell’arco</a:t>
            </a:r>
            <a:r>
              <a:rPr lang="en-US" sz="800"/>
              <a:t> di 1 </a:t>
            </a:r>
            <a:r>
              <a:rPr lang="en-US" sz="800" err="1"/>
              <a:t>minuto</a:t>
            </a:r>
            <a:r>
              <a:rPr lang="en-US" sz="800"/>
              <a:t> sopra il 90% per </a:t>
            </a:r>
            <a:r>
              <a:rPr lang="en-US" sz="800" err="1"/>
              <a:t>più</a:t>
            </a:r>
            <a:r>
              <a:rPr lang="en-US" sz="800"/>
              <a:t> di 10 volte </a:t>
            </a:r>
            <a:r>
              <a:rPr lang="en-US" sz="800" err="1"/>
              <a:t>nell’arco</a:t>
            </a:r>
            <a:r>
              <a:rPr lang="en-US" sz="800"/>
              <a:t> </a:t>
            </a:r>
            <a:r>
              <a:rPr lang="en-US" sz="800" err="1"/>
              <a:t>della</a:t>
            </a:r>
            <a:r>
              <a:rPr lang="en-US" sz="800"/>
              <a:t> </a:t>
            </a:r>
            <a:r>
              <a:rPr lang="en-US" sz="800" err="1"/>
              <a:t>giornata</a:t>
            </a:r>
            <a:endParaRPr lang="en-US" sz="800"/>
          </a:p>
          <a:p>
            <a:pPr marL="171450" indent="-171450">
              <a:buFontTx/>
              <a:buChar char="-"/>
            </a:pPr>
            <a:r>
              <a:rPr lang="en-US" sz="800"/>
              <a:t>% media di </a:t>
            </a:r>
            <a:r>
              <a:rPr lang="en-US" sz="800" err="1"/>
              <a:t>memoria</a:t>
            </a:r>
            <a:r>
              <a:rPr lang="en-US" sz="800"/>
              <a:t> </a:t>
            </a:r>
            <a:r>
              <a:rPr lang="en-US" sz="800" err="1"/>
              <a:t>disponibile</a:t>
            </a:r>
            <a:r>
              <a:rPr lang="en-US" sz="800"/>
              <a:t> </a:t>
            </a:r>
            <a:r>
              <a:rPr lang="en-US" sz="800" err="1"/>
              <a:t>nell’arco</a:t>
            </a:r>
            <a:r>
              <a:rPr lang="en-US" sz="800"/>
              <a:t> di  10 </a:t>
            </a:r>
            <a:r>
              <a:rPr lang="en-US" sz="800" err="1"/>
              <a:t>minuti</a:t>
            </a:r>
            <a:r>
              <a:rPr lang="en-US" sz="800"/>
              <a:t>  sopra il 90% per </a:t>
            </a:r>
            <a:r>
              <a:rPr lang="en-US" sz="800" err="1"/>
              <a:t>più</a:t>
            </a:r>
            <a:r>
              <a:rPr lang="en-US" sz="800"/>
              <a:t> di 10 volte </a:t>
            </a:r>
            <a:r>
              <a:rPr lang="en-US" sz="800" err="1"/>
              <a:t>nell’arco</a:t>
            </a:r>
            <a:r>
              <a:rPr lang="en-US" sz="800"/>
              <a:t> </a:t>
            </a:r>
            <a:r>
              <a:rPr lang="en-US" sz="800" err="1"/>
              <a:t>della</a:t>
            </a:r>
            <a:r>
              <a:rPr lang="en-US" sz="800"/>
              <a:t> </a:t>
            </a:r>
            <a:r>
              <a:rPr lang="en-US" sz="800" err="1"/>
              <a:t>giornata</a:t>
            </a:r>
            <a:endParaRPr lang="en-US" sz="800"/>
          </a:p>
          <a:p>
            <a:pPr marL="171450" indent="-171450">
              <a:buFontTx/>
              <a:buChar char="-"/>
            </a:pPr>
            <a:r>
              <a:rPr lang="en-US" sz="800" err="1"/>
              <a:t>Spazio</a:t>
            </a:r>
            <a:r>
              <a:rPr lang="en-US" sz="800"/>
              <a:t> disco medio </a:t>
            </a:r>
            <a:r>
              <a:rPr lang="en-US" sz="800" err="1"/>
              <a:t>nell’arco</a:t>
            </a:r>
            <a:r>
              <a:rPr lang="en-US" sz="800"/>
              <a:t> di 2h </a:t>
            </a:r>
            <a:r>
              <a:rPr lang="en-US" sz="800" err="1"/>
              <a:t>oltre</a:t>
            </a:r>
            <a:r>
              <a:rPr lang="en-US" sz="800"/>
              <a:t> la </a:t>
            </a:r>
            <a:r>
              <a:rPr lang="en-US" sz="800" err="1"/>
              <a:t>soglia</a:t>
            </a:r>
            <a:r>
              <a:rPr lang="en-US" sz="800"/>
              <a:t> del 85%</a:t>
            </a:r>
          </a:p>
          <a:p>
            <a:pPr marL="171450" indent="-171450">
              <a:buFontTx/>
              <a:buChar char="-"/>
            </a:pPr>
            <a:endParaRPr lang="en-US" sz="800"/>
          </a:p>
          <a:p>
            <a:r>
              <a:rPr lang="en-US" sz="800" err="1"/>
              <a:t>Sviluppate</a:t>
            </a:r>
            <a:r>
              <a:rPr lang="en-US" sz="800"/>
              <a:t> </a:t>
            </a:r>
            <a:r>
              <a:rPr lang="en-US" sz="800" err="1"/>
              <a:t>delle</a:t>
            </a:r>
            <a:r>
              <a:rPr lang="en-US" sz="800"/>
              <a:t> dashboard </a:t>
            </a:r>
            <a:r>
              <a:rPr lang="en-US" sz="800" err="1"/>
              <a:t>specifiche</a:t>
            </a:r>
            <a:r>
              <a:rPr lang="en-US" sz="800"/>
              <a:t> per </a:t>
            </a:r>
            <a:r>
              <a:rPr lang="en-US" sz="800" err="1"/>
              <a:t>i</a:t>
            </a:r>
            <a:r>
              <a:rPr lang="en-US" sz="800"/>
              <a:t> </a:t>
            </a:r>
            <a:r>
              <a:rPr lang="en-US" sz="800" err="1"/>
              <a:t>vari</a:t>
            </a:r>
            <a:r>
              <a:rPr lang="en-US" sz="800"/>
              <a:t> </a:t>
            </a:r>
            <a:r>
              <a:rPr lang="en-US" sz="800" err="1"/>
              <a:t>ambienti</a:t>
            </a:r>
            <a:r>
              <a:rPr lang="en-US" sz="800"/>
              <a:t> screenshot di </a:t>
            </a:r>
            <a:r>
              <a:rPr lang="en-US" sz="800" err="1"/>
              <a:t>esempio</a:t>
            </a:r>
            <a:r>
              <a:rPr lang="en-US" sz="800"/>
              <a:t> qui sotto.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1B34E7-404A-4351-A9E5-FB695C3E0C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9295" y="3901143"/>
            <a:ext cx="4348511" cy="279592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8A975B-6D28-41D4-951E-580EDE9CE820}"/>
              </a:ext>
            </a:extLst>
          </p:cNvPr>
          <p:cNvSpPr txBox="1"/>
          <p:nvPr/>
        </p:nvSpPr>
        <p:spPr>
          <a:xfrm>
            <a:off x="7009310" y="1668161"/>
            <a:ext cx="4989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err="1"/>
              <a:t>Sono</a:t>
            </a:r>
            <a:r>
              <a:rPr lang="en-US" sz="700"/>
              <a:t> </a:t>
            </a:r>
            <a:r>
              <a:rPr lang="en-US" sz="700" err="1"/>
              <a:t>stati</a:t>
            </a:r>
            <a:r>
              <a:rPr lang="en-US" sz="700"/>
              <a:t> </a:t>
            </a:r>
            <a:r>
              <a:rPr lang="en-US" sz="700" err="1"/>
              <a:t>configurati</a:t>
            </a:r>
            <a:r>
              <a:rPr lang="en-US" sz="700"/>
              <a:t> per </a:t>
            </a:r>
            <a:r>
              <a:rPr lang="en-US" sz="700" err="1"/>
              <a:t>ogni</a:t>
            </a:r>
            <a:r>
              <a:rPr lang="en-US" sz="700"/>
              <a:t> </a:t>
            </a:r>
            <a:r>
              <a:rPr lang="en-US" sz="700" err="1"/>
              <a:t>ambiente</a:t>
            </a:r>
            <a:r>
              <a:rPr lang="en-US" sz="700"/>
              <a:t> (prod e non-prod) </a:t>
            </a:r>
            <a:r>
              <a:rPr lang="en-US" sz="700" err="1"/>
              <a:t>dei</a:t>
            </a:r>
            <a:r>
              <a:rPr lang="en-US" sz="700"/>
              <a:t> </a:t>
            </a:r>
            <a:r>
              <a:rPr lang="en-US" sz="700" err="1"/>
              <a:t>monitoraggi</a:t>
            </a:r>
            <a:r>
              <a:rPr lang="en-US" sz="700"/>
              <a:t> </a:t>
            </a:r>
            <a:r>
              <a:rPr lang="en-US" sz="700" err="1"/>
              <a:t>anche</a:t>
            </a:r>
            <a:r>
              <a:rPr lang="en-US" sz="700"/>
              <a:t> sui </a:t>
            </a:r>
            <a:r>
              <a:rPr lang="en-US" sz="700" err="1"/>
              <a:t>varie</a:t>
            </a:r>
            <a:r>
              <a:rPr lang="en-US" sz="700"/>
              <a:t> </a:t>
            </a:r>
            <a:r>
              <a:rPr lang="en-US" sz="700" err="1"/>
              <a:t>risorse</a:t>
            </a:r>
            <a:r>
              <a:rPr lang="en-US" sz="700"/>
              <a:t> PaaS/SaaS di azure </a:t>
            </a:r>
            <a:r>
              <a:rPr lang="en-US" sz="700" err="1"/>
              <a:t>adottate</a:t>
            </a:r>
            <a:r>
              <a:rPr lang="en-US" sz="700"/>
              <a:t> da ADA come lo Storage Account (alias </a:t>
            </a:r>
            <a:r>
              <a:rPr lang="en-US" sz="700" err="1"/>
              <a:t>Datalake</a:t>
            </a:r>
            <a:r>
              <a:rPr lang="en-US" sz="700"/>
              <a:t>), Azure Application Gateway e Azure SQL elastic pool. </a:t>
            </a:r>
            <a:r>
              <a:rPr lang="en-US" sz="700" err="1"/>
              <a:t>Attività</a:t>
            </a:r>
            <a:r>
              <a:rPr lang="en-US" sz="700"/>
              <a:t> </a:t>
            </a:r>
            <a:r>
              <a:rPr lang="en-US" sz="700" err="1"/>
              <a:t>ancora</a:t>
            </a:r>
            <a:r>
              <a:rPr lang="en-US" sz="700"/>
              <a:t> da </a:t>
            </a:r>
            <a:r>
              <a:rPr lang="en-US" sz="700" err="1"/>
              <a:t>completare</a:t>
            </a:r>
            <a:r>
              <a:rPr lang="en-US" sz="700"/>
              <a:t> </a:t>
            </a:r>
            <a:r>
              <a:rPr lang="en-US" sz="700" err="1"/>
              <a:t>invece</a:t>
            </a:r>
            <a:r>
              <a:rPr lang="en-US" sz="700"/>
              <a:t> per </a:t>
            </a:r>
            <a:r>
              <a:rPr lang="en-US" sz="700" err="1"/>
              <a:t>quanto</a:t>
            </a:r>
            <a:r>
              <a:rPr lang="en-US" sz="700"/>
              <a:t> </a:t>
            </a:r>
            <a:r>
              <a:rPr lang="en-US" sz="700" err="1"/>
              <a:t>riguarda</a:t>
            </a:r>
            <a:r>
              <a:rPr lang="en-US" sz="700"/>
              <a:t> lo </a:t>
            </a:r>
            <a:r>
              <a:rPr lang="en-US" sz="700" err="1"/>
              <a:t>strumento</a:t>
            </a:r>
            <a:r>
              <a:rPr lang="en-US" sz="700"/>
              <a:t> Synapse.</a:t>
            </a:r>
          </a:p>
          <a:p>
            <a:endParaRPr lang="en-US" sz="700"/>
          </a:p>
          <a:p>
            <a:r>
              <a:rPr lang="en-US" sz="700"/>
              <a:t>Non </a:t>
            </a:r>
            <a:r>
              <a:rPr lang="en-US" sz="700" err="1"/>
              <a:t>tutte</a:t>
            </a:r>
            <a:r>
              <a:rPr lang="en-US" sz="700"/>
              <a:t> le </a:t>
            </a:r>
            <a:r>
              <a:rPr lang="en-US" sz="700" err="1"/>
              <a:t>risorse</a:t>
            </a:r>
            <a:r>
              <a:rPr lang="en-US" sz="700"/>
              <a:t> </a:t>
            </a:r>
            <a:r>
              <a:rPr lang="en-US" sz="700" err="1"/>
              <a:t>sono</a:t>
            </a:r>
            <a:r>
              <a:rPr lang="en-US" sz="700"/>
              <a:t> state </a:t>
            </a:r>
            <a:r>
              <a:rPr lang="en-US" sz="700" err="1"/>
              <a:t>agganciate</a:t>
            </a:r>
            <a:r>
              <a:rPr lang="en-US" sz="700"/>
              <a:t> a Azure Log Analytics come per la </a:t>
            </a:r>
            <a:r>
              <a:rPr lang="en-US" sz="700" err="1"/>
              <a:t>parte</a:t>
            </a:r>
            <a:r>
              <a:rPr lang="en-US" sz="700"/>
              <a:t> IaaS. Ad </a:t>
            </a:r>
            <a:r>
              <a:rPr lang="en-US" sz="700" err="1"/>
              <a:t>esempio</a:t>
            </a:r>
            <a:r>
              <a:rPr lang="en-US" sz="700"/>
              <a:t> Azure SQL elastic pool è </a:t>
            </a:r>
            <a:r>
              <a:rPr lang="en-US" sz="700" err="1"/>
              <a:t>stato</a:t>
            </a:r>
            <a:r>
              <a:rPr lang="en-US" sz="700"/>
              <a:t> </a:t>
            </a:r>
            <a:r>
              <a:rPr lang="en-US" sz="700" err="1"/>
              <a:t>salvato</a:t>
            </a:r>
            <a:r>
              <a:rPr lang="en-US" sz="700"/>
              <a:t> in un </a:t>
            </a:r>
            <a:r>
              <a:rPr lang="en-US" sz="700" err="1"/>
              <a:t>altro</a:t>
            </a:r>
            <a:r>
              <a:rPr lang="en-US" sz="700"/>
              <a:t> </a:t>
            </a:r>
            <a:r>
              <a:rPr lang="en-US" sz="700" err="1"/>
              <a:t>datalake</a:t>
            </a:r>
            <a:r>
              <a:rPr lang="en-US" sz="700"/>
              <a:t> di </a:t>
            </a:r>
            <a:r>
              <a:rPr lang="en-US" sz="700" err="1"/>
              <a:t>appoggio</a:t>
            </a:r>
            <a:r>
              <a:rPr lang="en-US" sz="700"/>
              <a:t> per </a:t>
            </a:r>
            <a:r>
              <a:rPr lang="en-US" sz="700" err="1"/>
              <a:t>questione</a:t>
            </a:r>
            <a:r>
              <a:rPr lang="en-US" sz="700"/>
              <a:t> di </a:t>
            </a:r>
            <a:r>
              <a:rPr lang="en-US" sz="700" err="1"/>
              <a:t>costi</a:t>
            </a:r>
            <a:r>
              <a:rPr lang="en-US" sz="700"/>
              <a:t> e </a:t>
            </a:r>
            <a:r>
              <a:rPr lang="en-US" sz="700" err="1"/>
              <a:t>volumi</a:t>
            </a:r>
            <a:r>
              <a:rPr lang="en-US" sz="700"/>
              <a:t> </a:t>
            </a:r>
            <a:r>
              <a:rPr lang="en-US" sz="700" err="1"/>
              <a:t>generati</a:t>
            </a:r>
            <a:r>
              <a:rPr lang="en-US" sz="700"/>
              <a:t>, è possible </a:t>
            </a:r>
            <a:r>
              <a:rPr lang="en-US" sz="700" err="1"/>
              <a:t>comunque</a:t>
            </a:r>
            <a:r>
              <a:rPr lang="en-US" sz="700"/>
              <a:t> con azure monitor e dashboard custom </a:t>
            </a:r>
            <a:r>
              <a:rPr lang="en-US" sz="700" err="1"/>
              <a:t>monitorare</a:t>
            </a:r>
            <a:r>
              <a:rPr lang="en-US" sz="700"/>
              <a:t> le DWH </a:t>
            </a:r>
            <a:r>
              <a:rPr lang="en-US" sz="700" err="1"/>
              <a:t>che</a:t>
            </a:r>
            <a:r>
              <a:rPr lang="en-US" sz="700"/>
              <a:t> </a:t>
            </a:r>
            <a:r>
              <a:rPr lang="en-US" sz="700" err="1"/>
              <a:t>sono</a:t>
            </a:r>
            <a:r>
              <a:rPr lang="en-US" sz="700"/>
              <a:t> una </a:t>
            </a:r>
            <a:r>
              <a:rPr lang="en-US" sz="700" err="1"/>
              <a:t>unità</a:t>
            </a:r>
            <a:r>
              <a:rPr lang="en-US" sz="700"/>
              <a:t> di </a:t>
            </a:r>
            <a:r>
              <a:rPr lang="en-US" sz="700" err="1"/>
              <a:t>misura</a:t>
            </a:r>
            <a:r>
              <a:rPr lang="en-US" sz="700"/>
              <a:t> </a:t>
            </a:r>
            <a:r>
              <a:rPr lang="en-US" sz="700" err="1"/>
              <a:t>specifica</a:t>
            </a:r>
            <a:r>
              <a:rPr lang="en-US" sz="700"/>
              <a:t> di </a:t>
            </a:r>
            <a:r>
              <a:rPr lang="en-US" sz="700" err="1"/>
              <a:t>microsoft</a:t>
            </a:r>
            <a:r>
              <a:rPr lang="en-US" sz="700"/>
              <a:t>, </a:t>
            </a:r>
            <a:r>
              <a:rPr lang="en-US" sz="700" err="1"/>
              <a:t>combinazione</a:t>
            </a:r>
            <a:r>
              <a:rPr lang="en-US" sz="700"/>
              <a:t> di </a:t>
            </a:r>
            <a:r>
              <a:rPr lang="en-US" sz="700" err="1"/>
              <a:t>cpu</a:t>
            </a:r>
            <a:r>
              <a:rPr lang="en-US" sz="700"/>
              <a:t> e </a:t>
            </a:r>
            <a:r>
              <a:rPr lang="en-US" sz="700" err="1"/>
              <a:t>spazio</a:t>
            </a:r>
            <a:r>
              <a:rPr lang="en-US" sz="700"/>
              <a:t> </a:t>
            </a:r>
            <a:r>
              <a:rPr lang="en-US" sz="700" err="1"/>
              <a:t>memoria</a:t>
            </a:r>
            <a:r>
              <a:rPr lang="en-US" sz="700"/>
              <a:t>, </a:t>
            </a:r>
            <a:r>
              <a:rPr lang="en-US" sz="700" err="1"/>
              <a:t>che</a:t>
            </a:r>
            <a:r>
              <a:rPr lang="en-US" sz="700"/>
              <a:t> indica il </a:t>
            </a:r>
            <a:r>
              <a:rPr lang="en-US" sz="700" err="1"/>
              <a:t>livello</a:t>
            </a:r>
            <a:r>
              <a:rPr lang="en-US" sz="700"/>
              <a:t> di </a:t>
            </a:r>
            <a:r>
              <a:rPr lang="en-US" sz="700" err="1"/>
              <a:t>consumo</a:t>
            </a:r>
            <a:r>
              <a:rPr lang="en-US" sz="700"/>
              <a:t> </a:t>
            </a:r>
            <a:r>
              <a:rPr lang="en-US" sz="700" err="1"/>
              <a:t>della</a:t>
            </a:r>
            <a:r>
              <a:rPr lang="en-US" sz="700"/>
              <a:t> </a:t>
            </a:r>
            <a:r>
              <a:rPr lang="en-US" sz="700" err="1"/>
              <a:t>risorsa</a:t>
            </a:r>
            <a:r>
              <a:rPr lang="en-US" sz="700"/>
              <a:t>.</a:t>
            </a:r>
          </a:p>
          <a:p>
            <a:endParaRPr lang="en-US" sz="700"/>
          </a:p>
          <a:p>
            <a:r>
              <a:rPr lang="en-US" sz="700" err="1"/>
              <a:t>Sono</a:t>
            </a:r>
            <a:r>
              <a:rPr lang="en-US" sz="700"/>
              <a:t> state definite le </a:t>
            </a:r>
            <a:r>
              <a:rPr lang="en-US" sz="700" err="1"/>
              <a:t>seguenti</a:t>
            </a:r>
            <a:r>
              <a:rPr lang="en-US" sz="700"/>
              <a:t> </a:t>
            </a:r>
            <a:r>
              <a:rPr lang="en-US" sz="700" err="1"/>
              <a:t>soglie</a:t>
            </a:r>
            <a:r>
              <a:rPr lang="en-US" sz="700"/>
              <a:t> di </a:t>
            </a:r>
            <a:r>
              <a:rPr lang="en-US" sz="700" err="1"/>
              <a:t>monitoraggio</a:t>
            </a:r>
            <a:r>
              <a:rPr lang="en-US" sz="700"/>
              <a:t> </a:t>
            </a:r>
            <a:r>
              <a:rPr lang="en-US" sz="700" err="1"/>
              <a:t>che</a:t>
            </a:r>
            <a:r>
              <a:rPr lang="en-US" sz="700"/>
              <a:t> </a:t>
            </a:r>
            <a:r>
              <a:rPr lang="en-US" sz="700" err="1"/>
              <a:t>pssono</a:t>
            </a:r>
            <a:r>
              <a:rPr lang="en-US" sz="700"/>
              <a:t> </a:t>
            </a:r>
            <a:r>
              <a:rPr lang="en-US" sz="700" err="1"/>
              <a:t>generare</a:t>
            </a:r>
            <a:r>
              <a:rPr lang="en-US" sz="700"/>
              <a:t> una mail di alert verso </a:t>
            </a:r>
            <a:r>
              <a:rPr lang="en-US" sz="700" err="1"/>
              <a:t>l’ams</a:t>
            </a:r>
            <a:r>
              <a:rPr lang="en-US" sz="700"/>
              <a:t> di NTT:</a:t>
            </a:r>
          </a:p>
          <a:p>
            <a:pPr marL="171450" indent="-171450">
              <a:buFontTx/>
              <a:buChar char="-"/>
            </a:pPr>
            <a:r>
              <a:rPr lang="en-US" sz="700"/>
              <a:t>SQL elastic pool </a:t>
            </a:r>
            <a:r>
              <a:rPr lang="en-US" sz="700" err="1"/>
              <a:t>soglia</a:t>
            </a:r>
            <a:r>
              <a:rPr lang="en-US" sz="700"/>
              <a:t> </a:t>
            </a:r>
            <a:r>
              <a:rPr lang="en-US" sz="700" err="1"/>
              <a:t>impostata</a:t>
            </a:r>
            <a:r>
              <a:rPr lang="en-US" sz="700"/>
              <a:t> per </a:t>
            </a:r>
            <a:r>
              <a:rPr lang="en-US" sz="700" err="1"/>
              <a:t>l’unita</a:t>
            </a:r>
            <a:r>
              <a:rPr lang="en-US" sz="700"/>
              <a:t> di </a:t>
            </a:r>
            <a:r>
              <a:rPr lang="en-US" sz="700" err="1"/>
              <a:t>misura</a:t>
            </a:r>
            <a:r>
              <a:rPr lang="en-US" sz="700"/>
              <a:t> DWH al 90% </a:t>
            </a:r>
            <a:r>
              <a:rPr lang="en-US" sz="700" err="1"/>
              <a:t>sull’intera</a:t>
            </a:r>
            <a:r>
              <a:rPr lang="en-US" sz="700"/>
              <a:t> </a:t>
            </a:r>
            <a:r>
              <a:rPr lang="en-US" sz="700" err="1"/>
              <a:t>risorsa</a:t>
            </a:r>
            <a:r>
              <a:rPr lang="en-US" sz="700"/>
              <a:t> al 40% </a:t>
            </a:r>
            <a:r>
              <a:rPr lang="en-US" sz="700" err="1"/>
              <a:t>su</a:t>
            </a:r>
            <a:r>
              <a:rPr lang="en-US" sz="700"/>
              <a:t> </a:t>
            </a:r>
            <a:r>
              <a:rPr lang="en-US" sz="700" err="1"/>
              <a:t>ogni</a:t>
            </a:r>
            <a:r>
              <a:rPr lang="en-US" sz="700"/>
              <a:t> </a:t>
            </a:r>
            <a:r>
              <a:rPr lang="en-US" sz="700" err="1"/>
              <a:t>singola</a:t>
            </a:r>
            <a:r>
              <a:rPr lang="en-US" sz="700"/>
              <a:t> </a:t>
            </a:r>
            <a:r>
              <a:rPr lang="en-US" sz="700" err="1"/>
              <a:t>istanza</a:t>
            </a:r>
            <a:r>
              <a:rPr lang="en-US" sz="700"/>
              <a:t> di database</a:t>
            </a:r>
          </a:p>
          <a:p>
            <a:pPr marL="171450" indent="-171450">
              <a:buFontTx/>
              <a:buChar char="-"/>
            </a:pPr>
            <a:r>
              <a:rPr lang="en-US" sz="700"/>
              <a:t>Storage Account </a:t>
            </a:r>
            <a:r>
              <a:rPr lang="en-US" sz="700" err="1"/>
              <a:t>soglia</a:t>
            </a:r>
            <a:r>
              <a:rPr lang="en-US" sz="700"/>
              <a:t> </a:t>
            </a:r>
            <a:r>
              <a:rPr lang="en-US" sz="700" err="1"/>
              <a:t>impostata</a:t>
            </a:r>
            <a:r>
              <a:rPr lang="en-US" sz="700"/>
              <a:t> </a:t>
            </a:r>
            <a:r>
              <a:rPr lang="en-US" sz="700" err="1"/>
              <a:t>sulla</a:t>
            </a:r>
            <a:r>
              <a:rPr lang="en-US" sz="700"/>
              <a:t> </a:t>
            </a:r>
            <a:r>
              <a:rPr lang="en-US" sz="700" err="1"/>
              <a:t>latenza</a:t>
            </a:r>
            <a:r>
              <a:rPr lang="en-US" sz="700"/>
              <a:t> del network superior ai 45 millisecond, </a:t>
            </a:r>
            <a:r>
              <a:rPr lang="en-US" sz="700" err="1"/>
              <a:t>inoltre</a:t>
            </a:r>
            <a:r>
              <a:rPr lang="en-US" sz="700"/>
              <a:t> </a:t>
            </a:r>
            <a:r>
              <a:rPr lang="en-US" sz="700" err="1"/>
              <a:t>segnala</a:t>
            </a:r>
            <a:r>
              <a:rPr lang="en-US" sz="700"/>
              <a:t> se </a:t>
            </a:r>
            <a:r>
              <a:rPr lang="en-US" sz="700" err="1"/>
              <a:t>vengono</a:t>
            </a:r>
            <a:r>
              <a:rPr lang="en-US" sz="700"/>
              <a:t> </a:t>
            </a:r>
            <a:r>
              <a:rPr lang="en-US" sz="700" err="1"/>
              <a:t>superate</a:t>
            </a:r>
            <a:r>
              <a:rPr lang="en-US" sz="700"/>
              <a:t> le 50 </a:t>
            </a:r>
            <a:r>
              <a:rPr lang="en-US" sz="700" err="1"/>
              <a:t>transazioni</a:t>
            </a:r>
            <a:r>
              <a:rPr lang="en-US" sz="700"/>
              <a:t> in </a:t>
            </a:r>
            <a:r>
              <a:rPr lang="en-US" sz="700" err="1"/>
              <a:t>errore</a:t>
            </a:r>
            <a:r>
              <a:rPr lang="en-US" sz="700"/>
              <a:t> </a:t>
            </a:r>
            <a:r>
              <a:rPr lang="en-US" sz="700" err="1"/>
              <a:t>nell’arco</a:t>
            </a:r>
            <a:r>
              <a:rPr lang="en-US" sz="700"/>
              <a:t> </a:t>
            </a:r>
            <a:r>
              <a:rPr lang="en-US" sz="700" err="1"/>
              <a:t>della</a:t>
            </a:r>
            <a:r>
              <a:rPr lang="en-US" sz="700"/>
              <a:t> </a:t>
            </a:r>
            <a:r>
              <a:rPr lang="en-US" sz="700" err="1"/>
              <a:t>giornata</a:t>
            </a:r>
            <a:r>
              <a:rPr lang="en-US" sz="700"/>
              <a:t> (</a:t>
            </a:r>
            <a:r>
              <a:rPr lang="en-US" sz="700" err="1"/>
              <a:t>tipo</a:t>
            </a:r>
            <a:r>
              <a:rPr lang="en-US" sz="700"/>
              <a:t> di </a:t>
            </a:r>
            <a:r>
              <a:rPr lang="en-US" sz="700" err="1"/>
              <a:t>errori</a:t>
            </a:r>
            <a:r>
              <a:rPr lang="en-US" sz="700"/>
              <a:t> timeout, authorization error, client other error)</a:t>
            </a:r>
          </a:p>
          <a:p>
            <a:pPr marL="171450" indent="-171450">
              <a:buFontTx/>
              <a:buChar char="-"/>
            </a:pPr>
            <a:r>
              <a:rPr lang="en-US" sz="700"/>
              <a:t>Alert </a:t>
            </a:r>
            <a:r>
              <a:rPr lang="en-US" sz="700" err="1"/>
              <a:t>ancora</a:t>
            </a:r>
            <a:r>
              <a:rPr lang="en-US" sz="700"/>
              <a:t> da </a:t>
            </a:r>
            <a:r>
              <a:rPr lang="en-US" sz="700" err="1"/>
              <a:t>impostare</a:t>
            </a:r>
            <a:r>
              <a:rPr lang="en-US" sz="700"/>
              <a:t> per </a:t>
            </a:r>
            <a:r>
              <a:rPr lang="en-US" sz="700" err="1"/>
              <a:t>l’application</a:t>
            </a:r>
            <a:r>
              <a:rPr lang="en-US" sz="700"/>
              <a:t> gateway e synapse</a:t>
            </a:r>
          </a:p>
          <a:p>
            <a:pPr marL="171450" indent="-171450">
              <a:buFontTx/>
              <a:buChar char="-"/>
            </a:pPr>
            <a:endParaRPr lang="en-US" sz="700"/>
          </a:p>
          <a:p>
            <a:r>
              <a:rPr lang="en-US" sz="700" err="1"/>
              <a:t>Sviluppate</a:t>
            </a:r>
            <a:r>
              <a:rPr lang="en-US" sz="700"/>
              <a:t> </a:t>
            </a:r>
            <a:r>
              <a:rPr lang="en-US" sz="700" err="1"/>
              <a:t>delle</a:t>
            </a:r>
            <a:r>
              <a:rPr lang="en-US" sz="700"/>
              <a:t> custom dashboard per le </a:t>
            </a:r>
            <a:r>
              <a:rPr lang="en-US" sz="700" err="1"/>
              <a:t>risorse</a:t>
            </a:r>
            <a:r>
              <a:rPr lang="en-US" sz="700"/>
              <a:t>, </a:t>
            </a:r>
            <a:r>
              <a:rPr lang="en-US" sz="700" err="1"/>
              <a:t>Sql</a:t>
            </a:r>
            <a:r>
              <a:rPr lang="en-US" sz="700"/>
              <a:t> Elastic pool, Application gateway e Storage </a:t>
            </a:r>
            <a:r>
              <a:rPr lang="en-US" sz="700" err="1"/>
              <a:t>acount</a:t>
            </a:r>
            <a:r>
              <a:rPr lang="en-US" sz="700"/>
              <a:t>. Qui sotto dashboard di </a:t>
            </a:r>
            <a:r>
              <a:rPr lang="en-US" sz="700" err="1"/>
              <a:t>esempio</a:t>
            </a:r>
            <a:r>
              <a:rPr lang="en-US" sz="700"/>
              <a:t> per </a:t>
            </a:r>
            <a:r>
              <a:rPr lang="en-US" sz="700" err="1"/>
              <a:t>monitoraggio</a:t>
            </a:r>
            <a:r>
              <a:rPr lang="en-US" sz="700"/>
              <a:t> </a:t>
            </a:r>
            <a:r>
              <a:rPr lang="en-US" sz="700" err="1"/>
              <a:t>dei</a:t>
            </a:r>
            <a:r>
              <a:rPr lang="en-US" sz="700"/>
              <a:t> tentative di intrusion </a:t>
            </a:r>
            <a:r>
              <a:rPr lang="en-US" sz="700" err="1"/>
              <a:t>sul</a:t>
            </a:r>
            <a:r>
              <a:rPr lang="en-US" sz="700"/>
              <a:t> firewall WAF </a:t>
            </a:r>
            <a:r>
              <a:rPr lang="en-US" sz="700" err="1"/>
              <a:t>dell’application</a:t>
            </a:r>
            <a:r>
              <a:rPr lang="en-US" sz="700"/>
              <a:t> gateway da internet.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CCE697B-2317-4FD8-BA71-21A3FB3A73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6886" y="3824345"/>
            <a:ext cx="5112272" cy="28936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ECF323-F26D-C58C-787A-A6F95379843E}"/>
              </a:ext>
            </a:extLst>
          </p:cNvPr>
          <p:cNvSpPr txBox="1">
            <a:spLocks/>
          </p:cNvSpPr>
          <p:nvPr/>
        </p:nvSpPr>
        <p:spPr>
          <a:xfrm rot="19170669">
            <a:off x="9537222" y="1159151"/>
            <a:ext cx="304506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it-IT" b="1">
                <a:solidFill>
                  <a:schemeClr val="tx2">
                    <a:lumMod val="75000"/>
                  </a:schemeClr>
                </a:solidFill>
              </a:rPr>
              <a:t>Transition to New Relic</a:t>
            </a:r>
            <a:endParaRPr lang="it-IT" b="1">
              <a:solidFill>
                <a:schemeClr val="tx2">
                  <a:lumMod val="75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7729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33C96D-3B9C-4617-A89D-A007DD9EE34B}"/>
              </a:ext>
            </a:extLst>
          </p:cNvPr>
          <p:cNvSpPr/>
          <p:nvPr/>
        </p:nvSpPr>
        <p:spPr>
          <a:xfrm>
            <a:off x="337792" y="1588771"/>
            <a:ext cx="2057636" cy="1792879"/>
          </a:xfrm>
          <a:prstGeom prst="roundRect">
            <a:avLst>
              <a:gd name="adj" fmla="val 5912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04876" y="139982"/>
            <a:ext cx="11182248" cy="425095"/>
          </a:xfrm>
        </p:spPr>
        <p:txBody>
          <a:bodyPr/>
          <a:lstStyle/>
          <a:p>
            <a:r>
              <a:rPr lang="it-IT"/>
              <a:t>Monitoring - Application</a:t>
            </a:r>
            <a:endParaRPr lang="it-IT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4F51B-DD1C-494F-B423-81AF171863E9}"/>
              </a:ext>
            </a:extLst>
          </p:cNvPr>
          <p:cNvSpPr txBox="1"/>
          <p:nvPr/>
        </p:nvSpPr>
        <p:spPr>
          <a:xfrm>
            <a:off x="337794" y="1627324"/>
            <a:ext cx="19213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Strumenti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adottati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9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Insight ed alerts: 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serve a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collezionare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I log applicative come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eccezioni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utenti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connessi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, tempi di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risposta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di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applicativi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web, log custom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generati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dall’applicativo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verifica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raggiungibilità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latenza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dell’applicativo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web da diverse region </a:t>
            </a:r>
            <a:r>
              <a:rPr lang="en-US" sz="900" i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nel</a:t>
            </a:r>
            <a:r>
              <a:rPr lang="en-US" sz="900" i="1">
                <a:solidFill>
                  <a:schemeClr val="tx1">
                    <a:lumMod val="65000"/>
                    <a:lumOff val="35000"/>
                  </a:schemeClr>
                </a:solidFill>
              </a:rPr>
              <a:t> mondo.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2593A1-A162-4129-9760-B6B6804C8359}"/>
              </a:ext>
            </a:extLst>
          </p:cNvPr>
          <p:cNvSpPr/>
          <p:nvPr/>
        </p:nvSpPr>
        <p:spPr>
          <a:xfrm>
            <a:off x="337792" y="662357"/>
            <a:ext cx="2057636" cy="896290"/>
          </a:xfrm>
          <a:prstGeom prst="roundRect">
            <a:avLst>
              <a:gd name="adj" fmla="val 10115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E3AFB-DA64-4E3E-A151-38BD6F0EA428}"/>
              </a:ext>
            </a:extLst>
          </p:cNvPr>
          <p:cNvSpPr txBox="1"/>
          <p:nvPr/>
        </p:nvSpPr>
        <p:spPr>
          <a:xfrm>
            <a:off x="370553" y="646165"/>
            <a:ext cx="1992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Risorse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monitorate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- Sia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ambiente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produzione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ambiente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non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produzione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L’applicazione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monitorata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è “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Enterpise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ADA Portal”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648713-EC8F-466B-A65E-C69E7947CECC}"/>
              </a:ext>
            </a:extLst>
          </p:cNvPr>
          <p:cNvSpPr/>
          <p:nvPr/>
        </p:nvSpPr>
        <p:spPr>
          <a:xfrm>
            <a:off x="2495301" y="662357"/>
            <a:ext cx="9081506" cy="1460636"/>
          </a:xfrm>
          <a:prstGeom prst="roundRect">
            <a:avLst>
              <a:gd name="adj" fmla="val 3589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4A94A-A4B0-4275-8542-539B70BB9DB7}"/>
              </a:ext>
            </a:extLst>
          </p:cNvPr>
          <p:cNvSpPr txBox="1"/>
          <p:nvPr/>
        </p:nvSpPr>
        <p:spPr>
          <a:xfrm>
            <a:off x="5766445" y="699848"/>
            <a:ext cx="2160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ADA Enterprise Portal </a:t>
            </a:r>
            <a:endParaRPr lang="it-IT" sz="1400" b="1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DFADBA-269A-4E23-A5F4-80A802920E50}"/>
              </a:ext>
            </a:extLst>
          </p:cNvPr>
          <p:cNvSpPr txBox="1"/>
          <p:nvPr/>
        </p:nvSpPr>
        <p:spPr>
          <a:xfrm>
            <a:off x="2560824" y="972158"/>
            <a:ext cx="8771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err="1"/>
              <a:t>Sono</a:t>
            </a:r>
            <a:r>
              <a:rPr lang="en-US" sz="800"/>
              <a:t> </a:t>
            </a:r>
            <a:r>
              <a:rPr lang="en-US" sz="800" err="1"/>
              <a:t>stati</a:t>
            </a:r>
            <a:r>
              <a:rPr lang="en-US" sz="800"/>
              <a:t> </a:t>
            </a:r>
            <a:r>
              <a:rPr lang="en-US" sz="800" err="1"/>
              <a:t>configurati</a:t>
            </a:r>
            <a:r>
              <a:rPr lang="en-US" sz="800"/>
              <a:t> per </a:t>
            </a:r>
            <a:r>
              <a:rPr lang="en-US" sz="800" err="1"/>
              <a:t>ogni</a:t>
            </a:r>
            <a:r>
              <a:rPr lang="en-US" sz="800"/>
              <a:t> </a:t>
            </a:r>
            <a:r>
              <a:rPr lang="en-US" sz="800" err="1"/>
              <a:t>ambiente</a:t>
            </a:r>
            <a:r>
              <a:rPr lang="en-US" sz="800"/>
              <a:t> (prod e non-prod) il </a:t>
            </a:r>
            <a:r>
              <a:rPr lang="en-US" sz="800" err="1"/>
              <a:t>servizio</a:t>
            </a:r>
            <a:r>
              <a:rPr lang="en-US" sz="800"/>
              <a:t> azure insight per il </a:t>
            </a:r>
            <a:r>
              <a:rPr lang="en-US" sz="800" err="1"/>
              <a:t>monitoraggio</a:t>
            </a:r>
            <a:r>
              <a:rPr lang="en-US" sz="800"/>
              <a:t> </a:t>
            </a:r>
            <a:r>
              <a:rPr lang="en-US" sz="800" err="1"/>
              <a:t>dell’applicazione</a:t>
            </a:r>
            <a:r>
              <a:rPr lang="en-US" sz="800"/>
              <a:t> ADA Enterprise Portal, con </a:t>
            </a:r>
            <a:r>
              <a:rPr lang="en-US" sz="800" err="1"/>
              <a:t>possibilità</a:t>
            </a:r>
            <a:r>
              <a:rPr lang="en-US" sz="800"/>
              <a:t> di </a:t>
            </a:r>
            <a:r>
              <a:rPr lang="en-US" sz="800" err="1"/>
              <a:t>monitoraggio</a:t>
            </a:r>
            <a:r>
              <a:rPr lang="en-US" sz="800"/>
              <a:t> </a:t>
            </a:r>
            <a:r>
              <a:rPr lang="en-US" sz="800" err="1"/>
              <a:t>realtime</a:t>
            </a:r>
            <a:r>
              <a:rPr lang="en-US" sz="800"/>
              <a:t> e alert </a:t>
            </a:r>
            <a:r>
              <a:rPr lang="en-US" sz="800" err="1"/>
              <a:t>nel</a:t>
            </a:r>
            <a:r>
              <a:rPr lang="en-US" sz="800"/>
              <a:t> </a:t>
            </a:r>
            <a:r>
              <a:rPr lang="en-US" sz="800" err="1"/>
              <a:t>caso</a:t>
            </a:r>
            <a:r>
              <a:rPr lang="en-US" sz="800"/>
              <a:t> in cui </a:t>
            </a:r>
            <a:r>
              <a:rPr lang="en-US" sz="800" err="1"/>
              <a:t>portale</a:t>
            </a:r>
            <a:r>
              <a:rPr lang="en-US" sz="800"/>
              <a:t> non è </a:t>
            </a:r>
            <a:r>
              <a:rPr lang="en-US" sz="800" err="1"/>
              <a:t>raggiungibile</a:t>
            </a:r>
            <a:r>
              <a:rPr lang="en-US" sz="800"/>
              <a:t> con il </a:t>
            </a:r>
            <a:r>
              <a:rPr lang="en-US" sz="800" err="1"/>
              <a:t>servizio</a:t>
            </a:r>
            <a:r>
              <a:rPr lang="en-US" sz="800"/>
              <a:t> di availability.</a:t>
            </a:r>
          </a:p>
          <a:p>
            <a:r>
              <a:rPr lang="en-US" sz="800" err="1"/>
              <a:t>Gli</a:t>
            </a:r>
            <a:r>
              <a:rPr lang="en-US" sz="800"/>
              <a:t> </a:t>
            </a:r>
            <a:r>
              <a:rPr lang="en-US" sz="800" err="1"/>
              <a:t>aspetti</a:t>
            </a:r>
            <a:r>
              <a:rPr lang="en-US" sz="800"/>
              <a:t> </a:t>
            </a:r>
            <a:r>
              <a:rPr lang="en-US" sz="800" err="1"/>
              <a:t>applicativi</a:t>
            </a:r>
            <a:r>
              <a:rPr lang="en-US" sz="800"/>
              <a:t> da </a:t>
            </a:r>
            <a:r>
              <a:rPr lang="en-US" sz="800" err="1"/>
              <a:t>monitorare</a:t>
            </a:r>
            <a:r>
              <a:rPr lang="en-US" sz="800"/>
              <a:t> con </a:t>
            </a:r>
            <a:r>
              <a:rPr lang="en-US" sz="800" err="1"/>
              <a:t>questo</a:t>
            </a:r>
            <a:r>
              <a:rPr lang="en-US" sz="800"/>
              <a:t> </a:t>
            </a:r>
            <a:r>
              <a:rPr lang="en-US" sz="800" err="1"/>
              <a:t>strumento</a:t>
            </a:r>
            <a:r>
              <a:rPr lang="en-US" sz="800"/>
              <a:t> </a:t>
            </a:r>
            <a:r>
              <a:rPr lang="en-US" sz="800" err="1"/>
              <a:t>sono</a:t>
            </a:r>
            <a:r>
              <a:rPr lang="en-US" sz="800"/>
              <a:t>:</a:t>
            </a:r>
          </a:p>
          <a:p>
            <a:pPr marL="171450" indent="-171450">
              <a:buFontTx/>
              <a:buChar char="-"/>
            </a:pPr>
            <a:r>
              <a:rPr lang="en-US" sz="800"/>
              <a:t>Live metrics </a:t>
            </a:r>
            <a:r>
              <a:rPr lang="en-US" sz="800" err="1"/>
              <a:t>monitoraggio</a:t>
            </a:r>
            <a:r>
              <a:rPr lang="en-US" sz="800"/>
              <a:t> </a:t>
            </a:r>
            <a:r>
              <a:rPr lang="en-US" sz="800" err="1"/>
              <a:t>realtime</a:t>
            </a:r>
            <a:r>
              <a:rPr lang="en-US" sz="800"/>
              <a:t> del </a:t>
            </a:r>
            <a:r>
              <a:rPr lang="en-US" sz="800" err="1"/>
              <a:t>carico</a:t>
            </a:r>
            <a:r>
              <a:rPr lang="en-US" sz="800"/>
              <a:t> </a:t>
            </a:r>
            <a:r>
              <a:rPr lang="en-US" sz="800" err="1"/>
              <a:t>della</a:t>
            </a:r>
            <a:r>
              <a:rPr lang="en-US" sz="800"/>
              <a:t> </a:t>
            </a:r>
            <a:r>
              <a:rPr lang="en-US" sz="800" err="1"/>
              <a:t>macchina</a:t>
            </a:r>
            <a:r>
              <a:rPr lang="en-US" sz="800"/>
              <a:t> come “Incoming request”, “Outgoing Request”, Committed Memory, % CPU, Exception Rate</a:t>
            </a:r>
          </a:p>
          <a:p>
            <a:pPr marL="171450" indent="-171450">
              <a:buFontTx/>
              <a:buChar char="-"/>
            </a:pPr>
            <a:r>
              <a:rPr lang="en-US" sz="800"/>
              <a:t>Availability del </a:t>
            </a:r>
            <a:r>
              <a:rPr lang="en-US" sz="800" err="1"/>
              <a:t>portale</a:t>
            </a:r>
            <a:r>
              <a:rPr lang="en-US" sz="800"/>
              <a:t> da </a:t>
            </a:r>
            <a:r>
              <a:rPr lang="en-US" sz="800" err="1"/>
              <a:t>differenti</a:t>
            </a:r>
            <a:r>
              <a:rPr lang="en-US" sz="800"/>
              <a:t> </a:t>
            </a:r>
            <a:r>
              <a:rPr lang="en-US" sz="800" err="1"/>
              <a:t>regioni</a:t>
            </a:r>
            <a:r>
              <a:rPr lang="en-US" sz="800"/>
              <a:t> del mondo e </a:t>
            </a:r>
            <a:r>
              <a:rPr lang="en-US" sz="800" err="1"/>
              <a:t>latenza</a:t>
            </a:r>
            <a:r>
              <a:rPr lang="en-US" sz="800"/>
              <a:t> di </a:t>
            </a:r>
            <a:r>
              <a:rPr lang="en-US" sz="800" err="1"/>
              <a:t>risposta</a:t>
            </a:r>
            <a:r>
              <a:rPr lang="en-US" sz="800"/>
              <a:t> del ping con </a:t>
            </a:r>
            <a:r>
              <a:rPr lang="en-US" sz="800" err="1"/>
              <a:t>invio</a:t>
            </a:r>
            <a:r>
              <a:rPr lang="en-US" sz="800"/>
              <a:t> alert email </a:t>
            </a:r>
            <a:r>
              <a:rPr lang="en-US" sz="800" err="1"/>
              <a:t>quando</a:t>
            </a:r>
            <a:r>
              <a:rPr lang="en-US" sz="800"/>
              <a:t> non </a:t>
            </a:r>
            <a:r>
              <a:rPr lang="en-US" sz="800" err="1"/>
              <a:t>disponibile</a:t>
            </a:r>
            <a:r>
              <a:rPr lang="en-US" sz="800"/>
              <a:t> al </a:t>
            </a:r>
            <a:r>
              <a:rPr lang="en-US" sz="800" err="1"/>
              <a:t>gruppo</a:t>
            </a:r>
            <a:r>
              <a:rPr lang="en-US" sz="800"/>
              <a:t> AMS </a:t>
            </a:r>
            <a:r>
              <a:rPr lang="en-US" sz="800" err="1"/>
              <a:t>che</a:t>
            </a:r>
            <a:r>
              <a:rPr lang="en-US" sz="800"/>
              <a:t> </a:t>
            </a:r>
            <a:r>
              <a:rPr lang="en-US" sz="800" err="1"/>
              <a:t>si</a:t>
            </a:r>
            <a:r>
              <a:rPr lang="en-US" sz="800"/>
              <a:t> </a:t>
            </a:r>
            <a:r>
              <a:rPr lang="en-US" sz="800" err="1"/>
              <a:t>attiva</a:t>
            </a:r>
            <a:r>
              <a:rPr lang="en-US" sz="800"/>
              <a:t> per la </a:t>
            </a:r>
            <a:r>
              <a:rPr lang="en-US" sz="800" err="1"/>
              <a:t>risoluzione</a:t>
            </a:r>
            <a:endParaRPr lang="en-US" sz="800"/>
          </a:p>
          <a:p>
            <a:pPr marL="171450" indent="-171450">
              <a:buFontTx/>
              <a:buChar char="-"/>
            </a:pPr>
            <a:r>
              <a:rPr lang="en-US" sz="800"/>
              <a:t>Application Failure per il </a:t>
            </a:r>
            <a:r>
              <a:rPr lang="en-US" sz="800" err="1"/>
              <a:t>monitoraggio</a:t>
            </a:r>
            <a:r>
              <a:rPr lang="en-US" sz="800"/>
              <a:t> dele </a:t>
            </a:r>
            <a:r>
              <a:rPr lang="en-US" sz="800" err="1"/>
              <a:t>eccezioni</a:t>
            </a:r>
            <a:r>
              <a:rPr lang="en-US" sz="800"/>
              <a:t> generate </a:t>
            </a:r>
            <a:r>
              <a:rPr lang="en-US" sz="800" err="1"/>
              <a:t>dall’applicativo</a:t>
            </a:r>
            <a:endParaRPr lang="en-US" sz="800"/>
          </a:p>
          <a:p>
            <a:pPr marL="171450" indent="-171450">
              <a:buFontTx/>
              <a:buChar char="-"/>
            </a:pPr>
            <a:r>
              <a:rPr lang="en-US" sz="800"/>
              <a:t>Performance per il </a:t>
            </a:r>
            <a:r>
              <a:rPr lang="en-US" sz="800" err="1"/>
              <a:t>monitoraggio</a:t>
            </a:r>
            <a:r>
              <a:rPr lang="en-US" sz="800"/>
              <a:t> </a:t>
            </a:r>
            <a:r>
              <a:rPr lang="en-US" sz="800" err="1"/>
              <a:t>dei</a:t>
            </a:r>
            <a:r>
              <a:rPr lang="en-US" sz="800"/>
              <a:t> tempi di </a:t>
            </a:r>
            <a:r>
              <a:rPr lang="en-US" sz="800" err="1"/>
              <a:t>riposta</a:t>
            </a:r>
            <a:r>
              <a:rPr lang="en-US" sz="800"/>
              <a:t> di determinate </a:t>
            </a:r>
            <a:r>
              <a:rPr lang="en-US" sz="800" err="1"/>
              <a:t>chiamate</a:t>
            </a:r>
            <a:endParaRPr lang="en-US" sz="800"/>
          </a:p>
          <a:p>
            <a:endParaRPr lang="en-US" sz="800"/>
          </a:p>
          <a:p>
            <a:pPr marL="171450" indent="-171450">
              <a:buFontTx/>
              <a:buChar char="-"/>
            </a:pPr>
            <a:endParaRPr lang="en-US" sz="8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3C5A816-6266-4F4F-97B6-4997F0DC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387" y="4543864"/>
            <a:ext cx="3695682" cy="21741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81FA525-B36A-4055-9102-834B32EB8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153" y="2220273"/>
            <a:ext cx="4132234" cy="261474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97D428-06E7-4D45-833D-FC1973EB7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29" y="3719632"/>
            <a:ext cx="4016889" cy="2606220"/>
          </a:xfrm>
          <a:prstGeom prst="rect">
            <a:avLst/>
          </a:prstGeom>
        </p:spPr>
      </p:pic>
      <p:pic>
        <p:nvPicPr>
          <p:cNvPr id="354" name="Graphic 353" descr="Chevron arrows">
            <a:extLst>
              <a:ext uri="{FF2B5EF4-FFF2-40B4-BE49-F238E27FC236}">
                <a16:creationId xmlns:a16="http://schemas.microsoft.com/office/drawing/2014/main" id="{1A6EF827-C642-4A9E-B048-3B133EFBD1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4414007" y="4945838"/>
            <a:ext cx="560664" cy="560664"/>
          </a:xfrm>
          <a:prstGeom prst="rect">
            <a:avLst/>
          </a:prstGeom>
        </p:spPr>
      </p:pic>
      <p:pic>
        <p:nvPicPr>
          <p:cNvPr id="36" name="Graphic 35" descr="Chevron arrows">
            <a:extLst>
              <a:ext uri="{FF2B5EF4-FFF2-40B4-BE49-F238E27FC236}">
                <a16:creationId xmlns:a16="http://schemas.microsoft.com/office/drawing/2014/main" id="{06FF8F5C-BA26-4F44-A49B-C02400FC0E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391786" y="2966981"/>
            <a:ext cx="560664" cy="560664"/>
          </a:xfrm>
          <a:prstGeom prst="rect">
            <a:avLst/>
          </a:prstGeom>
        </p:spPr>
      </p:pic>
      <p:sp>
        <p:nvSpPr>
          <p:cNvPr id="355" name="TextBox 354">
            <a:extLst>
              <a:ext uri="{FF2B5EF4-FFF2-40B4-BE49-F238E27FC236}">
                <a16:creationId xmlns:a16="http://schemas.microsoft.com/office/drawing/2014/main" id="{2AD9DB0F-A44A-4EBB-9166-399D50F7E0B8}"/>
              </a:ext>
            </a:extLst>
          </p:cNvPr>
          <p:cNvSpPr txBox="1"/>
          <p:nvPr/>
        </p:nvSpPr>
        <p:spPr>
          <a:xfrm>
            <a:off x="4902858" y="5041504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Performance</a:t>
            </a:r>
            <a:endParaRPr lang="it-IT">
              <a:solidFill>
                <a:schemeClr val="accent1"/>
              </a:solidFill>
            </a:endParaRPr>
          </a:p>
        </p:txBody>
      </p:sp>
      <p:pic>
        <p:nvPicPr>
          <p:cNvPr id="38" name="Graphic 37" descr="Chevron arrows">
            <a:extLst>
              <a:ext uri="{FF2B5EF4-FFF2-40B4-BE49-F238E27FC236}">
                <a16:creationId xmlns:a16="http://schemas.microsoft.com/office/drawing/2014/main" id="{76A05822-8096-42A6-A33D-215773DE30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7616" y="5765188"/>
            <a:ext cx="560664" cy="56066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17284FB-DC8A-4F94-8166-0EDFBFB3352B}"/>
              </a:ext>
            </a:extLst>
          </p:cNvPr>
          <p:cNvSpPr txBox="1"/>
          <p:nvPr/>
        </p:nvSpPr>
        <p:spPr>
          <a:xfrm>
            <a:off x="6846901" y="586085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Failure</a:t>
            </a:r>
            <a:endParaRPr lang="it-IT">
              <a:solidFill>
                <a:schemeClr val="accent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E0A2B0-574D-4585-8DC2-A208CFACEA0A}"/>
              </a:ext>
            </a:extLst>
          </p:cNvPr>
          <p:cNvSpPr txBox="1"/>
          <p:nvPr/>
        </p:nvSpPr>
        <p:spPr>
          <a:xfrm>
            <a:off x="8928663" y="3071997"/>
            <a:ext cx="1270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Availability</a:t>
            </a:r>
            <a:endParaRPr lang="it-IT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7EEDA-4C61-CE72-071D-69F9C96E0812}"/>
              </a:ext>
            </a:extLst>
          </p:cNvPr>
          <p:cNvSpPr txBox="1">
            <a:spLocks/>
          </p:cNvSpPr>
          <p:nvPr/>
        </p:nvSpPr>
        <p:spPr>
          <a:xfrm rot="19170669">
            <a:off x="9689622" y="1311551"/>
            <a:ext cx="3045066" cy="4250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933"/>
              </a:lnSpc>
              <a:spcBef>
                <a:spcPct val="0"/>
              </a:spcBef>
              <a:buNone/>
              <a:defRPr sz="2000" b="0" i="0" kern="1200" baseline="0">
                <a:solidFill>
                  <a:schemeClr val="tx2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it-IT" b="1">
                <a:solidFill>
                  <a:schemeClr val="tx2">
                    <a:lumMod val="75000"/>
                  </a:schemeClr>
                </a:solidFill>
              </a:rPr>
              <a:t>Transition to New Relic</a:t>
            </a:r>
            <a:endParaRPr lang="it-IT" b="1">
              <a:solidFill>
                <a:schemeClr val="tx2">
                  <a:lumMod val="75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4551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33C96D-3B9C-4617-A89D-A007DD9EE34B}"/>
              </a:ext>
            </a:extLst>
          </p:cNvPr>
          <p:cNvSpPr/>
          <p:nvPr/>
        </p:nvSpPr>
        <p:spPr>
          <a:xfrm>
            <a:off x="504876" y="3656533"/>
            <a:ext cx="1627019" cy="1238882"/>
          </a:xfrm>
          <a:prstGeom prst="roundRect">
            <a:avLst>
              <a:gd name="adj" fmla="val 5912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504876" y="139982"/>
            <a:ext cx="11182248" cy="425095"/>
          </a:xfrm>
        </p:spPr>
        <p:txBody>
          <a:bodyPr/>
          <a:lstStyle/>
          <a:p>
            <a:r>
              <a:rPr lang="it-IT"/>
              <a:t>Monitoring – Operations </a:t>
            </a:r>
            <a:endParaRPr lang="it-IT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4F51B-DD1C-494F-B423-81AF171863E9}"/>
              </a:ext>
            </a:extLst>
          </p:cNvPr>
          <p:cNvSpPr txBox="1"/>
          <p:nvPr/>
        </p:nvSpPr>
        <p:spPr>
          <a:xfrm>
            <a:off x="504878" y="3695086"/>
            <a:ext cx="1468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Strumenti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adottati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9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Tx/>
              <a:buChar char="-"/>
            </a:pP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ADA Enterprise Portal:</a:t>
            </a:r>
            <a:endParaRPr lang="en-US" sz="900" b="1" i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Interfaccia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web per il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montoraggio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dei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flussi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ingresso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e in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uscita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del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sistema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ADA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2593A1-A162-4129-9760-B6B6804C8359}"/>
              </a:ext>
            </a:extLst>
          </p:cNvPr>
          <p:cNvSpPr/>
          <p:nvPr/>
        </p:nvSpPr>
        <p:spPr>
          <a:xfrm>
            <a:off x="504876" y="2730119"/>
            <a:ext cx="1627019" cy="896290"/>
          </a:xfrm>
          <a:prstGeom prst="roundRect">
            <a:avLst>
              <a:gd name="adj" fmla="val 10115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E3AFB-DA64-4E3E-A151-38BD6F0EA428}"/>
              </a:ext>
            </a:extLst>
          </p:cNvPr>
          <p:cNvSpPr txBox="1"/>
          <p:nvPr/>
        </p:nvSpPr>
        <p:spPr>
          <a:xfrm>
            <a:off x="504877" y="2730119"/>
            <a:ext cx="14684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Risorse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b="1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monitorate</a:t>
            </a:r>
            <a:r>
              <a:rPr lang="en-US" sz="9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endParaRPr 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- Sia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ambiente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produzione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ambiente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</a:rPr>
              <a:t> di non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produzione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F42F29-E537-452C-A7F7-44C17E9EDB6B}"/>
              </a:ext>
            </a:extLst>
          </p:cNvPr>
          <p:cNvSpPr/>
          <p:nvPr/>
        </p:nvSpPr>
        <p:spPr>
          <a:xfrm>
            <a:off x="504876" y="662356"/>
            <a:ext cx="4604019" cy="1909585"/>
          </a:xfrm>
          <a:prstGeom prst="roundRect">
            <a:avLst>
              <a:gd name="adj" fmla="val 3589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99DA3D-C14A-49D4-985D-FA4F2BFBE125}"/>
              </a:ext>
            </a:extLst>
          </p:cNvPr>
          <p:cNvSpPr txBox="1"/>
          <p:nvPr/>
        </p:nvSpPr>
        <p:spPr>
          <a:xfrm>
            <a:off x="568759" y="671805"/>
            <a:ext cx="4439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ADA Datahub for TEAM Tool / ADA Datahub IFRS9</a:t>
            </a:r>
            <a:endParaRPr lang="it-IT" sz="1400" b="1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1489DC-74C8-4276-BD39-6C51701C22B3}"/>
              </a:ext>
            </a:extLst>
          </p:cNvPr>
          <p:cNvSpPr txBox="1"/>
          <p:nvPr/>
        </p:nvSpPr>
        <p:spPr>
          <a:xfrm>
            <a:off x="687898" y="972158"/>
            <a:ext cx="4239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err="1"/>
              <a:t>Sono</a:t>
            </a:r>
            <a:r>
              <a:rPr lang="en-US" sz="800"/>
              <a:t> </a:t>
            </a:r>
            <a:r>
              <a:rPr lang="en-US" sz="800" err="1"/>
              <a:t>stati</a:t>
            </a:r>
            <a:r>
              <a:rPr lang="en-US" sz="800"/>
              <a:t> </a:t>
            </a:r>
            <a:r>
              <a:rPr lang="en-US" sz="800" err="1"/>
              <a:t>implementati</a:t>
            </a:r>
            <a:r>
              <a:rPr lang="en-US" sz="800"/>
              <a:t> una </a:t>
            </a:r>
            <a:r>
              <a:rPr lang="en-US" sz="800" err="1"/>
              <a:t>serie</a:t>
            </a:r>
            <a:r>
              <a:rPr lang="en-US" sz="800"/>
              <a:t> di </a:t>
            </a:r>
            <a:r>
              <a:rPr lang="en-US" sz="800" err="1"/>
              <a:t>flussi</a:t>
            </a:r>
            <a:r>
              <a:rPr lang="en-US" sz="800"/>
              <a:t> </a:t>
            </a:r>
            <a:r>
              <a:rPr lang="en-US" sz="800" err="1"/>
              <a:t>dati</a:t>
            </a:r>
            <a:r>
              <a:rPr lang="en-US" sz="800"/>
              <a:t> in </a:t>
            </a:r>
            <a:r>
              <a:rPr lang="en-US" sz="800" err="1"/>
              <a:t>ingresso</a:t>
            </a:r>
            <a:r>
              <a:rPr lang="en-US" sz="800"/>
              <a:t> e </a:t>
            </a:r>
            <a:r>
              <a:rPr lang="en-US" sz="800" err="1"/>
              <a:t>uscita</a:t>
            </a:r>
            <a:r>
              <a:rPr lang="en-US" sz="800"/>
              <a:t> dal Sistema </a:t>
            </a:r>
            <a:r>
              <a:rPr lang="en-US" sz="800" err="1"/>
              <a:t>sia</a:t>
            </a:r>
            <a:r>
              <a:rPr lang="en-US" sz="800"/>
              <a:t> per il </a:t>
            </a:r>
            <a:r>
              <a:rPr lang="en-US" sz="800" err="1"/>
              <a:t>processo</a:t>
            </a:r>
            <a:r>
              <a:rPr lang="en-US" sz="800"/>
              <a:t> IFRS17/TEAM Tool </a:t>
            </a:r>
            <a:r>
              <a:rPr lang="en-US" sz="800" err="1"/>
              <a:t>sia</a:t>
            </a:r>
            <a:r>
              <a:rPr lang="en-US" sz="800"/>
              <a:t> per il </a:t>
            </a:r>
            <a:r>
              <a:rPr lang="en-US" sz="800" err="1"/>
              <a:t>processo</a:t>
            </a:r>
            <a:r>
              <a:rPr lang="en-US" sz="800"/>
              <a:t> IFRS9.</a:t>
            </a:r>
          </a:p>
          <a:p>
            <a:r>
              <a:rPr lang="en-US" sz="800"/>
              <a:t>Per un primo </a:t>
            </a:r>
            <a:r>
              <a:rPr lang="en-US" sz="800" err="1"/>
              <a:t>monitoraggio</a:t>
            </a:r>
            <a:r>
              <a:rPr lang="en-US" sz="800"/>
              <a:t> </a:t>
            </a:r>
            <a:r>
              <a:rPr lang="en-US" sz="800" err="1"/>
              <a:t>dei</a:t>
            </a:r>
            <a:r>
              <a:rPr lang="en-US" sz="800"/>
              <a:t> </a:t>
            </a:r>
            <a:r>
              <a:rPr lang="en-US" sz="800" err="1"/>
              <a:t>flussi</a:t>
            </a:r>
            <a:r>
              <a:rPr lang="en-US" sz="800"/>
              <a:t> sui </a:t>
            </a:r>
            <a:r>
              <a:rPr lang="en-US" sz="800" err="1"/>
              <a:t>processi</a:t>
            </a:r>
            <a:r>
              <a:rPr lang="en-US" sz="800"/>
              <a:t> NEXT ad </a:t>
            </a:r>
            <a:r>
              <a:rPr lang="en-US" sz="800" err="1"/>
              <a:t>uso</a:t>
            </a:r>
            <a:r>
              <a:rPr lang="en-US" sz="800"/>
              <a:t> e </a:t>
            </a:r>
            <a:r>
              <a:rPr lang="en-US" sz="800" err="1"/>
              <a:t>consumo</a:t>
            </a:r>
            <a:r>
              <a:rPr lang="en-US" sz="800"/>
              <a:t> </a:t>
            </a:r>
            <a:r>
              <a:rPr lang="en-US" sz="800" err="1"/>
              <a:t>delle</a:t>
            </a:r>
            <a:r>
              <a:rPr lang="en-US" sz="800"/>
              <a:t> local BU operative è </a:t>
            </a:r>
            <a:r>
              <a:rPr lang="en-US" sz="800" err="1"/>
              <a:t>stata</a:t>
            </a:r>
            <a:r>
              <a:rPr lang="en-US" sz="800"/>
              <a:t> </a:t>
            </a:r>
            <a:r>
              <a:rPr lang="en-US" sz="800" err="1"/>
              <a:t>messa</a:t>
            </a:r>
            <a:r>
              <a:rPr lang="en-US" sz="800"/>
              <a:t> a </a:t>
            </a:r>
            <a:r>
              <a:rPr lang="en-US" sz="800" err="1"/>
              <a:t>disposizione</a:t>
            </a:r>
            <a:r>
              <a:rPr lang="en-US" sz="800"/>
              <a:t> una </a:t>
            </a:r>
            <a:r>
              <a:rPr lang="en-US" sz="800" err="1"/>
              <a:t>sezione</a:t>
            </a:r>
            <a:r>
              <a:rPr lang="en-US" sz="800"/>
              <a:t> di </a:t>
            </a:r>
            <a:r>
              <a:rPr lang="en-US" sz="800" err="1"/>
              <a:t>monitoraggio</a:t>
            </a:r>
            <a:r>
              <a:rPr lang="en-US" sz="800"/>
              <a:t> per </a:t>
            </a:r>
            <a:r>
              <a:rPr lang="en-US" sz="800" err="1"/>
              <a:t>verificare</a:t>
            </a:r>
            <a:r>
              <a:rPr lang="en-US" sz="800"/>
              <a:t> il </a:t>
            </a:r>
            <a:r>
              <a:rPr lang="en-US" sz="800" err="1"/>
              <a:t>caricamento</a:t>
            </a:r>
            <a:r>
              <a:rPr lang="en-US" sz="800"/>
              <a:t> </a:t>
            </a:r>
            <a:r>
              <a:rPr lang="en-US" sz="800" err="1"/>
              <a:t>dei</a:t>
            </a:r>
            <a:r>
              <a:rPr lang="en-US" sz="800"/>
              <a:t> </a:t>
            </a:r>
            <a:r>
              <a:rPr lang="en-US" sz="800" err="1"/>
              <a:t>dati</a:t>
            </a:r>
            <a:r>
              <a:rPr lang="en-US" sz="800"/>
              <a:t> in </a:t>
            </a:r>
            <a:r>
              <a:rPr lang="en-US" sz="800" err="1"/>
              <a:t>ingreso</a:t>
            </a:r>
            <a:r>
              <a:rPr lang="en-US" sz="800"/>
              <a:t> o </a:t>
            </a:r>
            <a:r>
              <a:rPr lang="en-US" sz="800" err="1"/>
              <a:t>uscita</a:t>
            </a:r>
            <a:r>
              <a:rPr lang="en-US" sz="800"/>
              <a:t> con una </a:t>
            </a:r>
            <a:r>
              <a:rPr lang="en-US" sz="800" err="1"/>
              <a:t>serie</a:t>
            </a:r>
            <a:r>
              <a:rPr lang="en-US" sz="800"/>
              <a:t> di </a:t>
            </a:r>
            <a:r>
              <a:rPr lang="en-US" sz="800" err="1"/>
              <a:t>informazioni</a:t>
            </a:r>
            <a:r>
              <a:rPr lang="en-US" sz="800"/>
              <a:t>:</a:t>
            </a:r>
          </a:p>
          <a:p>
            <a:pPr marL="171450" indent="-171450">
              <a:buFontTx/>
              <a:buChar char="-"/>
            </a:pPr>
            <a:r>
              <a:rPr lang="en-US" sz="800" err="1"/>
              <a:t>Risultati</a:t>
            </a:r>
            <a:r>
              <a:rPr lang="en-US" sz="800"/>
              <a:t> </a:t>
            </a:r>
            <a:r>
              <a:rPr lang="en-US" sz="800" err="1"/>
              <a:t>delle</a:t>
            </a:r>
            <a:r>
              <a:rPr lang="en-US" sz="800"/>
              <a:t> </a:t>
            </a:r>
            <a:r>
              <a:rPr lang="en-US" sz="800" err="1"/>
              <a:t>regole</a:t>
            </a:r>
            <a:r>
              <a:rPr lang="en-US" sz="800"/>
              <a:t> di </a:t>
            </a:r>
            <a:r>
              <a:rPr lang="en-US" sz="800" err="1"/>
              <a:t>qualita</a:t>
            </a:r>
            <a:r>
              <a:rPr lang="en-US" sz="800"/>
              <a:t> applicate sui </a:t>
            </a:r>
            <a:r>
              <a:rPr lang="en-US" sz="800" err="1"/>
              <a:t>dati</a:t>
            </a:r>
            <a:r>
              <a:rPr lang="en-US" sz="800"/>
              <a:t> input/</a:t>
            </a:r>
            <a:r>
              <a:rPr lang="en-US" sz="800" err="1"/>
              <a:t>ouput</a:t>
            </a:r>
            <a:r>
              <a:rPr lang="en-US" sz="800"/>
              <a:t>, </a:t>
            </a:r>
            <a:r>
              <a:rPr lang="en-US" sz="800" err="1"/>
              <a:t>definendo</a:t>
            </a:r>
            <a:r>
              <a:rPr lang="en-US" sz="800"/>
              <a:t> </a:t>
            </a:r>
            <a:r>
              <a:rPr lang="en-US" sz="800" err="1"/>
              <a:t>regole</a:t>
            </a:r>
            <a:r>
              <a:rPr lang="en-US" sz="800"/>
              <a:t> </a:t>
            </a:r>
            <a:r>
              <a:rPr lang="en-US" sz="800" err="1"/>
              <a:t>bloccanti</a:t>
            </a:r>
            <a:r>
              <a:rPr lang="en-US" sz="800"/>
              <a:t>, alert con </a:t>
            </a:r>
            <a:r>
              <a:rPr lang="en-US" sz="800" err="1"/>
              <a:t>scarto</a:t>
            </a:r>
            <a:r>
              <a:rPr lang="en-US" sz="800"/>
              <a:t>, alert senza </a:t>
            </a:r>
            <a:r>
              <a:rPr lang="en-US" sz="800" err="1"/>
              <a:t>scarto</a:t>
            </a:r>
            <a:r>
              <a:rPr lang="en-US" sz="800"/>
              <a:t> e relative </a:t>
            </a:r>
            <a:r>
              <a:rPr lang="en-US" sz="800" err="1"/>
              <a:t>indici</a:t>
            </a:r>
            <a:r>
              <a:rPr lang="en-US" sz="800"/>
              <a:t> di </a:t>
            </a:r>
            <a:r>
              <a:rPr lang="en-US" sz="800" err="1"/>
              <a:t>conformità</a:t>
            </a:r>
            <a:r>
              <a:rPr lang="en-US" sz="800"/>
              <a:t> </a:t>
            </a:r>
            <a:r>
              <a:rPr lang="en-US" sz="800" err="1"/>
              <a:t>nel</a:t>
            </a:r>
            <a:r>
              <a:rPr lang="en-US" sz="800"/>
              <a:t> rispetto </a:t>
            </a:r>
            <a:r>
              <a:rPr lang="en-US" sz="800" err="1"/>
              <a:t>delle</a:t>
            </a:r>
            <a:r>
              <a:rPr lang="en-US" sz="800"/>
              <a:t> policy di DQ</a:t>
            </a:r>
          </a:p>
          <a:p>
            <a:pPr marL="171450" indent="-171450">
              <a:buFontTx/>
              <a:buChar char="-"/>
            </a:pPr>
            <a:r>
              <a:rPr lang="en-US" sz="800"/>
              <a:t>Data di </a:t>
            </a:r>
            <a:r>
              <a:rPr lang="en-US" sz="800" err="1"/>
              <a:t>caricamento</a:t>
            </a:r>
            <a:r>
              <a:rPr lang="en-US" sz="800"/>
              <a:t> del </a:t>
            </a:r>
            <a:r>
              <a:rPr lang="en-US" sz="800" err="1"/>
              <a:t>flusso</a:t>
            </a:r>
            <a:r>
              <a:rPr lang="en-US" sz="800"/>
              <a:t>, data </a:t>
            </a:r>
            <a:r>
              <a:rPr lang="en-US" sz="800" err="1"/>
              <a:t>avvio</a:t>
            </a:r>
            <a:r>
              <a:rPr lang="en-US" sz="800"/>
              <a:t> ed </a:t>
            </a:r>
            <a:r>
              <a:rPr lang="en-US" sz="800" err="1"/>
              <a:t>esecuzione</a:t>
            </a:r>
            <a:r>
              <a:rPr lang="en-US" sz="800"/>
              <a:t> del </a:t>
            </a:r>
            <a:r>
              <a:rPr lang="en-US" sz="800" err="1"/>
              <a:t>flusso</a:t>
            </a:r>
            <a:r>
              <a:rPr lang="en-US" sz="800"/>
              <a:t>, data </a:t>
            </a:r>
            <a:r>
              <a:rPr lang="en-US" sz="800" err="1"/>
              <a:t>esecuzione</a:t>
            </a:r>
            <a:r>
              <a:rPr lang="en-US" sz="800"/>
              <a:t> </a:t>
            </a:r>
            <a:r>
              <a:rPr lang="en-US" sz="800" err="1"/>
              <a:t>delle</a:t>
            </a:r>
            <a:r>
              <a:rPr lang="en-US" sz="800"/>
              <a:t> </a:t>
            </a:r>
            <a:r>
              <a:rPr lang="en-US" sz="800" err="1"/>
              <a:t>regole</a:t>
            </a:r>
            <a:r>
              <a:rPr lang="en-US" sz="800"/>
              <a:t> di </a:t>
            </a:r>
            <a:r>
              <a:rPr lang="en-US" sz="800" err="1"/>
              <a:t>qualità</a:t>
            </a:r>
            <a:r>
              <a:rPr lang="en-US" sz="800"/>
              <a:t> sui </a:t>
            </a:r>
            <a:r>
              <a:rPr lang="en-US" sz="800" err="1"/>
              <a:t>dati</a:t>
            </a:r>
            <a:r>
              <a:rPr lang="en-US" sz="800"/>
              <a:t> e </a:t>
            </a:r>
            <a:r>
              <a:rPr lang="en-US" sz="800" err="1"/>
              <a:t>orario</a:t>
            </a:r>
            <a:r>
              <a:rPr lang="en-US" sz="800"/>
              <a:t> </a:t>
            </a:r>
            <a:r>
              <a:rPr lang="en-US" sz="800" err="1"/>
              <a:t>conclusione</a:t>
            </a:r>
            <a:r>
              <a:rPr lang="en-US" sz="800"/>
              <a:t> del </a:t>
            </a:r>
            <a:r>
              <a:rPr lang="en-US" sz="800" err="1"/>
              <a:t>flusso</a:t>
            </a:r>
            <a:r>
              <a:rPr lang="en-US" sz="800"/>
              <a:t>. </a:t>
            </a:r>
          </a:p>
          <a:p>
            <a:pPr marL="171450" indent="-171450">
              <a:buFontTx/>
              <a:buChar char="-"/>
            </a:pPr>
            <a:r>
              <a:rPr lang="en-US" sz="800" err="1"/>
              <a:t>Esito</a:t>
            </a:r>
            <a:r>
              <a:rPr lang="en-US" sz="800"/>
              <a:t> </a:t>
            </a:r>
            <a:r>
              <a:rPr lang="en-US" sz="800" err="1"/>
              <a:t>overoll</a:t>
            </a:r>
            <a:r>
              <a:rPr lang="en-US" sz="800"/>
              <a:t> del </a:t>
            </a:r>
            <a:r>
              <a:rPr lang="en-US" sz="800" err="1"/>
              <a:t>flusso</a:t>
            </a:r>
            <a:r>
              <a:rPr lang="en-US" sz="800"/>
              <a:t> </a:t>
            </a:r>
            <a:r>
              <a:rPr lang="en-US" sz="800" err="1"/>
              <a:t>sulla</a:t>
            </a:r>
            <a:r>
              <a:rPr lang="en-US" sz="800"/>
              <a:t> </a:t>
            </a:r>
            <a:r>
              <a:rPr lang="en-US" sz="800" err="1"/>
              <a:t>singola</a:t>
            </a:r>
            <a:r>
              <a:rPr lang="en-US" sz="800"/>
              <a:t> </a:t>
            </a:r>
            <a:r>
              <a:rPr lang="en-US" sz="800" err="1"/>
              <a:t>esecuzione</a:t>
            </a:r>
            <a:endParaRPr lang="en-US" sz="800"/>
          </a:p>
          <a:p>
            <a:pPr marL="171450" indent="-171450">
              <a:buFontTx/>
              <a:buChar char="-"/>
            </a:pPr>
            <a:r>
              <a:rPr lang="en-US" sz="800"/>
              <a:t>Trend </a:t>
            </a:r>
            <a:r>
              <a:rPr lang="en-US" sz="800" err="1"/>
              <a:t>della</a:t>
            </a:r>
            <a:r>
              <a:rPr lang="en-US" sz="800"/>
              <a:t> data quality </a:t>
            </a:r>
            <a:r>
              <a:rPr lang="en-US" sz="800" err="1"/>
              <a:t>sulla</a:t>
            </a:r>
            <a:r>
              <a:rPr lang="en-US" sz="800"/>
              <a:t> </a:t>
            </a:r>
            <a:r>
              <a:rPr lang="en-US" sz="800" err="1"/>
              <a:t>tipologia</a:t>
            </a:r>
            <a:r>
              <a:rPr lang="en-US" sz="800"/>
              <a:t> di </a:t>
            </a:r>
            <a:r>
              <a:rPr lang="en-US" sz="800" err="1"/>
              <a:t>flusso</a:t>
            </a:r>
            <a:endParaRPr lang="en-US" sz="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557DC0-AD24-4B08-B5D0-B920A890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927" y="2717506"/>
            <a:ext cx="4019772" cy="3831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9979C2-54A5-4629-BE2A-56D9612A5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11" y="2717506"/>
            <a:ext cx="4453532" cy="38312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AAF279-515A-4A49-8323-8D57A4139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034" y="772538"/>
            <a:ext cx="6308743" cy="1644615"/>
          </a:xfrm>
          <a:prstGeom prst="rect">
            <a:avLst/>
          </a:prstGeom>
        </p:spPr>
      </p:pic>
      <p:pic>
        <p:nvPicPr>
          <p:cNvPr id="32" name="Graphic 31" descr="Chevron arrows">
            <a:extLst>
              <a:ext uri="{FF2B5EF4-FFF2-40B4-BE49-F238E27FC236}">
                <a16:creationId xmlns:a16="http://schemas.microsoft.com/office/drawing/2014/main" id="{6BC8AD74-9EDA-4F86-B1DB-85E08B426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6425967" y="400297"/>
            <a:ext cx="425396" cy="42539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B2546A7-B757-46F7-885C-9C8A8C60CBC4}"/>
              </a:ext>
            </a:extLst>
          </p:cNvPr>
          <p:cNvSpPr txBox="1"/>
          <p:nvPr/>
        </p:nvSpPr>
        <p:spPr>
          <a:xfrm>
            <a:off x="5520559" y="131640"/>
            <a:ext cx="2512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accent1"/>
                </a:solidFill>
              </a:rPr>
              <a:t>Lista </a:t>
            </a:r>
            <a:r>
              <a:rPr lang="en-US" sz="1200" err="1">
                <a:solidFill>
                  <a:schemeClr val="accent1"/>
                </a:solidFill>
              </a:rPr>
              <a:t>esecuzioni</a:t>
            </a:r>
            <a:r>
              <a:rPr lang="en-US" sz="1200">
                <a:solidFill>
                  <a:schemeClr val="accent1"/>
                </a:solidFill>
              </a:rPr>
              <a:t> </a:t>
            </a:r>
            <a:r>
              <a:rPr lang="en-US" sz="1200" err="1">
                <a:solidFill>
                  <a:schemeClr val="accent1"/>
                </a:solidFill>
              </a:rPr>
              <a:t>flussi</a:t>
            </a:r>
            <a:r>
              <a:rPr lang="en-US" sz="1200">
                <a:solidFill>
                  <a:schemeClr val="accent1"/>
                </a:solidFill>
              </a:rPr>
              <a:t> input/output</a:t>
            </a:r>
            <a:endParaRPr lang="it-IT" sz="1200">
              <a:solidFill>
                <a:schemeClr val="accent1"/>
              </a:solidFill>
            </a:endParaRPr>
          </a:p>
        </p:txBody>
      </p:sp>
      <p:pic>
        <p:nvPicPr>
          <p:cNvPr id="34" name="Graphic 33" descr="Chevron arrows">
            <a:extLst>
              <a:ext uri="{FF2B5EF4-FFF2-40B4-BE49-F238E27FC236}">
                <a16:creationId xmlns:a16="http://schemas.microsoft.com/office/drawing/2014/main" id="{5D6C33B9-2D13-4F5F-88E2-BAF0A5C08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1418" y="5323415"/>
            <a:ext cx="409506" cy="40950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42EEE5-60FB-465A-A7F7-9597A339C217}"/>
              </a:ext>
            </a:extLst>
          </p:cNvPr>
          <p:cNvSpPr txBox="1"/>
          <p:nvPr/>
        </p:nvSpPr>
        <p:spPr>
          <a:xfrm>
            <a:off x="504876" y="5323415"/>
            <a:ext cx="1468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accent1"/>
                </a:solidFill>
              </a:rPr>
              <a:t>Dettaglio</a:t>
            </a:r>
            <a:r>
              <a:rPr lang="en-US" sz="1200">
                <a:solidFill>
                  <a:schemeClr val="accent1"/>
                </a:solidFill>
              </a:rPr>
              <a:t> </a:t>
            </a:r>
            <a:r>
              <a:rPr lang="en-US" sz="1200" err="1">
                <a:solidFill>
                  <a:schemeClr val="accent1"/>
                </a:solidFill>
              </a:rPr>
              <a:t>esecuzione</a:t>
            </a:r>
            <a:r>
              <a:rPr lang="en-US" sz="1200">
                <a:solidFill>
                  <a:schemeClr val="accent1"/>
                </a:solidFill>
              </a:rPr>
              <a:t> </a:t>
            </a:r>
            <a:r>
              <a:rPr lang="en-US" sz="1200" err="1">
                <a:solidFill>
                  <a:schemeClr val="accent1"/>
                </a:solidFill>
              </a:rPr>
              <a:t>flusso</a:t>
            </a:r>
            <a:endParaRPr lang="it-IT" sz="1200">
              <a:solidFill>
                <a:schemeClr val="accent1"/>
              </a:solidFill>
            </a:endParaRPr>
          </a:p>
        </p:txBody>
      </p:sp>
      <p:pic>
        <p:nvPicPr>
          <p:cNvPr id="36" name="Graphic 35" descr="Chevron arrows">
            <a:extLst>
              <a:ext uri="{FF2B5EF4-FFF2-40B4-BE49-F238E27FC236}">
                <a16:creationId xmlns:a16="http://schemas.microsoft.com/office/drawing/2014/main" id="{4EE1EFB3-DC7E-4095-BB5A-7A2BC893F6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878455" y="4090497"/>
            <a:ext cx="409506" cy="40950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F067162-B6AB-46D9-83E4-8FF6E8CBBB36}"/>
              </a:ext>
            </a:extLst>
          </p:cNvPr>
          <p:cNvSpPr txBox="1"/>
          <p:nvPr/>
        </p:nvSpPr>
        <p:spPr>
          <a:xfrm>
            <a:off x="11239778" y="3972084"/>
            <a:ext cx="894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accent1"/>
                </a:solidFill>
              </a:rPr>
              <a:t>Dettaglio</a:t>
            </a:r>
            <a:r>
              <a:rPr lang="en-US" sz="1200">
                <a:solidFill>
                  <a:schemeClr val="accent1"/>
                </a:solidFill>
              </a:rPr>
              <a:t> scorecard del </a:t>
            </a:r>
            <a:r>
              <a:rPr lang="en-US" sz="1200" err="1">
                <a:solidFill>
                  <a:schemeClr val="accent1"/>
                </a:solidFill>
              </a:rPr>
              <a:t>flusso</a:t>
            </a:r>
            <a:endParaRPr lang="it-IT" sz="1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877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661CC52E-BA34-4986-81FD-4BDD57D9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2305789"/>
            <a:ext cx="11182248" cy="1298575"/>
          </a:xfrm>
        </p:spPr>
        <p:txBody>
          <a:bodyPr/>
          <a:lstStyle/>
          <a:p>
            <a:pPr algn="ctr"/>
            <a:r>
              <a:rPr lang="it-IT" sz="3600" b="1"/>
              <a:t>DR on REGION NORTH EU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1704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tangolo 3">
            <a:extLst>
              <a:ext uri="{FF2B5EF4-FFF2-40B4-BE49-F238E27FC236}">
                <a16:creationId xmlns:a16="http://schemas.microsoft.com/office/drawing/2014/main" id="{7C264795-86CE-D4D6-8842-6FB631ACCDB6}"/>
              </a:ext>
            </a:extLst>
          </p:cNvPr>
          <p:cNvSpPr/>
          <p:nvPr/>
        </p:nvSpPr>
        <p:spPr>
          <a:xfrm>
            <a:off x="4066519" y="987865"/>
            <a:ext cx="1137442" cy="5442298"/>
          </a:xfrm>
          <a:prstGeom prst="rect">
            <a:avLst/>
          </a:prstGeom>
          <a:pattFill prst="lgCheck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37227C4C-A58C-6045-5DE4-AA484010CA84}"/>
              </a:ext>
            </a:extLst>
          </p:cNvPr>
          <p:cNvCxnSpPr>
            <a:cxnSpLocks/>
          </p:cNvCxnSpPr>
          <p:nvPr/>
        </p:nvCxnSpPr>
        <p:spPr>
          <a:xfrm flipV="1">
            <a:off x="2755241" y="1376977"/>
            <a:ext cx="3862096" cy="1325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BE960E28-8705-7579-A15A-814E2F80BFF1}"/>
              </a:ext>
            </a:extLst>
          </p:cNvPr>
          <p:cNvSpPr/>
          <p:nvPr/>
        </p:nvSpPr>
        <p:spPr>
          <a:xfrm>
            <a:off x="5253019" y="772990"/>
            <a:ext cx="3483518" cy="5635978"/>
          </a:xfrm>
          <a:prstGeom prst="rect">
            <a:avLst/>
          </a:prstGeom>
          <a:solidFill>
            <a:schemeClr val="bg1">
              <a:lumMod val="95000"/>
              <a:alpha val="14902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u="sng"/>
          </a:p>
        </p:txBody>
      </p:sp>
      <p:sp>
        <p:nvSpPr>
          <p:cNvPr id="384" name="TextBox 383"/>
          <p:cNvSpPr txBox="1"/>
          <p:nvPr/>
        </p:nvSpPr>
        <p:spPr>
          <a:xfrm>
            <a:off x="10661323" y="228842"/>
            <a:ext cx="757655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1000">
                <a:solidFill>
                  <a:srgbClr val="FF0000"/>
                </a:solidFill>
                <a:latin typeface="Calibri" panose="020F0502020204030204"/>
              </a:rPr>
              <a:t>DRAFT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B0505DC-01B0-3F9A-D4C2-A7A0F868AB4C}"/>
              </a:ext>
            </a:extLst>
          </p:cNvPr>
          <p:cNvSpPr/>
          <p:nvPr/>
        </p:nvSpPr>
        <p:spPr>
          <a:xfrm>
            <a:off x="311250" y="772990"/>
            <a:ext cx="3698352" cy="5679267"/>
          </a:xfrm>
          <a:prstGeom prst="rect">
            <a:avLst/>
          </a:prstGeom>
          <a:solidFill>
            <a:schemeClr val="bg1">
              <a:lumMod val="95000"/>
              <a:alpha val="14902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801E08D-3D1D-FC24-8A90-8ED4DDFC4A7E}"/>
              </a:ext>
            </a:extLst>
          </p:cNvPr>
          <p:cNvSpPr txBox="1"/>
          <p:nvPr/>
        </p:nvSpPr>
        <p:spPr>
          <a:xfrm>
            <a:off x="240350" y="6378019"/>
            <a:ext cx="119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accent6">
                    <a:lumMod val="75000"/>
                  </a:schemeClr>
                </a:solidFill>
              </a:rPr>
              <a:t>West EU</a:t>
            </a:r>
            <a:endParaRPr lang="en-US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41FFA336-4B53-290D-5AE3-91122D259851}"/>
              </a:ext>
            </a:extLst>
          </p:cNvPr>
          <p:cNvSpPr/>
          <p:nvPr/>
        </p:nvSpPr>
        <p:spPr>
          <a:xfrm>
            <a:off x="2791529" y="3301123"/>
            <a:ext cx="3452493" cy="33774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A-P HDD replica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6" descr="Traffic Manager | Microsoft Azure Color">
            <a:extLst>
              <a:ext uri="{FF2B5EF4-FFF2-40B4-BE49-F238E27FC236}">
                <a16:creationId xmlns:a16="http://schemas.microsoft.com/office/drawing/2014/main" id="{ECC292A0-93F3-28E5-3EF5-571A6C50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351" y="1740586"/>
            <a:ext cx="388347" cy="38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8" name="Connettore a gomito 287">
            <a:extLst>
              <a:ext uri="{FF2B5EF4-FFF2-40B4-BE49-F238E27FC236}">
                <a16:creationId xmlns:a16="http://schemas.microsoft.com/office/drawing/2014/main" id="{9CBFA071-E652-C3E6-7881-057DCC3059D1}"/>
              </a:ext>
            </a:extLst>
          </p:cNvPr>
          <p:cNvCxnSpPr>
            <a:cxnSpLocks/>
            <a:stCxn id="295" idx="2"/>
            <a:endCxn id="23" idx="0"/>
          </p:cNvCxnSpPr>
          <p:nvPr/>
        </p:nvCxnSpPr>
        <p:spPr>
          <a:xfrm rot="5400000">
            <a:off x="4188222" y="1290863"/>
            <a:ext cx="856027" cy="43419"/>
          </a:xfrm>
          <a:prstGeom prst="bentConnector3">
            <a:avLst>
              <a:gd name="adj1" fmla="val 50000"/>
            </a:avLst>
          </a:prstGeom>
          <a:ln w="12700"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89" name="Group 96">
            <a:extLst>
              <a:ext uri="{FF2B5EF4-FFF2-40B4-BE49-F238E27FC236}">
                <a16:creationId xmlns:a16="http://schemas.microsoft.com/office/drawing/2014/main" id="{613F0EC4-11BC-8758-689C-1C1F5136DEF6}"/>
              </a:ext>
            </a:extLst>
          </p:cNvPr>
          <p:cNvGrpSpPr/>
          <p:nvPr/>
        </p:nvGrpSpPr>
        <p:grpSpPr>
          <a:xfrm>
            <a:off x="3987581" y="78914"/>
            <a:ext cx="1300726" cy="805645"/>
            <a:chOff x="4221684" y="2821482"/>
            <a:chExt cx="1733892" cy="1446700"/>
          </a:xfrm>
        </p:grpSpPr>
        <p:grpSp>
          <p:nvGrpSpPr>
            <p:cNvPr id="290" name="Group 97">
              <a:extLst>
                <a:ext uri="{FF2B5EF4-FFF2-40B4-BE49-F238E27FC236}">
                  <a16:creationId xmlns:a16="http://schemas.microsoft.com/office/drawing/2014/main" id="{D6AB2AF8-32AA-D552-9138-3E03594A9C4B}"/>
                </a:ext>
              </a:extLst>
            </p:cNvPr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295" name="Rectangle 103">
                <a:extLst>
                  <a:ext uri="{FF2B5EF4-FFF2-40B4-BE49-F238E27FC236}">
                    <a16:creationId xmlns:a16="http://schemas.microsoft.com/office/drawing/2014/main" id="{1CEBD296-7AD7-DA51-4FB7-F976175F483D}"/>
                  </a:ext>
                </a:extLst>
              </p:cNvPr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TextBox 104">
                <a:extLst>
                  <a:ext uri="{FF2B5EF4-FFF2-40B4-BE49-F238E27FC236}">
                    <a16:creationId xmlns:a16="http://schemas.microsoft.com/office/drawing/2014/main" id="{D8670BD4-210E-E956-4D02-B6D028634AD6}"/>
                  </a:ext>
                </a:extLst>
              </p:cNvPr>
              <p:cNvSpPr txBox="1"/>
              <p:nvPr/>
            </p:nvSpPr>
            <p:spPr>
              <a:xfrm>
                <a:off x="8048071" y="3396022"/>
                <a:ext cx="1386596" cy="191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b="1" kern="0">
                    <a:solidFill>
                      <a:srgbClr val="0070C0"/>
                    </a:solidFill>
                    <a:latin typeface="Calibri" panose="020F0502020204030204"/>
                  </a:rPr>
                  <a:t>WEB Browser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291" name="Group 98">
              <a:extLst>
                <a:ext uri="{FF2B5EF4-FFF2-40B4-BE49-F238E27FC236}">
                  <a16:creationId xmlns:a16="http://schemas.microsoft.com/office/drawing/2014/main" id="{AFEDD1FD-5D70-BEE4-5556-06C886A0A40A}"/>
                </a:ext>
              </a:extLst>
            </p:cNvPr>
            <p:cNvGrpSpPr/>
            <p:nvPr/>
          </p:nvGrpSpPr>
          <p:grpSpPr>
            <a:xfrm>
              <a:off x="4325005" y="3210565"/>
              <a:ext cx="1515147" cy="994816"/>
              <a:chOff x="5711660" y="4097816"/>
              <a:chExt cx="1515147" cy="994816"/>
            </a:xfrm>
          </p:grpSpPr>
          <p:pic>
            <p:nvPicPr>
              <p:cNvPr id="292" name="Picture 99">
                <a:extLst>
                  <a:ext uri="{FF2B5EF4-FFF2-40B4-BE49-F238E27FC236}">
                    <a16:creationId xmlns:a16="http://schemas.microsoft.com/office/drawing/2014/main" id="{4C8A7126-EB76-8D01-1E53-565F96D0A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394558"/>
                <a:ext cx="391782" cy="391782"/>
              </a:xfrm>
              <a:prstGeom prst="rect">
                <a:avLst/>
              </a:prstGeom>
            </p:spPr>
          </p:pic>
          <p:sp>
            <p:nvSpPr>
              <p:cNvPr id="293" name="Rectangle 100">
                <a:extLst>
                  <a:ext uri="{FF2B5EF4-FFF2-40B4-BE49-F238E27FC236}">
                    <a16:creationId xmlns:a16="http://schemas.microsoft.com/office/drawing/2014/main" id="{B5A326F4-5B76-A558-E99F-6833F9A18F3C}"/>
                  </a:ext>
                </a:extLst>
              </p:cNvPr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294" name="TextBox 101">
                <a:extLst>
                  <a:ext uri="{FF2B5EF4-FFF2-40B4-BE49-F238E27FC236}">
                    <a16:creationId xmlns:a16="http://schemas.microsoft.com/office/drawing/2014/main" id="{42CAA75B-B7B5-7FF9-4A1C-0AEE5DFE2C25}"/>
                  </a:ext>
                </a:extLst>
              </p:cNvPr>
              <p:cNvSpPr txBox="1"/>
              <p:nvPr/>
            </p:nvSpPr>
            <p:spPr>
              <a:xfrm>
                <a:off x="6101672" y="4097816"/>
                <a:ext cx="1085063" cy="99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Windows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SW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TBD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</p:grpSp>
      </p:grpSp>
      <p:sp>
        <p:nvSpPr>
          <p:cNvPr id="303" name="CasellaDiTesto 302">
            <a:extLst>
              <a:ext uri="{FF2B5EF4-FFF2-40B4-BE49-F238E27FC236}">
                <a16:creationId xmlns:a16="http://schemas.microsoft.com/office/drawing/2014/main" id="{7EB7165F-7518-1F8F-9C3F-095FE6F7D24D}"/>
              </a:ext>
            </a:extLst>
          </p:cNvPr>
          <p:cNvSpPr txBox="1"/>
          <p:nvPr/>
        </p:nvSpPr>
        <p:spPr>
          <a:xfrm>
            <a:off x="7689172" y="6390630"/>
            <a:ext cx="119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accent2">
                    <a:lumMod val="75000"/>
                  </a:schemeClr>
                </a:solidFill>
              </a:rPr>
              <a:t>North EU</a:t>
            </a:r>
            <a:endParaRPr lang="en-US" b="1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50" name="Gruppo 262">
            <a:extLst>
              <a:ext uri="{FF2B5EF4-FFF2-40B4-BE49-F238E27FC236}">
                <a16:creationId xmlns:a16="http://schemas.microsoft.com/office/drawing/2014/main" id="{FB4D4612-EA7D-4354-BD6B-C53A56CEDB7C}"/>
              </a:ext>
            </a:extLst>
          </p:cNvPr>
          <p:cNvGrpSpPr/>
          <p:nvPr/>
        </p:nvGrpSpPr>
        <p:grpSpPr>
          <a:xfrm>
            <a:off x="354990" y="4948179"/>
            <a:ext cx="1738360" cy="1415698"/>
            <a:chOff x="1256103" y="2785574"/>
            <a:chExt cx="1979466" cy="1592995"/>
          </a:xfrm>
        </p:grpSpPr>
        <p:grpSp>
          <p:nvGrpSpPr>
            <p:cNvPr id="52" name="Group 9">
              <a:extLst>
                <a:ext uri="{FF2B5EF4-FFF2-40B4-BE49-F238E27FC236}">
                  <a16:creationId xmlns:a16="http://schemas.microsoft.com/office/drawing/2014/main" id="{520D3B1F-E3E1-478D-9386-D64723A95913}"/>
                </a:ext>
              </a:extLst>
            </p:cNvPr>
            <p:cNvGrpSpPr/>
            <p:nvPr/>
          </p:nvGrpSpPr>
          <p:grpSpPr>
            <a:xfrm>
              <a:off x="1266118" y="3044473"/>
              <a:ext cx="1969451" cy="1334096"/>
              <a:chOff x="5711660" y="4176667"/>
              <a:chExt cx="1515147" cy="830997"/>
            </a:xfrm>
          </p:grpSpPr>
          <p:pic>
            <p:nvPicPr>
              <p:cNvPr id="58" name="Picture 4">
                <a:extLst>
                  <a:ext uri="{FF2B5EF4-FFF2-40B4-BE49-F238E27FC236}">
                    <a16:creationId xmlns:a16="http://schemas.microsoft.com/office/drawing/2014/main" id="{1FCCB848-177B-41FA-A540-287BBF31A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59" name="Rectangle 5">
                <a:extLst>
                  <a:ext uri="{FF2B5EF4-FFF2-40B4-BE49-F238E27FC236}">
                    <a16:creationId xmlns:a16="http://schemas.microsoft.com/office/drawing/2014/main" id="{90E90752-7747-4F70-9680-D3EAAB47AA5C}"/>
                  </a:ext>
                </a:extLst>
              </p:cNvPr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8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3" name="TextBox 111">
              <a:extLst>
                <a:ext uri="{FF2B5EF4-FFF2-40B4-BE49-F238E27FC236}">
                  <a16:creationId xmlns:a16="http://schemas.microsoft.com/office/drawing/2014/main" id="{2F3A2366-FB37-4711-B5A7-2596E0B7F368}"/>
                </a:ext>
              </a:extLst>
            </p:cNvPr>
            <p:cNvSpPr txBox="1"/>
            <p:nvPr/>
          </p:nvSpPr>
          <p:spPr>
            <a:xfrm>
              <a:off x="1256103" y="2785574"/>
              <a:ext cx="1979465" cy="231109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Custom App</a:t>
              </a:r>
            </a:p>
          </p:txBody>
        </p:sp>
        <p:sp>
          <p:nvSpPr>
            <p:cNvPr id="54" name="Disco magnetico 268">
              <a:extLst>
                <a:ext uri="{FF2B5EF4-FFF2-40B4-BE49-F238E27FC236}">
                  <a16:creationId xmlns:a16="http://schemas.microsoft.com/office/drawing/2014/main" id="{C725FA87-103E-45F5-AA1C-08FE770C14C1}"/>
                </a:ext>
              </a:extLst>
            </p:cNvPr>
            <p:cNvSpPr/>
            <p:nvPr/>
          </p:nvSpPr>
          <p:spPr>
            <a:xfrm>
              <a:off x="1368168" y="3671690"/>
              <a:ext cx="1179895" cy="214514"/>
            </a:xfrm>
            <a:prstGeom prst="flowChartMagneticDisk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DISK OS 64 GB</a:t>
              </a:r>
              <a:endParaRPr lang="en-US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Disco magnetico 269">
              <a:extLst>
                <a:ext uri="{FF2B5EF4-FFF2-40B4-BE49-F238E27FC236}">
                  <a16:creationId xmlns:a16="http://schemas.microsoft.com/office/drawing/2014/main" id="{0EF4376F-DF55-4718-90A6-32C1B4FC8DCB}"/>
                </a:ext>
              </a:extLst>
            </p:cNvPr>
            <p:cNvSpPr/>
            <p:nvPr/>
          </p:nvSpPr>
          <p:spPr>
            <a:xfrm>
              <a:off x="1488411" y="3910351"/>
              <a:ext cx="1114112" cy="222035"/>
            </a:xfrm>
            <a:prstGeom prst="flowChartMagneticDisk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0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DISK 0 512 GB</a:t>
              </a:r>
              <a:endParaRPr lang="en-US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7" name="TextBox 236">
              <a:extLst>
                <a:ext uri="{FF2B5EF4-FFF2-40B4-BE49-F238E27FC236}">
                  <a16:creationId xmlns:a16="http://schemas.microsoft.com/office/drawing/2014/main" id="{301A133D-6FA7-4021-81D3-0313BA74A46F}"/>
                </a:ext>
              </a:extLst>
            </p:cNvPr>
            <p:cNvSpPr txBox="1"/>
            <p:nvPr/>
          </p:nvSpPr>
          <p:spPr>
            <a:xfrm>
              <a:off x="1879270" y="3125825"/>
              <a:ext cx="1356299" cy="396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6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RHEL 7.8 x64</a:t>
              </a:r>
            </a:p>
            <a:p>
              <a:pPr algn="l"/>
              <a:r>
                <a:rPr lang="en-US" sz="600" b="0">
                  <a:solidFill>
                    <a:prstClr val="black"/>
                  </a:solidFill>
                  <a:latin typeface="Calibri" panose="020F0502020204030204"/>
                </a:rPr>
                <a:t>CPU  16</a:t>
              </a:r>
              <a:endParaRPr lang="en-US" sz="6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600" b="0">
                  <a:solidFill>
                    <a:prstClr val="black"/>
                  </a:solidFill>
                  <a:latin typeface="Calibri" panose="020F0502020204030204"/>
                </a:rPr>
                <a:t>RAM </a:t>
              </a:r>
              <a:r>
                <a:rPr lang="en-US" sz="600" b="0">
                  <a:solidFill>
                    <a:prstClr val="black"/>
                  </a:solidFill>
                  <a:latin typeface="Calibri" panose="020F0502020204030204"/>
                  <a:sym typeface="Wingdings" panose="05000000000000000000" pitchFamily="2" charset="2"/>
                </a:rPr>
                <a:t> </a:t>
              </a: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 128 GB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2D53E2C5-FF9D-4B20-B3DA-762C533C3C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7618" y="2010817"/>
            <a:ext cx="462932" cy="462932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296FFAED-897F-4FD4-B2CB-DDB131A39A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9428" y="2010374"/>
            <a:ext cx="462932" cy="462932"/>
          </a:xfrm>
          <a:prstGeom prst="rect">
            <a:avLst/>
          </a:prstGeom>
        </p:spPr>
      </p:pic>
      <p:cxnSp>
        <p:nvCxnSpPr>
          <p:cNvPr id="72" name="Connettore a gomito 24">
            <a:extLst>
              <a:ext uri="{FF2B5EF4-FFF2-40B4-BE49-F238E27FC236}">
                <a16:creationId xmlns:a16="http://schemas.microsoft.com/office/drawing/2014/main" id="{1BAC9649-7DAD-4E5D-BDE3-F7D443BE8974}"/>
              </a:ext>
            </a:extLst>
          </p:cNvPr>
          <p:cNvCxnSpPr>
            <a:cxnSpLocks/>
            <a:stCxn id="71" idx="1"/>
            <a:endCxn id="5" idx="3"/>
          </p:cNvCxnSpPr>
          <p:nvPr/>
        </p:nvCxnSpPr>
        <p:spPr>
          <a:xfrm rot="10800000" flipV="1">
            <a:off x="1980550" y="2241839"/>
            <a:ext cx="5118878" cy="4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ccia a destra 21">
            <a:extLst>
              <a:ext uri="{FF2B5EF4-FFF2-40B4-BE49-F238E27FC236}">
                <a16:creationId xmlns:a16="http://schemas.microsoft.com/office/drawing/2014/main" id="{D5F88F17-6E00-4030-918C-F9186682B79B}"/>
              </a:ext>
            </a:extLst>
          </p:cNvPr>
          <p:cNvSpPr/>
          <p:nvPr/>
        </p:nvSpPr>
        <p:spPr>
          <a:xfrm>
            <a:off x="2250657" y="5713100"/>
            <a:ext cx="4591585" cy="31390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A-P HDD replica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9" name="Connettore a gomito 24">
            <a:extLst>
              <a:ext uri="{FF2B5EF4-FFF2-40B4-BE49-F238E27FC236}">
                <a16:creationId xmlns:a16="http://schemas.microsoft.com/office/drawing/2014/main" id="{90863968-F8BE-4B5A-BCE5-2D63A5B962D6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1462187" y="2753414"/>
            <a:ext cx="566562" cy="72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a gomito 24">
            <a:extLst>
              <a:ext uri="{FF2B5EF4-FFF2-40B4-BE49-F238E27FC236}">
                <a16:creationId xmlns:a16="http://schemas.microsoft.com/office/drawing/2014/main" id="{A6803CBE-4D57-4F1A-B81E-8A7A281F1AE3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35365" y="2242282"/>
            <a:ext cx="1082253" cy="26932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a gomito 24">
            <a:extLst>
              <a:ext uri="{FF2B5EF4-FFF2-40B4-BE49-F238E27FC236}">
                <a16:creationId xmlns:a16="http://schemas.microsoft.com/office/drawing/2014/main" id="{CCC7F321-C2AA-4E09-B77B-8EA0FAAA4DFF}"/>
              </a:ext>
            </a:extLst>
          </p:cNvPr>
          <p:cNvCxnSpPr>
            <a:cxnSpLocks/>
            <a:stCxn id="71" idx="3"/>
            <a:endCxn id="92" idx="0"/>
          </p:cNvCxnSpPr>
          <p:nvPr/>
        </p:nvCxnSpPr>
        <p:spPr>
          <a:xfrm>
            <a:off x="7562360" y="2241840"/>
            <a:ext cx="867090" cy="26122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a gomito 24">
            <a:extLst>
              <a:ext uri="{FF2B5EF4-FFF2-40B4-BE49-F238E27FC236}">
                <a16:creationId xmlns:a16="http://schemas.microsoft.com/office/drawing/2014/main" id="{80CD3E2E-A22B-4841-B5F6-4D7D3BAAFFF4}"/>
              </a:ext>
            </a:extLst>
          </p:cNvPr>
          <p:cNvCxnSpPr>
            <a:cxnSpLocks/>
            <a:stCxn id="71" idx="2"/>
            <a:endCxn id="93" idx="0"/>
          </p:cNvCxnSpPr>
          <p:nvPr/>
        </p:nvCxnSpPr>
        <p:spPr>
          <a:xfrm rot="16200000" flipH="1">
            <a:off x="7100497" y="2703703"/>
            <a:ext cx="553421" cy="926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reccia a destra 21">
            <a:extLst>
              <a:ext uri="{FF2B5EF4-FFF2-40B4-BE49-F238E27FC236}">
                <a16:creationId xmlns:a16="http://schemas.microsoft.com/office/drawing/2014/main" id="{69703EBA-837A-422C-9805-63757E0F8F8E}"/>
              </a:ext>
            </a:extLst>
          </p:cNvPr>
          <p:cNvSpPr/>
          <p:nvPr/>
        </p:nvSpPr>
        <p:spPr>
          <a:xfrm>
            <a:off x="2237027" y="2401043"/>
            <a:ext cx="4777652" cy="33774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Manual replica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91F129-725A-4EEC-BF5E-52CE78E47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0203" y="6088658"/>
            <a:ext cx="342368" cy="342368"/>
          </a:xfrm>
          <a:prstGeom prst="rect">
            <a:avLst/>
          </a:prstGeom>
        </p:spPr>
      </p:pic>
      <p:cxnSp>
        <p:nvCxnSpPr>
          <p:cNvPr id="77" name="Connettore a gomito 24">
            <a:extLst>
              <a:ext uri="{FF2B5EF4-FFF2-40B4-BE49-F238E27FC236}">
                <a16:creationId xmlns:a16="http://schemas.microsoft.com/office/drawing/2014/main" id="{1FA46B61-A7B3-4335-8A15-8EA233F46684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2080681" y="6259841"/>
            <a:ext cx="239952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a gomito 24">
            <a:extLst>
              <a:ext uri="{FF2B5EF4-FFF2-40B4-BE49-F238E27FC236}">
                <a16:creationId xmlns:a16="http://schemas.microsoft.com/office/drawing/2014/main" id="{3E6279B4-6DE3-4358-83BB-581FA8DE4D2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822571" y="6259841"/>
            <a:ext cx="242329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8FC9A9-971B-4C9D-84AF-77E1622593A6}"/>
              </a:ext>
            </a:extLst>
          </p:cNvPr>
          <p:cNvGrpSpPr/>
          <p:nvPr/>
        </p:nvGrpSpPr>
        <p:grpSpPr>
          <a:xfrm>
            <a:off x="6550601" y="2954609"/>
            <a:ext cx="1749411" cy="1331180"/>
            <a:chOff x="6578636" y="2959920"/>
            <a:chExt cx="1879378" cy="157123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8C9241C-C028-4421-B6F1-5FD44BE7F036}"/>
                </a:ext>
              </a:extLst>
            </p:cNvPr>
            <p:cNvGrpSpPr/>
            <p:nvPr/>
          </p:nvGrpSpPr>
          <p:grpSpPr>
            <a:xfrm>
              <a:off x="6578636" y="3045043"/>
              <a:ext cx="1879378" cy="1486114"/>
              <a:chOff x="6578636" y="3045043"/>
              <a:chExt cx="1879378" cy="1486114"/>
            </a:xfrm>
          </p:grpSpPr>
          <p:grpSp>
            <p:nvGrpSpPr>
              <p:cNvPr id="250" name="Gruppo 249">
                <a:extLst>
                  <a:ext uri="{FF2B5EF4-FFF2-40B4-BE49-F238E27FC236}">
                    <a16:creationId xmlns:a16="http://schemas.microsoft.com/office/drawing/2014/main" id="{3C23D5A6-9C19-6533-A1CF-5CA23215A620}"/>
                  </a:ext>
                </a:extLst>
              </p:cNvPr>
              <p:cNvGrpSpPr/>
              <p:nvPr/>
            </p:nvGrpSpPr>
            <p:grpSpPr>
              <a:xfrm>
                <a:off x="6591963" y="3287488"/>
                <a:ext cx="1866051" cy="1243669"/>
                <a:chOff x="1266118" y="3044473"/>
                <a:chExt cx="1969451" cy="1334096"/>
              </a:xfrm>
            </p:grpSpPr>
            <p:grpSp>
              <p:nvGrpSpPr>
                <p:cNvPr id="255" name="Group 9">
                  <a:extLst>
                    <a:ext uri="{FF2B5EF4-FFF2-40B4-BE49-F238E27FC236}">
                      <a16:creationId xmlns:a16="http://schemas.microsoft.com/office/drawing/2014/main" id="{F58121B5-86DD-FEE2-869F-59B22B1B96AD}"/>
                    </a:ext>
                  </a:extLst>
                </p:cNvPr>
                <p:cNvGrpSpPr/>
                <p:nvPr/>
              </p:nvGrpSpPr>
              <p:grpSpPr>
                <a:xfrm>
                  <a:off x="1266118" y="3044473"/>
                  <a:ext cx="1969451" cy="1334096"/>
                  <a:chOff x="5711660" y="4176667"/>
                  <a:chExt cx="1515147" cy="830997"/>
                </a:xfrm>
              </p:grpSpPr>
              <p:pic>
                <p:nvPicPr>
                  <p:cNvPr id="261" name="Picture 4">
                    <a:extLst>
                      <a:ext uri="{FF2B5EF4-FFF2-40B4-BE49-F238E27FC236}">
                        <a16:creationId xmlns:a16="http://schemas.microsoft.com/office/drawing/2014/main" id="{41DFF567-0652-DFFF-1274-5DD29FABAE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49961" y="4183543"/>
                    <a:ext cx="391782" cy="391782"/>
                  </a:xfrm>
                  <a:prstGeom prst="rect">
                    <a:avLst/>
                  </a:prstGeom>
                </p:spPr>
              </p:pic>
              <p:sp>
                <p:nvSpPr>
                  <p:cNvPr id="262" name="Rectangle 5">
                    <a:extLst>
                      <a:ext uri="{FF2B5EF4-FFF2-40B4-BE49-F238E27FC236}">
                        <a16:creationId xmlns:a16="http://schemas.microsoft.com/office/drawing/2014/main" id="{377B9749-E3C3-359B-F8FB-7133CC783095}"/>
                      </a:ext>
                    </a:extLst>
                  </p:cNvPr>
                  <p:cNvSpPr/>
                  <p:nvPr/>
                </p:nvSpPr>
                <p:spPr>
                  <a:xfrm>
                    <a:off x="5711660" y="4176667"/>
                    <a:ext cx="1515147" cy="830997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00B0F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endParaRPr lang="en-US" sz="800" b="1" kern="0">
                      <a:solidFill>
                        <a:srgbClr val="0070C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57" name="Disco magnetico 256">
                  <a:extLst>
                    <a:ext uri="{FF2B5EF4-FFF2-40B4-BE49-F238E27FC236}">
                      <a16:creationId xmlns:a16="http://schemas.microsoft.com/office/drawing/2014/main" id="{34C394E3-B7F1-59C7-A770-649342E18F3C}"/>
                    </a:ext>
                  </a:extLst>
                </p:cNvPr>
                <p:cNvSpPr/>
                <p:nvPr/>
              </p:nvSpPr>
              <p:spPr>
                <a:xfrm>
                  <a:off x="1368168" y="3664169"/>
                  <a:ext cx="1186164" cy="219960"/>
                </a:xfrm>
                <a:prstGeom prst="flowChartMagneticDisk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0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DISK OS 64 GB</a:t>
                  </a:r>
                  <a:endParaRPr lang="en-US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258" name="Disco magnetico 257">
                  <a:extLst>
                    <a:ext uri="{FF2B5EF4-FFF2-40B4-BE49-F238E27FC236}">
                      <a16:creationId xmlns:a16="http://schemas.microsoft.com/office/drawing/2014/main" id="{FD67FAFD-782A-7192-30FC-D52589A12D8C}"/>
                    </a:ext>
                  </a:extLst>
                </p:cNvPr>
                <p:cNvSpPr/>
                <p:nvPr/>
              </p:nvSpPr>
              <p:spPr>
                <a:xfrm>
                  <a:off x="1445092" y="3960691"/>
                  <a:ext cx="1186164" cy="195076"/>
                </a:xfrm>
                <a:prstGeom prst="flowChartMagneticDisk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0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DISK 0 256 GB</a:t>
                  </a:r>
                  <a:endParaRPr lang="en-US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260" name="TextBox 236">
                  <a:extLst>
                    <a:ext uri="{FF2B5EF4-FFF2-40B4-BE49-F238E27FC236}">
                      <a16:creationId xmlns:a16="http://schemas.microsoft.com/office/drawing/2014/main" id="{157C2E70-8E4E-8014-CE11-3B2895A20778}"/>
                    </a:ext>
                  </a:extLst>
                </p:cNvPr>
                <p:cNvSpPr txBox="1"/>
                <p:nvPr/>
              </p:nvSpPr>
              <p:spPr>
                <a:xfrm>
                  <a:off x="1879270" y="3125825"/>
                  <a:ext cx="1356299" cy="3961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200" b="1">
                      <a:solidFill>
                        <a:srgbClr val="0070C0"/>
                      </a:solidFill>
                    </a:defRPr>
                  </a:lvl1pPr>
                </a:lstStyle>
                <a:p>
                  <a:pPr algn="l"/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</a:rPr>
                    <a:t>OS : </a:t>
                  </a:r>
                  <a:r>
                    <a:rPr lang="en-US" sz="600">
                      <a:solidFill>
                        <a:prstClr val="black"/>
                      </a:solidFill>
                      <a:latin typeface="Calibri" panose="020F0502020204030204"/>
                    </a:rPr>
                    <a:t>RHEL 7.8 x64</a:t>
                  </a:r>
                </a:p>
                <a:p>
                  <a:pPr algn="l"/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</a:rPr>
                    <a:t>CPU  16</a:t>
                  </a:r>
                  <a:endParaRPr lang="en-US" sz="60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algn="l"/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</a:rPr>
                    <a:t>RAM </a:t>
                  </a:r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  <a:sym typeface="Wingdings" panose="05000000000000000000" pitchFamily="2" charset="2"/>
                    </a:rPr>
                    <a:t> </a:t>
                  </a:r>
                  <a:r>
                    <a:rPr lang="en-US" sz="600">
                      <a:solidFill>
                        <a:prstClr val="black"/>
                      </a:solidFill>
                      <a:latin typeface="Calibri" panose="020F0502020204030204"/>
                    </a:rPr>
                    <a:t> 128 GB</a:t>
                  </a:r>
                </a:p>
              </p:txBody>
            </p:sp>
          </p:grpSp>
          <p:sp>
            <p:nvSpPr>
              <p:cNvPr id="93" name="TextBox 111">
                <a:extLst>
                  <a:ext uri="{FF2B5EF4-FFF2-40B4-BE49-F238E27FC236}">
                    <a16:creationId xmlns:a16="http://schemas.microsoft.com/office/drawing/2014/main" id="{F25DF7B0-577F-4716-A289-6D3B5BA354E4}"/>
                  </a:ext>
                </a:extLst>
              </p:cNvPr>
              <p:cNvSpPr txBox="1"/>
              <p:nvPr/>
            </p:nvSpPr>
            <p:spPr>
              <a:xfrm>
                <a:off x="6578636" y="3045043"/>
                <a:ext cx="1875539" cy="215444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Informatica Axon</a:t>
                </a:r>
              </a:p>
            </p:txBody>
          </p:sp>
          <p:pic>
            <p:nvPicPr>
              <p:cNvPr id="94" name="Picture 165">
                <a:extLst>
                  <a:ext uri="{FF2B5EF4-FFF2-40B4-BE49-F238E27FC236}">
                    <a16:creationId xmlns:a16="http://schemas.microsoft.com/office/drawing/2014/main" id="{A3249267-EE9E-4B69-B466-38DD21342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49770" y="3071799"/>
                <a:ext cx="258294" cy="183599"/>
              </a:xfrm>
              <a:prstGeom prst="rect">
                <a:avLst/>
              </a:prstGeom>
            </p:spPr>
          </p:pic>
        </p:grpSp>
        <p:pic>
          <p:nvPicPr>
            <p:cNvPr id="95" name="Graphic 94">
              <a:extLst>
                <a:ext uri="{FF2B5EF4-FFF2-40B4-BE49-F238E27FC236}">
                  <a16:creationId xmlns:a16="http://schemas.microsoft.com/office/drawing/2014/main" id="{EB2E91C2-E000-48FA-AA8C-5BADC72CD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89745" y="2959920"/>
              <a:ext cx="355267" cy="355267"/>
            </a:xfrm>
            <a:prstGeom prst="rect">
              <a:avLst/>
            </a:prstGeom>
          </p:spPr>
        </p:pic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04F215C9-B1DE-9C8C-FFB2-4953291928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8703" y="2460116"/>
            <a:ext cx="372386" cy="37238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F1B0CD16-E90B-C595-AA49-F4FF1D8ED2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1438" y="2071769"/>
            <a:ext cx="372386" cy="37238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E570FCD-6F6C-3D6D-EAFF-C7E403D637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1037" y="2424078"/>
            <a:ext cx="372386" cy="37238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B7E50DF7-44D6-5290-7AC0-A869CDA872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6938" y="2066822"/>
            <a:ext cx="372386" cy="37238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D894F9E4-BBF2-46E5-87CF-FB077B0D1FBD}"/>
              </a:ext>
            </a:extLst>
          </p:cNvPr>
          <p:cNvGrpSpPr/>
          <p:nvPr/>
        </p:nvGrpSpPr>
        <p:grpSpPr>
          <a:xfrm>
            <a:off x="7204581" y="4854093"/>
            <a:ext cx="1366660" cy="1429262"/>
            <a:chOff x="6856751" y="4892351"/>
            <a:chExt cx="1875540" cy="1563551"/>
          </a:xfrm>
        </p:grpSpPr>
        <p:grpSp>
          <p:nvGrpSpPr>
            <p:cNvPr id="60" name="Gruppo 262">
              <a:extLst>
                <a:ext uri="{FF2B5EF4-FFF2-40B4-BE49-F238E27FC236}">
                  <a16:creationId xmlns:a16="http://schemas.microsoft.com/office/drawing/2014/main" id="{04DA32B7-A1D1-4A36-B7FD-C79548701FCF}"/>
                </a:ext>
              </a:extLst>
            </p:cNvPr>
            <p:cNvGrpSpPr/>
            <p:nvPr/>
          </p:nvGrpSpPr>
          <p:grpSpPr>
            <a:xfrm>
              <a:off x="6856751" y="4970883"/>
              <a:ext cx="1875540" cy="1485019"/>
              <a:chOff x="1256103" y="2785574"/>
              <a:chExt cx="1979466" cy="1592995"/>
            </a:xfrm>
          </p:grpSpPr>
          <p:grpSp>
            <p:nvGrpSpPr>
              <p:cNvPr id="61" name="Group 9">
                <a:extLst>
                  <a:ext uri="{FF2B5EF4-FFF2-40B4-BE49-F238E27FC236}">
                    <a16:creationId xmlns:a16="http://schemas.microsoft.com/office/drawing/2014/main" id="{17C1A834-A050-4EBB-A5D6-F46C61EED6C2}"/>
                  </a:ext>
                </a:extLst>
              </p:cNvPr>
              <p:cNvGrpSpPr/>
              <p:nvPr/>
            </p:nvGrpSpPr>
            <p:grpSpPr>
              <a:xfrm>
                <a:off x="1266118" y="3044473"/>
                <a:ext cx="1969451" cy="1334096"/>
                <a:chOff x="5711660" y="4176667"/>
                <a:chExt cx="1515147" cy="830997"/>
              </a:xfrm>
            </p:grpSpPr>
            <p:pic>
              <p:nvPicPr>
                <p:cNvPr id="67" name="Picture 4">
                  <a:extLst>
                    <a:ext uri="{FF2B5EF4-FFF2-40B4-BE49-F238E27FC236}">
                      <a16:creationId xmlns:a16="http://schemas.microsoft.com/office/drawing/2014/main" id="{956174ED-7DBB-4864-96FA-DF89427E5A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9961" y="4183543"/>
                  <a:ext cx="391782" cy="391782"/>
                </a:xfrm>
                <a:prstGeom prst="rect">
                  <a:avLst/>
                </a:prstGeom>
              </p:spPr>
            </p:pic>
            <p:sp>
              <p:nvSpPr>
                <p:cNvPr id="68" name="Rectangle 5">
                  <a:extLst>
                    <a:ext uri="{FF2B5EF4-FFF2-40B4-BE49-F238E27FC236}">
                      <a16:creationId xmlns:a16="http://schemas.microsoft.com/office/drawing/2014/main" id="{0DF43C9D-35ED-4C57-A60F-9A1EAE32FBEE}"/>
                    </a:ext>
                  </a:extLst>
                </p:cNvPr>
                <p:cNvSpPr/>
                <p:nvPr/>
              </p:nvSpPr>
              <p:spPr>
                <a:xfrm>
                  <a:off x="5711660" y="4176667"/>
                  <a:ext cx="1515147" cy="830997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sz="800" b="1" kern="0">
                    <a:solidFill>
                      <a:srgbClr val="0070C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62" name="TextBox 111">
                <a:extLst>
                  <a:ext uri="{FF2B5EF4-FFF2-40B4-BE49-F238E27FC236}">
                    <a16:creationId xmlns:a16="http://schemas.microsoft.com/office/drawing/2014/main" id="{890F9881-016A-4E67-A2A8-220C5B30CB57}"/>
                  </a:ext>
                </a:extLst>
              </p:cNvPr>
              <p:cNvSpPr txBox="1"/>
              <p:nvPr/>
            </p:nvSpPr>
            <p:spPr>
              <a:xfrm>
                <a:off x="1256103" y="2785574"/>
                <a:ext cx="1979465" cy="241021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Custom App</a:t>
                </a:r>
              </a:p>
            </p:txBody>
          </p:sp>
          <p:sp>
            <p:nvSpPr>
              <p:cNvPr id="63" name="Disco magnetico 268">
                <a:extLst>
                  <a:ext uri="{FF2B5EF4-FFF2-40B4-BE49-F238E27FC236}">
                    <a16:creationId xmlns:a16="http://schemas.microsoft.com/office/drawing/2014/main" id="{3E9DE40A-906E-4CC8-B22D-4FEA5598EAD5}"/>
                  </a:ext>
                </a:extLst>
              </p:cNvPr>
              <p:cNvSpPr/>
              <p:nvPr/>
            </p:nvSpPr>
            <p:spPr>
              <a:xfrm>
                <a:off x="1368166" y="3664169"/>
                <a:ext cx="1277002" cy="262452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9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DISK OS 64 GB</a:t>
                </a:r>
                <a:endParaRPr lang="en-US" sz="9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4" name="Disco magnetico 269">
                <a:extLst>
                  <a:ext uri="{FF2B5EF4-FFF2-40B4-BE49-F238E27FC236}">
                    <a16:creationId xmlns:a16="http://schemas.microsoft.com/office/drawing/2014/main" id="{5B0EEE72-5384-4C29-99F1-6EF7F7CA526B}"/>
                  </a:ext>
                </a:extLst>
              </p:cNvPr>
              <p:cNvSpPr/>
              <p:nvPr/>
            </p:nvSpPr>
            <p:spPr>
              <a:xfrm>
                <a:off x="1531057" y="4030689"/>
                <a:ext cx="1311665" cy="262453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9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DISK 0 512 GB</a:t>
                </a:r>
                <a:endParaRPr lang="en-US" sz="9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6" name="TextBox 236">
                <a:extLst>
                  <a:ext uri="{FF2B5EF4-FFF2-40B4-BE49-F238E27FC236}">
                    <a16:creationId xmlns:a16="http://schemas.microsoft.com/office/drawing/2014/main" id="{CEF18C13-00F9-4111-BBB0-0C0E1CAD2E55}"/>
                  </a:ext>
                </a:extLst>
              </p:cNvPr>
              <p:cNvSpPr txBox="1"/>
              <p:nvPr/>
            </p:nvSpPr>
            <p:spPr>
              <a:xfrm>
                <a:off x="1879270" y="3125825"/>
                <a:ext cx="1356299" cy="396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RHEL 7.8 x64</a:t>
                </a: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CPU  16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RAM </a:t>
                </a:r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  <a:sym typeface="Wingdings" panose="05000000000000000000" pitchFamily="2" charset="2"/>
                  </a:rPr>
                  <a:t>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 128 GB</a:t>
                </a:r>
              </a:p>
            </p:txBody>
          </p:sp>
        </p:grpSp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EF5D40BC-AC73-437A-AD33-67FDBAD75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60070" y="4892351"/>
              <a:ext cx="355267" cy="355267"/>
            </a:xfrm>
            <a:prstGeom prst="rect">
              <a:avLst/>
            </a:prstGeom>
          </p:spPr>
        </p:pic>
      </p:grp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30C60568-68F1-32FA-1FEF-7F1ED36B8B77}"/>
              </a:ext>
            </a:extLst>
          </p:cNvPr>
          <p:cNvCxnSpPr>
            <a:cxnSpLocks/>
          </p:cNvCxnSpPr>
          <p:nvPr/>
        </p:nvCxnSpPr>
        <p:spPr>
          <a:xfrm>
            <a:off x="2083704" y="5292014"/>
            <a:ext cx="525263" cy="1477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a gomito 42">
            <a:extLst>
              <a:ext uri="{FF2B5EF4-FFF2-40B4-BE49-F238E27FC236}">
                <a16:creationId xmlns:a16="http://schemas.microsoft.com/office/drawing/2014/main" id="{C11FBA80-16A2-7F7F-B313-47DB8762D7CA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6790112" y="5379784"/>
            <a:ext cx="414468" cy="207895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ttore a gomito 264">
            <a:extLst>
              <a:ext uri="{FF2B5EF4-FFF2-40B4-BE49-F238E27FC236}">
                <a16:creationId xmlns:a16="http://schemas.microsoft.com/office/drawing/2014/main" id="{680B10F9-314F-EF72-61AE-0BE0949A0316}"/>
              </a:ext>
            </a:extLst>
          </p:cNvPr>
          <p:cNvCxnSpPr>
            <a:cxnSpLocks/>
            <a:stCxn id="62" idx="0"/>
            <a:endCxn id="89" idx="3"/>
          </p:cNvCxnSpPr>
          <p:nvPr/>
        </p:nvCxnSpPr>
        <p:spPr>
          <a:xfrm rot="16200000" flipV="1">
            <a:off x="7190430" y="4228398"/>
            <a:ext cx="299853" cy="1095111"/>
          </a:xfrm>
          <a:prstGeom prst="bentConnector2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517819-4BBD-041D-260B-52042031E007}"/>
              </a:ext>
            </a:extLst>
          </p:cNvPr>
          <p:cNvSpPr txBox="1"/>
          <p:nvPr/>
        </p:nvSpPr>
        <p:spPr>
          <a:xfrm>
            <a:off x="3464653" y="2094916"/>
            <a:ext cx="2320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>
                <a:solidFill>
                  <a:srgbClr val="C00000"/>
                </a:solidFill>
              </a:rPr>
              <a:t>https://adacfotrafficgateway.trafficmanager.net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15A35CA9-9FC6-1ED3-D0C3-6445CB9FB31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714" y="292789"/>
            <a:ext cx="329148" cy="329148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A519C7E-64E4-DE1D-B8C4-CC913F6B5CA4}"/>
              </a:ext>
            </a:extLst>
          </p:cNvPr>
          <p:cNvCxnSpPr>
            <a:stCxn id="10" idx="2"/>
            <a:endCxn id="23" idx="0"/>
          </p:cNvCxnSpPr>
          <p:nvPr/>
        </p:nvCxnSpPr>
        <p:spPr>
          <a:xfrm rot="5400000">
            <a:off x="4833583" y="382880"/>
            <a:ext cx="1118649" cy="1596763"/>
          </a:xfrm>
          <a:prstGeom prst="bentConnector3">
            <a:avLst>
              <a:gd name="adj1" fmla="val 37662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0E7530-B2A4-C063-F480-E6D759FC0BEB}"/>
              </a:ext>
            </a:extLst>
          </p:cNvPr>
          <p:cNvSpPr txBox="1"/>
          <p:nvPr/>
        </p:nvSpPr>
        <p:spPr>
          <a:xfrm>
            <a:off x="5583542" y="74680"/>
            <a:ext cx="12314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/>
              <a:t>https://ada.generali.com</a:t>
            </a:r>
          </a:p>
        </p:txBody>
      </p:sp>
      <p:sp>
        <p:nvSpPr>
          <p:cNvPr id="36" name="Rectangle 192">
            <a:extLst>
              <a:ext uri="{FF2B5EF4-FFF2-40B4-BE49-F238E27FC236}">
                <a16:creationId xmlns:a16="http://schemas.microsoft.com/office/drawing/2014/main" id="{B1BC7C8B-3582-C227-4E64-2C371F06FDCC}"/>
              </a:ext>
            </a:extLst>
          </p:cNvPr>
          <p:cNvSpPr/>
          <p:nvPr/>
        </p:nvSpPr>
        <p:spPr>
          <a:xfrm>
            <a:off x="7419238" y="236366"/>
            <a:ext cx="519871" cy="149245"/>
          </a:xfrm>
          <a:prstGeom prst="rect">
            <a:avLst/>
          </a:prstGeom>
          <a:pattFill prst="diagBrick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CDAAD9-0611-EB4C-9D21-99F11E974F4B}"/>
              </a:ext>
            </a:extLst>
          </p:cNvPr>
          <p:cNvSpPr txBox="1"/>
          <p:nvPr/>
        </p:nvSpPr>
        <p:spPr>
          <a:xfrm>
            <a:off x="7969873" y="196528"/>
            <a:ext cx="12650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Only for Test DR Purposes</a:t>
            </a:r>
            <a:endParaRPr lang="it-IT" sz="800"/>
          </a:p>
        </p:txBody>
      </p:sp>
      <p:sp>
        <p:nvSpPr>
          <p:cNvPr id="40" name="CasellaDiTesto 302">
            <a:extLst>
              <a:ext uri="{FF2B5EF4-FFF2-40B4-BE49-F238E27FC236}">
                <a16:creationId xmlns:a16="http://schemas.microsoft.com/office/drawing/2014/main" id="{F4DB3B63-0B25-FC4B-2C5C-6EA52666D55E}"/>
              </a:ext>
            </a:extLst>
          </p:cNvPr>
          <p:cNvSpPr txBox="1"/>
          <p:nvPr/>
        </p:nvSpPr>
        <p:spPr>
          <a:xfrm>
            <a:off x="4029429" y="6376568"/>
            <a:ext cx="1330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>
                <a:solidFill>
                  <a:schemeClr val="bg1">
                    <a:lumMod val="50000"/>
                  </a:schemeClr>
                </a:solidFill>
              </a:rPr>
              <a:t>Cross Region</a:t>
            </a:r>
            <a:endParaRPr lang="en-US" sz="16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2" name="Freccia a destra 27">
            <a:extLst>
              <a:ext uri="{FF2B5EF4-FFF2-40B4-BE49-F238E27FC236}">
                <a16:creationId xmlns:a16="http://schemas.microsoft.com/office/drawing/2014/main" id="{B712442C-CE87-52BF-5D75-A9618D24C857}"/>
              </a:ext>
            </a:extLst>
          </p:cNvPr>
          <p:cNvSpPr/>
          <p:nvPr/>
        </p:nvSpPr>
        <p:spPr>
          <a:xfrm>
            <a:off x="3801469" y="5164818"/>
            <a:ext cx="1729565" cy="458059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it-IT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-A </a:t>
            </a:r>
            <a:r>
              <a:rPr lang="it-IT" sz="9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Automatic</a:t>
            </a:r>
            <a:r>
              <a:rPr lang="it-IT" sz="900" b="1">
                <a:solidFill>
                  <a:schemeClr val="tx1">
                    <a:lumMod val="75000"/>
                    <a:lumOff val="25000"/>
                  </a:schemeClr>
                </a:solidFill>
              </a:rPr>
              <a:t> GEO-replica</a:t>
            </a:r>
            <a:endParaRPr lang="en-US" sz="9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4" name="Freccia a destra 27">
            <a:extLst>
              <a:ext uri="{FF2B5EF4-FFF2-40B4-BE49-F238E27FC236}">
                <a16:creationId xmlns:a16="http://schemas.microsoft.com/office/drawing/2014/main" id="{9788970D-E8D3-57ED-AC02-9D0C2B14F8A5}"/>
              </a:ext>
            </a:extLst>
          </p:cNvPr>
          <p:cNvSpPr/>
          <p:nvPr/>
        </p:nvSpPr>
        <p:spPr>
          <a:xfrm>
            <a:off x="3792228" y="4468833"/>
            <a:ext cx="1710509" cy="453416"/>
          </a:xfrm>
          <a:prstGeom prst="rightArrow">
            <a:avLst/>
          </a:prstGeom>
          <a:pattFill prst="diagBrick">
            <a:fgClr>
              <a:srgbClr val="4472C4"/>
            </a:fgClr>
            <a:bgClr>
              <a:schemeClr val="bg1"/>
            </a:bgClr>
          </a:pattFill>
          <a:ln w="158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>
                    <a:lumMod val="75000"/>
                    <a:lumOff val="25000"/>
                  </a:schemeClr>
                </a:solidFill>
              </a:rPr>
              <a:t>On Demand  </a:t>
            </a:r>
            <a:r>
              <a:rPr lang="it-IT" sz="8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Automatic</a:t>
            </a:r>
            <a:r>
              <a:rPr lang="it-IT" sz="800" b="1">
                <a:solidFill>
                  <a:schemeClr val="tx1">
                    <a:lumMod val="75000"/>
                    <a:lumOff val="25000"/>
                  </a:schemeClr>
                </a:solidFill>
              </a:rPr>
              <a:t> GEO-replica</a:t>
            </a:r>
            <a:endParaRPr lang="en-US" sz="8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C191AD-59FA-80C5-A1F8-8C79457D380D}"/>
              </a:ext>
            </a:extLst>
          </p:cNvPr>
          <p:cNvGrpSpPr/>
          <p:nvPr/>
        </p:nvGrpSpPr>
        <p:grpSpPr>
          <a:xfrm>
            <a:off x="2599323" y="4643380"/>
            <a:ext cx="1134794" cy="837233"/>
            <a:chOff x="5524121" y="2060920"/>
            <a:chExt cx="1224345" cy="878229"/>
          </a:xfrm>
        </p:grpSpPr>
        <p:pic>
          <p:nvPicPr>
            <p:cNvPr id="29" name="Graphic 191">
              <a:extLst>
                <a:ext uri="{FF2B5EF4-FFF2-40B4-BE49-F238E27FC236}">
                  <a16:creationId xmlns:a16="http://schemas.microsoft.com/office/drawing/2014/main" id="{D3463778-17D5-DD83-53C3-42FE30DAF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982477" y="2374138"/>
              <a:ext cx="382775" cy="391645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8C27E2A-6675-43CC-ACFD-F2A09E26D4CA}"/>
                </a:ext>
              </a:extLst>
            </p:cNvPr>
            <p:cNvSpPr/>
            <p:nvPr/>
          </p:nvSpPr>
          <p:spPr>
            <a:xfrm>
              <a:off x="5524121" y="2060920"/>
              <a:ext cx="1224345" cy="87822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7630440-2109-CFAC-BFC3-0D3FC3FA97FC}"/>
                </a:ext>
              </a:extLst>
            </p:cNvPr>
            <p:cNvSpPr txBox="1"/>
            <p:nvPr/>
          </p:nvSpPr>
          <p:spPr>
            <a:xfrm>
              <a:off x="5714717" y="2134683"/>
              <a:ext cx="92044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Elastic Pool</a:t>
              </a:r>
              <a:endParaRPr lang="it-IT" sz="80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FE8211C-0432-0B69-3F58-CFD9D8881D9C}"/>
              </a:ext>
            </a:extLst>
          </p:cNvPr>
          <p:cNvGrpSpPr/>
          <p:nvPr/>
        </p:nvGrpSpPr>
        <p:grpSpPr>
          <a:xfrm>
            <a:off x="5655318" y="5035489"/>
            <a:ext cx="1134794" cy="660780"/>
            <a:chOff x="5524121" y="2031749"/>
            <a:chExt cx="1224345" cy="693136"/>
          </a:xfrm>
        </p:grpSpPr>
        <p:pic>
          <p:nvPicPr>
            <p:cNvPr id="70" name="Graphic 191">
              <a:extLst>
                <a:ext uri="{FF2B5EF4-FFF2-40B4-BE49-F238E27FC236}">
                  <a16:creationId xmlns:a16="http://schemas.microsoft.com/office/drawing/2014/main" id="{BB102738-3F5C-2312-4311-3D9F71C66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963279" y="2307512"/>
              <a:ext cx="382775" cy="391645"/>
            </a:xfrm>
            <a:prstGeom prst="rect">
              <a:avLst/>
            </a:prstGeom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D1792B2-82F2-2025-8218-173AC0335DBE}"/>
                </a:ext>
              </a:extLst>
            </p:cNvPr>
            <p:cNvSpPr/>
            <p:nvPr/>
          </p:nvSpPr>
          <p:spPr>
            <a:xfrm>
              <a:off x="5524121" y="2060921"/>
              <a:ext cx="1224345" cy="6639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647191E-814D-BD4F-0688-7FB1D263AE24}"/>
                </a:ext>
              </a:extLst>
            </p:cNvPr>
            <p:cNvSpPr txBox="1"/>
            <p:nvPr/>
          </p:nvSpPr>
          <p:spPr>
            <a:xfrm>
              <a:off x="5699720" y="2031749"/>
              <a:ext cx="9428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/>
                <a:t>Azure Elastic Pool </a:t>
              </a:r>
            </a:p>
            <a:p>
              <a:pPr algn="ctr"/>
              <a:r>
                <a:rPr lang="en-US" sz="800"/>
                <a:t>Failover Group</a:t>
              </a:r>
              <a:endParaRPr lang="it-IT" sz="80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B8F2CFD-2EB3-D074-B6DA-6995B18FF6AD}"/>
              </a:ext>
            </a:extLst>
          </p:cNvPr>
          <p:cNvGrpSpPr/>
          <p:nvPr/>
        </p:nvGrpSpPr>
        <p:grpSpPr>
          <a:xfrm>
            <a:off x="5658006" y="4281732"/>
            <a:ext cx="1134794" cy="660780"/>
            <a:chOff x="6093909" y="4197060"/>
            <a:chExt cx="1224345" cy="693136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86B075F-5C12-41B4-6189-1C7C16BA615C}"/>
                </a:ext>
              </a:extLst>
            </p:cNvPr>
            <p:cNvSpPr/>
            <p:nvPr/>
          </p:nvSpPr>
          <p:spPr>
            <a:xfrm>
              <a:off x="6093909" y="4226232"/>
              <a:ext cx="1224345" cy="663964"/>
            </a:xfrm>
            <a:prstGeom prst="rect">
              <a:avLst/>
            </a:prstGeom>
            <a:pattFill prst="shingle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36F60F1-0F46-15DD-AE5E-36B61C762F43}"/>
                </a:ext>
              </a:extLst>
            </p:cNvPr>
            <p:cNvSpPr txBox="1"/>
            <p:nvPr/>
          </p:nvSpPr>
          <p:spPr>
            <a:xfrm>
              <a:off x="6261493" y="4197060"/>
              <a:ext cx="9589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/>
                <a:t>Azure Elastic Pool </a:t>
              </a:r>
            </a:p>
            <a:p>
              <a:pPr algn="ctr"/>
              <a:r>
                <a:rPr lang="en-US" sz="800" b="1"/>
                <a:t>Replica</a:t>
              </a:r>
              <a:endParaRPr lang="it-IT" sz="800" b="1"/>
            </a:p>
          </p:txBody>
        </p:sp>
        <p:pic>
          <p:nvPicPr>
            <p:cNvPr id="97" name="Graphic 191">
              <a:extLst>
                <a:ext uri="{FF2B5EF4-FFF2-40B4-BE49-F238E27FC236}">
                  <a16:creationId xmlns:a16="http://schemas.microsoft.com/office/drawing/2014/main" id="{B882962B-5A5A-13A8-9DA7-778628541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52779" y="4454990"/>
              <a:ext cx="382775" cy="391645"/>
            </a:xfrm>
            <a:prstGeom prst="rect">
              <a:avLst/>
            </a:prstGeom>
          </p:spPr>
        </p:pic>
      </p:grpSp>
      <p:sp>
        <p:nvSpPr>
          <p:cNvPr id="106" name="Title 1">
            <a:extLst>
              <a:ext uri="{FF2B5EF4-FFF2-40B4-BE49-F238E27FC236}">
                <a16:creationId xmlns:a16="http://schemas.microsoft.com/office/drawing/2014/main" id="{F77E12CB-C12F-6B8B-FECD-76DEF5238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452" y="107059"/>
            <a:ext cx="11182248" cy="425095"/>
          </a:xfrm>
        </p:spPr>
        <p:txBody>
          <a:bodyPr>
            <a:noAutofit/>
          </a:bodyPr>
          <a:lstStyle/>
          <a:p>
            <a:r>
              <a:rPr lang="it-IT" sz="2400">
                <a:solidFill>
                  <a:srgbClr val="C00000"/>
                </a:solidFill>
                <a:latin typeface="+mn-lt"/>
              </a:rPr>
              <a:t>DR per AXON – Portal - PBI</a:t>
            </a:r>
            <a:endParaRPr lang="en-US" sz="240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2" name="Graphic 11" descr="Chevron arrows">
            <a:extLst>
              <a:ext uri="{FF2B5EF4-FFF2-40B4-BE49-F238E27FC236}">
                <a16:creationId xmlns:a16="http://schemas.microsoft.com/office/drawing/2014/main" id="{803C2813-1427-6E43-67EF-8F50335FB4E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10661" y="2546487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BF6C43-09A1-6D1D-4A6B-372025B3728A}"/>
              </a:ext>
            </a:extLst>
          </p:cNvPr>
          <p:cNvSpPr/>
          <p:nvPr/>
        </p:nvSpPr>
        <p:spPr>
          <a:xfrm>
            <a:off x="9803997" y="1029479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8.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per Gateway </a:t>
            </a:r>
            <a:endParaRPr lang="it-IT" sz="1000" b="1">
              <a:solidFill>
                <a:srgbClr val="C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0A1D7-CD9F-12B7-C35E-C6EDBEB69FD3}"/>
              </a:ext>
            </a:extLst>
          </p:cNvPr>
          <p:cNvSpPr/>
          <p:nvPr/>
        </p:nvSpPr>
        <p:spPr>
          <a:xfrm>
            <a:off x="9803997" y="2503890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2.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Virtual Machine</a:t>
            </a:r>
          </a:p>
          <a:p>
            <a:pPr algn="ctr"/>
            <a:r>
              <a:rPr lang="en-US" sz="800">
                <a:solidFill>
                  <a:srgbClr val="C00000"/>
                </a:solidFill>
              </a:rPr>
              <a:t>and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9.5  </a:t>
            </a:r>
            <a:r>
              <a:rPr lang="en-US" sz="1000" b="1" err="1">
                <a:solidFill>
                  <a:srgbClr val="C00000"/>
                </a:solidFill>
              </a:rPr>
              <a:t>Preparazione</a:t>
            </a:r>
            <a:r>
              <a:rPr lang="en-US" sz="1000" b="1">
                <a:solidFill>
                  <a:srgbClr val="C00000"/>
                </a:solidFill>
              </a:rPr>
              <a:t> Test-failover Informatica AXON</a:t>
            </a:r>
            <a:endParaRPr lang="it-IT" sz="1000" b="1">
              <a:solidFill>
                <a:srgbClr val="C00000"/>
              </a:solidFill>
            </a:endParaRPr>
          </a:p>
        </p:txBody>
      </p:sp>
      <p:pic>
        <p:nvPicPr>
          <p:cNvPr id="27" name="Graphic 26" descr="Chevron arrows">
            <a:extLst>
              <a:ext uri="{FF2B5EF4-FFF2-40B4-BE49-F238E27FC236}">
                <a16:creationId xmlns:a16="http://schemas.microsoft.com/office/drawing/2014/main" id="{2BF61983-1AC6-8BAE-06C7-96C7A50A88F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78291" y="1157458"/>
            <a:ext cx="914400" cy="914400"/>
          </a:xfrm>
          <a:prstGeom prst="rect">
            <a:avLst/>
          </a:prstGeom>
        </p:spPr>
      </p:pic>
      <p:pic>
        <p:nvPicPr>
          <p:cNvPr id="30" name="Graphic 29" descr="Chevron arrows">
            <a:extLst>
              <a:ext uri="{FF2B5EF4-FFF2-40B4-BE49-F238E27FC236}">
                <a16:creationId xmlns:a16="http://schemas.microsoft.com/office/drawing/2014/main" id="{1AF3ACD5-83CD-937C-CF10-0D2ADE1C46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10661" y="4837024"/>
            <a:ext cx="914400" cy="9144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C9C54C4-56A6-6A65-DBE3-961EBE5625B2}"/>
              </a:ext>
            </a:extLst>
          </p:cNvPr>
          <p:cNvSpPr/>
          <p:nvPr/>
        </p:nvSpPr>
        <p:spPr>
          <a:xfrm>
            <a:off x="9803997" y="4794427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2.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Virtual Machine</a:t>
            </a:r>
          </a:p>
          <a:p>
            <a:pPr algn="ctr"/>
            <a:r>
              <a:rPr lang="en-US" sz="800">
                <a:solidFill>
                  <a:srgbClr val="C00000"/>
                </a:solidFill>
              </a:rPr>
              <a:t>and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9.7  </a:t>
            </a:r>
            <a:r>
              <a:rPr lang="en-US" sz="1000" b="1" err="1">
                <a:solidFill>
                  <a:srgbClr val="C00000"/>
                </a:solidFill>
              </a:rPr>
              <a:t>Preparazione</a:t>
            </a:r>
            <a:r>
              <a:rPr lang="en-US" sz="1000" b="1">
                <a:solidFill>
                  <a:srgbClr val="C00000"/>
                </a:solidFill>
              </a:rPr>
              <a:t> Test-failover Custom app</a:t>
            </a:r>
            <a:endParaRPr lang="it-IT" sz="1000" b="1">
              <a:solidFill>
                <a:srgbClr val="C00000"/>
              </a:solidFill>
            </a:endParaRPr>
          </a:p>
        </p:txBody>
      </p:sp>
      <p:pic>
        <p:nvPicPr>
          <p:cNvPr id="224" name="Graphic 223" descr="Chevron arrows">
            <a:extLst>
              <a:ext uri="{FF2B5EF4-FFF2-40B4-BE49-F238E27FC236}">
                <a16:creationId xmlns:a16="http://schemas.microsoft.com/office/drawing/2014/main" id="{62F7CAC0-E51E-C9A5-6F8A-FB16D56D6C2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10661" y="3975796"/>
            <a:ext cx="914400" cy="914400"/>
          </a:xfrm>
          <a:prstGeom prst="rect">
            <a:avLst/>
          </a:prstGeom>
        </p:spPr>
      </p:pic>
      <p:sp>
        <p:nvSpPr>
          <p:cNvPr id="225" name="Rectangle 224">
            <a:extLst>
              <a:ext uri="{FF2B5EF4-FFF2-40B4-BE49-F238E27FC236}">
                <a16:creationId xmlns:a16="http://schemas.microsoft.com/office/drawing/2014/main" id="{F66D6572-6FE9-8352-E7B1-7F5D141960D5}"/>
              </a:ext>
            </a:extLst>
          </p:cNvPr>
          <p:cNvSpPr/>
          <p:nvPr/>
        </p:nvSpPr>
        <p:spPr>
          <a:xfrm>
            <a:off x="9803997" y="3648648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3.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per il DB SQL SERVER</a:t>
            </a:r>
          </a:p>
          <a:p>
            <a:pPr algn="ctr"/>
            <a:r>
              <a:rPr lang="en-US" sz="800">
                <a:solidFill>
                  <a:srgbClr val="C00000"/>
                </a:solidFill>
              </a:rPr>
              <a:t>and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9.4  </a:t>
            </a:r>
            <a:r>
              <a:rPr lang="en-US" sz="1000" b="1" err="1">
                <a:solidFill>
                  <a:srgbClr val="C00000"/>
                </a:solidFill>
              </a:rPr>
              <a:t>Preparazione</a:t>
            </a:r>
            <a:r>
              <a:rPr lang="en-US" sz="1000" b="1">
                <a:solidFill>
                  <a:srgbClr val="C00000"/>
                </a:solidFill>
              </a:rPr>
              <a:t> Test-failover Custom app</a:t>
            </a:r>
            <a:endParaRPr lang="it-IT" sz="1000" b="1">
              <a:solidFill>
                <a:srgbClr val="C00000"/>
              </a:solidFill>
            </a:endParaRPr>
          </a:p>
        </p:txBody>
      </p:sp>
      <p:pic>
        <p:nvPicPr>
          <p:cNvPr id="226" name="Graphic 191">
            <a:extLst>
              <a:ext uri="{FF2B5EF4-FFF2-40B4-BE49-F238E27FC236}">
                <a16:creationId xmlns:a16="http://schemas.microsoft.com/office/drawing/2014/main" id="{68A0683D-EDB9-FDEF-0382-66AAC7651D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710607" y="3600260"/>
            <a:ext cx="382775" cy="391645"/>
          </a:xfrm>
          <a:prstGeom prst="rect">
            <a:avLst/>
          </a:prstGeom>
        </p:spPr>
      </p:pic>
      <p:pic>
        <p:nvPicPr>
          <p:cNvPr id="227" name="Picture 4">
            <a:extLst>
              <a:ext uri="{FF2B5EF4-FFF2-40B4-BE49-F238E27FC236}">
                <a16:creationId xmlns:a16="http://schemas.microsoft.com/office/drawing/2014/main" id="{4C9A489B-BC03-2D6E-93D9-F1B8340B0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453" y="2361585"/>
            <a:ext cx="380662" cy="463886"/>
          </a:xfrm>
          <a:prstGeom prst="rect">
            <a:avLst/>
          </a:prstGeom>
        </p:spPr>
      </p:pic>
      <p:pic>
        <p:nvPicPr>
          <p:cNvPr id="228" name="Picture 4">
            <a:extLst>
              <a:ext uri="{FF2B5EF4-FFF2-40B4-BE49-F238E27FC236}">
                <a16:creationId xmlns:a16="http://schemas.microsoft.com/office/drawing/2014/main" id="{6A3955F8-01E1-47F9-A18E-33B1161DA2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924" y="4702076"/>
            <a:ext cx="380662" cy="463886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F7F04DD9-F5D2-8754-947C-92E3F58C84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09960" y="907494"/>
            <a:ext cx="485600" cy="485600"/>
          </a:xfrm>
          <a:prstGeom prst="rect">
            <a:avLst/>
          </a:prstGeom>
        </p:spPr>
      </p:pic>
      <p:sp>
        <p:nvSpPr>
          <p:cNvPr id="231" name="Rectangle 230">
            <a:extLst>
              <a:ext uri="{FF2B5EF4-FFF2-40B4-BE49-F238E27FC236}">
                <a16:creationId xmlns:a16="http://schemas.microsoft.com/office/drawing/2014/main" id="{B57FF4B4-B8C2-B71F-B5FB-5FBCE7FB0EDE}"/>
              </a:ext>
            </a:extLst>
          </p:cNvPr>
          <p:cNvSpPr/>
          <p:nvPr/>
        </p:nvSpPr>
        <p:spPr>
          <a:xfrm>
            <a:off x="9803997" y="5942326"/>
            <a:ext cx="2026322" cy="544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7.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per KEY VAULT</a:t>
            </a:r>
          </a:p>
        </p:txBody>
      </p:sp>
      <p:pic>
        <p:nvPicPr>
          <p:cNvPr id="232" name="Graphic 231" descr="Chevron arrows">
            <a:extLst>
              <a:ext uri="{FF2B5EF4-FFF2-40B4-BE49-F238E27FC236}">
                <a16:creationId xmlns:a16="http://schemas.microsoft.com/office/drawing/2014/main" id="{6B6C39B1-E7C2-48AD-F401-D157A2CB08D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29395" y="5754297"/>
            <a:ext cx="914400" cy="914400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4920748-18CA-2BD4-B015-C1635ADF45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10607" y="5911048"/>
            <a:ext cx="359132" cy="359132"/>
          </a:xfrm>
          <a:prstGeom prst="rect">
            <a:avLst/>
          </a:prstGeom>
        </p:spPr>
      </p:pic>
      <p:grpSp>
        <p:nvGrpSpPr>
          <p:cNvPr id="248" name="Group 247">
            <a:extLst>
              <a:ext uri="{FF2B5EF4-FFF2-40B4-BE49-F238E27FC236}">
                <a16:creationId xmlns:a16="http://schemas.microsoft.com/office/drawing/2014/main" id="{2916512C-420A-9711-5C1C-84C51753EF0F}"/>
              </a:ext>
            </a:extLst>
          </p:cNvPr>
          <p:cNvGrpSpPr/>
          <p:nvPr/>
        </p:nvGrpSpPr>
        <p:grpSpPr>
          <a:xfrm>
            <a:off x="864257" y="3116654"/>
            <a:ext cx="1749411" cy="1379407"/>
            <a:chOff x="6578636" y="2959920"/>
            <a:chExt cx="1879378" cy="1571237"/>
          </a:xfrm>
        </p:grpSpPr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640D5AE4-9755-DC68-887F-0269B141606A}"/>
                </a:ext>
              </a:extLst>
            </p:cNvPr>
            <p:cNvGrpSpPr/>
            <p:nvPr/>
          </p:nvGrpSpPr>
          <p:grpSpPr>
            <a:xfrm>
              <a:off x="6578636" y="3045043"/>
              <a:ext cx="1879378" cy="1486114"/>
              <a:chOff x="6578636" y="3045043"/>
              <a:chExt cx="1879378" cy="1486114"/>
            </a:xfrm>
          </p:grpSpPr>
          <p:grpSp>
            <p:nvGrpSpPr>
              <p:cNvPr id="252" name="Gruppo 249">
                <a:extLst>
                  <a:ext uri="{FF2B5EF4-FFF2-40B4-BE49-F238E27FC236}">
                    <a16:creationId xmlns:a16="http://schemas.microsoft.com/office/drawing/2014/main" id="{3472B573-CD3C-C12D-E721-D5DB73480B21}"/>
                  </a:ext>
                </a:extLst>
              </p:cNvPr>
              <p:cNvGrpSpPr/>
              <p:nvPr/>
            </p:nvGrpSpPr>
            <p:grpSpPr>
              <a:xfrm>
                <a:off x="6591963" y="3287488"/>
                <a:ext cx="1866051" cy="1243669"/>
                <a:chOff x="1266118" y="3044473"/>
                <a:chExt cx="1969451" cy="1334096"/>
              </a:xfrm>
            </p:grpSpPr>
            <p:grpSp>
              <p:nvGrpSpPr>
                <p:cNvPr id="32" name="Group 9">
                  <a:extLst>
                    <a:ext uri="{FF2B5EF4-FFF2-40B4-BE49-F238E27FC236}">
                      <a16:creationId xmlns:a16="http://schemas.microsoft.com/office/drawing/2014/main" id="{8C35BBE3-33F6-6172-8DA3-C7E5F9F64679}"/>
                    </a:ext>
                  </a:extLst>
                </p:cNvPr>
                <p:cNvGrpSpPr/>
                <p:nvPr/>
              </p:nvGrpSpPr>
              <p:grpSpPr>
                <a:xfrm>
                  <a:off x="1266118" y="3044473"/>
                  <a:ext cx="1969451" cy="1334096"/>
                  <a:chOff x="5711660" y="4176667"/>
                  <a:chExt cx="1515147" cy="830997"/>
                </a:xfrm>
              </p:grpSpPr>
              <p:pic>
                <p:nvPicPr>
                  <p:cNvPr id="41" name="Picture 4">
                    <a:extLst>
                      <a:ext uri="{FF2B5EF4-FFF2-40B4-BE49-F238E27FC236}">
                        <a16:creationId xmlns:a16="http://schemas.microsoft.com/office/drawing/2014/main" id="{0BBBD943-2638-DA7D-361C-A714F9FA73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49961" y="4183543"/>
                    <a:ext cx="391782" cy="391782"/>
                  </a:xfrm>
                  <a:prstGeom prst="rect">
                    <a:avLst/>
                  </a:prstGeom>
                </p:spPr>
              </p:pic>
              <p:sp>
                <p:nvSpPr>
                  <p:cNvPr id="42" name="Rectangle 5">
                    <a:extLst>
                      <a:ext uri="{FF2B5EF4-FFF2-40B4-BE49-F238E27FC236}">
                        <a16:creationId xmlns:a16="http://schemas.microsoft.com/office/drawing/2014/main" id="{78133A0D-B8DA-6CD7-97CC-858F04D462E8}"/>
                      </a:ext>
                    </a:extLst>
                  </p:cNvPr>
                  <p:cNvSpPr/>
                  <p:nvPr/>
                </p:nvSpPr>
                <p:spPr>
                  <a:xfrm>
                    <a:off x="5711660" y="4176667"/>
                    <a:ext cx="1515147" cy="830997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00B0F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endParaRPr lang="en-US" sz="800" b="1" kern="0">
                      <a:solidFill>
                        <a:srgbClr val="0070C0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33" name="Disco magnetico 256">
                  <a:extLst>
                    <a:ext uri="{FF2B5EF4-FFF2-40B4-BE49-F238E27FC236}">
                      <a16:creationId xmlns:a16="http://schemas.microsoft.com/office/drawing/2014/main" id="{76E0F210-EC7A-8EA8-AE9E-A7C59BDA14B3}"/>
                    </a:ext>
                  </a:extLst>
                </p:cNvPr>
                <p:cNvSpPr/>
                <p:nvPr/>
              </p:nvSpPr>
              <p:spPr>
                <a:xfrm>
                  <a:off x="1368168" y="3664169"/>
                  <a:ext cx="1186164" cy="219960"/>
                </a:xfrm>
                <a:prstGeom prst="flowChartMagneticDisk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0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DISK OS 64 GB</a:t>
                  </a:r>
                  <a:endParaRPr lang="en-US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34" name="Disco magnetico 257">
                  <a:extLst>
                    <a:ext uri="{FF2B5EF4-FFF2-40B4-BE49-F238E27FC236}">
                      <a16:creationId xmlns:a16="http://schemas.microsoft.com/office/drawing/2014/main" id="{F98FF157-0920-713D-730C-41994A641AA0}"/>
                    </a:ext>
                  </a:extLst>
                </p:cNvPr>
                <p:cNvSpPr/>
                <p:nvPr/>
              </p:nvSpPr>
              <p:spPr>
                <a:xfrm>
                  <a:off x="1445092" y="3960691"/>
                  <a:ext cx="1186164" cy="195076"/>
                </a:xfrm>
                <a:prstGeom prst="flowChartMagneticDisk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00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DISK 0 256 GB</a:t>
                  </a:r>
                  <a:endParaRPr lang="en-US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35" name="TextBox 236">
                  <a:extLst>
                    <a:ext uri="{FF2B5EF4-FFF2-40B4-BE49-F238E27FC236}">
                      <a16:creationId xmlns:a16="http://schemas.microsoft.com/office/drawing/2014/main" id="{348D307F-AEE7-BF15-17B5-438DDCDB86B1}"/>
                    </a:ext>
                  </a:extLst>
                </p:cNvPr>
                <p:cNvSpPr txBox="1"/>
                <p:nvPr/>
              </p:nvSpPr>
              <p:spPr>
                <a:xfrm>
                  <a:off x="1879270" y="3125825"/>
                  <a:ext cx="1356299" cy="3961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200" b="1">
                      <a:solidFill>
                        <a:srgbClr val="0070C0"/>
                      </a:solidFill>
                    </a:defRPr>
                  </a:lvl1pPr>
                </a:lstStyle>
                <a:p>
                  <a:pPr algn="l"/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</a:rPr>
                    <a:t>OS : </a:t>
                  </a:r>
                  <a:r>
                    <a:rPr lang="en-US" sz="600">
                      <a:solidFill>
                        <a:prstClr val="black"/>
                      </a:solidFill>
                      <a:latin typeface="Calibri" panose="020F0502020204030204"/>
                    </a:rPr>
                    <a:t>RHEL 7.8 x64</a:t>
                  </a:r>
                </a:p>
                <a:p>
                  <a:pPr algn="l"/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</a:rPr>
                    <a:t>CPU  16</a:t>
                  </a:r>
                  <a:endParaRPr lang="en-US" sz="60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algn="l"/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</a:rPr>
                    <a:t>RAM </a:t>
                  </a:r>
                  <a:r>
                    <a:rPr lang="en-US" sz="600" b="0">
                      <a:solidFill>
                        <a:prstClr val="black"/>
                      </a:solidFill>
                      <a:latin typeface="Calibri" panose="020F0502020204030204"/>
                      <a:sym typeface="Wingdings" panose="05000000000000000000" pitchFamily="2" charset="2"/>
                    </a:rPr>
                    <a:t> </a:t>
                  </a:r>
                  <a:r>
                    <a:rPr lang="en-US" sz="600">
                      <a:solidFill>
                        <a:prstClr val="black"/>
                      </a:solidFill>
                      <a:latin typeface="Calibri" panose="020F0502020204030204"/>
                    </a:rPr>
                    <a:t> 128 GB</a:t>
                  </a:r>
                </a:p>
              </p:txBody>
            </p:sp>
          </p:grpSp>
          <p:sp>
            <p:nvSpPr>
              <p:cNvPr id="253" name="TextBox 111">
                <a:extLst>
                  <a:ext uri="{FF2B5EF4-FFF2-40B4-BE49-F238E27FC236}">
                    <a16:creationId xmlns:a16="http://schemas.microsoft.com/office/drawing/2014/main" id="{21FBC0A6-7882-A0AD-813C-157BEBC51592}"/>
                  </a:ext>
                </a:extLst>
              </p:cNvPr>
              <p:cNvSpPr txBox="1"/>
              <p:nvPr/>
            </p:nvSpPr>
            <p:spPr>
              <a:xfrm>
                <a:off x="6578636" y="3045043"/>
                <a:ext cx="1875539" cy="215444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Informatica Axon</a:t>
                </a:r>
              </a:p>
            </p:txBody>
          </p:sp>
          <p:pic>
            <p:nvPicPr>
              <p:cNvPr id="254" name="Picture 165">
                <a:extLst>
                  <a:ext uri="{FF2B5EF4-FFF2-40B4-BE49-F238E27FC236}">
                    <a16:creationId xmlns:a16="http://schemas.microsoft.com/office/drawing/2014/main" id="{96D61526-7C6E-D1DA-AA78-08C167B5D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49770" y="3071799"/>
                <a:ext cx="258294" cy="183599"/>
              </a:xfrm>
              <a:prstGeom prst="rect">
                <a:avLst/>
              </a:prstGeom>
            </p:spPr>
          </p:pic>
        </p:grpSp>
        <p:pic>
          <p:nvPicPr>
            <p:cNvPr id="251" name="Graphic 250">
              <a:extLst>
                <a:ext uri="{FF2B5EF4-FFF2-40B4-BE49-F238E27FC236}">
                  <a16:creationId xmlns:a16="http://schemas.microsoft.com/office/drawing/2014/main" id="{F7897423-708D-DAFF-FA48-8DB9C64A0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89745" y="2959920"/>
              <a:ext cx="355267" cy="355267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BC3146-E1D2-8FB1-9CD1-C8885369C670}"/>
              </a:ext>
            </a:extLst>
          </p:cNvPr>
          <p:cNvGrpSpPr/>
          <p:nvPr/>
        </p:nvGrpSpPr>
        <p:grpSpPr>
          <a:xfrm>
            <a:off x="1005830" y="892793"/>
            <a:ext cx="1749411" cy="1052772"/>
            <a:chOff x="6578636" y="3045043"/>
            <a:chExt cx="1879378" cy="1170055"/>
          </a:xfrm>
        </p:grpSpPr>
        <p:grpSp>
          <p:nvGrpSpPr>
            <p:cNvPr id="48" name="Gruppo 249">
              <a:extLst>
                <a:ext uri="{FF2B5EF4-FFF2-40B4-BE49-F238E27FC236}">
                  <a16:creationId xmlns:a16="http://schemas.microsoft.com/office/drawing/2014/main" id="{90BD3F49-F4C6-7698-685D-77680041A1BC}"/>
                </a:ext>
              </a:extLst>
            </p:cNvPr>
            <p:cNvGrpSpPr/>
            <p:nvPr/>
          </p:nvGrpSpPr>
          <p:grpSpPr>
            <a:xfrm>
              <a:off x="6591963" y="3287486"/>
              <a:ext cx="1866051" cy="927612"/>
              <a:chOff x="1266118" y="3044472"/>
              <a:chExt cx="1969451" cy="995059"/>
            </a:xfrm>
          </p:grpSpPr>
          <p:grpSp>
            <p:nvGrpSpPr>
              <p:cNvPr id="259" name="Group 9">
                <a:extLst>
                  <a:ext uri="{FF2B5EF4-FFF2-40B4-BE49-F238E27FC236}">
                    <a16:creationId xmlns:a16="http://schemas.microsoft.com/office/drawing/2014/main" id="{5CBC10BE-1737-C9B9-46FD-3084175EC09D}"/>
                  </a:ext>
                </a:extLst>
              </p:cNvPr>
              <p:cNvGrpSpPr/>
              <p:nvPr/>
            </p:nvGrpSpPr>
            <p:grpSpPr>
              <a:xfrm>
                <a:off x="1266118" y="3044472"/>
                <a:ext cx="1969451" cy="995059"/>
                <a:chOff x="5711660" y="4176668"/>
                <a:chExt cx="1515147" cy="619814"/>
              </a:xfrm>
            </p:grpSpPr>
            <p:pic>
              <p:nvPicPr>
                <p:cNvPr id="273" name="Picture 4">
                  <a:extLst>
                    <a:ext uri="{FF2B5EF4-FFF2-40B4-BE49-F238E27FC236}">
                      <a16:creationId xmlns:a16="http://schemas.microsoft.com/office/drawing/2014/main" id="{1C9BB7B2-0389-7960-AAA6-976E5453F5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9961" y="4183543"/>
                  <a:ext cx="391782" cy="391782"/>
                </a:xfrm>
                <a:prstGeom prst="rect">
                  <a:avLst/>
                </a:prstGeom>
              </p:spPr>
            </p:pic>
            <p:sp>
              <p:nvSpPr>
                <p:cNvPr id="274" name="Rectangle 5">
                  <a:extLst>
                    <a:ext uri="{FF2B5EF4-FFF2-40B4-BE49-F238E27FC236}">
                      <a16:creationId xmlns:a16="http://schemas.microsoft.com/office/drawing/2014/main" id="{E67DDCA0-2246-E046-D058-F339D7A6D5DD}"/>
                    </a:ext>
                  </a:extLst>
                </p:cNvPr>
                <p:cNvSpPr/>
                <p:nvPr/>
              </p:nvSpPr>
              <p:spPr>
                <a:xfrm>
                  <a:off x="5711660" y="4176668"/>
                  <a:ext cx="1515147" cy="619814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sz="800" b="1" kern="0">
                    <a:solidFill>
                      <a:srgbClr val="0070C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64" name="Disco magnetico 256">
                <a:extLst>
                  <a:ext uri="{FF2B5EF4-FFF2-40B4-BE49-F238E27FC236}">
                    <a16:creationId xmlns:a16="http://schemas.microsoft.com/office/drawing/2014/main" id="{54609079-3825-C024-D167-5F24B5FEBD51}"/>
                  </a:ext>
                </a:extLst>
              </p:cNvPr>
              <p:cNvSpPr/>
              <p:nvPr/>
            </p:nvSpPr>
            <p:spPr>
              <a:xfrm>
                <a:off x="1368168" y="3664169"/>
                <a:ext cx="1186164" cy="219960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DISK OS 128 GB</a:t>
                </a:r>
                <a:endParaRPr lang="en-US" sz="10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72" name="TextBox 236">
                <a:extLst>
                  <a:ext uri="{FF2B5EF4-FFF2-40B4-BE49-F238E27FC236}">
                    <a16:creationId xmlns:a16="http://schemas.microsoft.com/office/drawing/2014/main" id="{76F076D6-FD55-1329-A6BC-379CF0C82C32}"/>
                  </a:ext>
                </a:extLst>
              </p:cNvPr>
              <p:cNvSpPr txBox="1"/>
              <p:nvPr/>
            </p:nvSpPr>
            <p:spPr>
              <a:xfrm>
                <a:off x="1879270" y="3125825"/>
                <a:ext cx="1356299" cy="440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600" err="1">
                    <a:solidFill>
                      <a:prstClr val="black"/>
                    </a:solidFill>
                    <a:latin typeface="Calibri" panose="020F0502020204030204"/>
                  </a:rPr>
                  <a:t>WindowsServer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CPU  8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RAM </a:t>
                </a:r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  <a:sym typeface="Wingdings" panose="05000000000000000000" pitchFamily="2" charset="2"/>
                  </a:rPr>
                  <a:t>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 32 GB</a:t>
                </a:r>
              </a:p>
            </p:txBody>
          </p:sp>
        </p:grpSp>
        <p:sp>
          <p:nvSpPr>
            <p:cNvPr id="51" name="TextBox 111">
              <a:extLst>
                <a:ext uri="{FF2B5EF4-FFF2-40B4-BE49-F238E27FC236}">
                  <a16:creationId xmlns:a16="http://schemas.microsoft.com/office/drawing/2014/main" id="{39A2AECF-A520-0BBA-4D14-55419404350A}"/>
                </a:ext>
              </a:extLst>
            </p:cNvPr>
            <p:cNvSpPr txBox="1"/>
            <p:nvPr/>
          </p:nvSpPr>
          <p:spPr>
            <a:xfrm>
              <a:off x="6578636" y="3045043"/>
              <a:ext cx="1875538" cy="239445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VM Gateway PBI</a:t>
              </a: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41B3AEB-4004-2AC0-95EC-6D3C0915DFE4}"/>
              </a:ext>
            </a:extLst>
          </p:cNvPr>
          <p:cNvGrpSpPr/>
          <p:nvPr/>
        </p:nvGrpSpPr>
        <p:grpSpPr>
          <a:xfrm>
            <a:off x="6604932" y="879536"/>
            <a:ext cx="1749411" cy="1052772"/>
            <a:chOff x="6578636" y="3045043"/>
            <a:chExt cx="1879378" cy="1170055"/>
          </a:xfrm>
        </p:grpSpPr>
        <p:grpSp>
          <p:nvGrpSpPr>
            <p:cNvPr id="302" name="Gruppo 249">
              <a:extLst>
                <a:ext uri="{FF2B5EF4-FFF2-40B4-BE49-F238E27FC236}">
                  <a16:creationId xmlns:a16="http://schemas.microsoft.com/office/drawing/2014/main" id="{AD31BB5D-3C0A-ED5B-F8D2-EDEBB20DB094}"/>
                </a:ext>
              </a:extLst>
            </p:cNvPr>
            <p:cNvGrpSpPr/>
            <p:nvPr/>
          </p:nvGrpSpPr>
          <p:grpSpPr>
            <a:xfrm>
              <a:off x="6591963" y="3287486"/>
              <a:ext cx="1866051" cy="927612"/>
              <a:chOff x="1266118" y="3044472"/>
              <a:chExt cx="1969451" cy="995059"/>
            </a:xfrm>
          </p:grpSpPr>
          <p:grpSp>
            <p:nvGrpSpPr>
              <p:cNvPr id="305" name="Group 9">
                <a:extLst>
                  <a:ext uri="{FF2B5EF4-FFF2-40B4-BE49-F238E27FC236}">
                    <a16:creationId xmlns:a16="http://schemas.microsoft.com/office/drawing/2014/main" id="{D9C9F3E5-5F95-945B-6648-B2F99DE8660E}"/>
                  </a:ext>
                </a:extLst>
              </p:cNvPr>
              <p:cNvGrpSpPr/>
              <p:nvPr/>
            </p:nvGrpSpPr>
            <p:grpSpPr>
              <a:xfrm>
                <a:off x="1266118" y="3044472"/>
                <a:ext cx="1969451" cy="995059"/>
                <a:chOff x="5711660" y="4176668"/>
                <a:chExt cx="1515147" cy="619814"/>
              </a:xfrm>
            </p:grpSpPr>
            <p:pic>
              <p:nvPicPr>
                <p:cNvPr id="308" name="Picture 4">
                  <a:extLst>
                    <a:ext uri="{FF2B5EF4-FFF2-40B4-BE49-F238E27FC236}">
                      <a16:creationId xmlns:a16="http://schemas.microsoft.com/office/drawing/2014/main" id="{98F2740F-26AE-3740-8736-E503C3A1EE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9961" y="4183543"/>
                  <a:ext cx="391782" cy="391782"/>
                </a:xfrm>
                <a:prstGeom prst="rect">
                  <a:avLst/>
                </a:prstGeom>
              </p:spPr>
            </p:pic>
            <p:sp>
              <p:nvSpPr>
                <p:cNvPr id="309" name="Rectangle 5">
                  <a:extLst>
                    <a:ext uri="{FF2B5EF4-FFF2-40B4-BE49-F238E27FC236}">
                      <a16:creationId xmlns:a16="http://schemas.microsoft.com/office/drawing/2014/main" id="{C9434346-6AA4-7CA0-ABAA-4C8FEDBDB21A}"/>
                    </a:ext>
                  </a:extLst>
                </p:cNvPr>
                <p:cNvSpPr/>
                <p:nvPr/>
              </p:nvSpPr>
              <p:spPr>
                <a:xfrm>
                  <a:off x="5711660" y="4176668"/>
                  <a:ext cx="1515147" cy="619814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sz="800" b="1" kern="0">
                    <a:solidFill>
                      <a:srgbClr val="0070C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306" name="Disco magnetico 256">
                <a:extLst>
                  <a:ext uri="{FF2B5EF4-FFF2-40B4-BE49-F238E27FC236}">
                    <a16:creationId xmlns:a16="http://schemas.microsoft.com/office/drawing/2014/main" id="{49BF3582-5F60-845C-971A-1C4FBA8C2D92}"/>
                  </a:ext>
                </a:extLst>
              </p:cNvPr>
              <p:cNvSpPr/>
              <p:nvPr/>
            </p:nvSpPr>
            <p:spPr>
              <a:xfrm>
                <a:off x="1368168" y="3664169"/>
                <a:ext cx="1186164" cy="219960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DISK OS 128 GB</a:t>
                </a:r>
                <a:endParaRPr lang="en-US" sz="10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307" name="TextBox 236">
                <a:extLst>
                  <a:ext uri="{FF2B5EF4-FFF2-40B4-BE49-F238E27FC236}">
                    <a16:creationId xmlns:a16="http://schemas.microsoft.com/office/drawing/2014/main" id="{DC8D19BF-4105-6DBB-0BD4-1EA2C614091E}"/>
                  </a:ext>
                </a:extLst>
              </p:cNvPr>
              <p:cNvSpPr txBox="1"/>
              <p:nvPr/>
            </p:nvSpPr>
            <p:spPr>
              <a:xfrm>
                <a:off x="1879270" y="3125825"/>
                <a:ext cx="1356299" cy="440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600" err="1">
                    <a:solidFill>
                      <a:prstClr val="black"/>
                    </a:solidFill>
                    <a:latin typeface="Calibri" panose="020F0502020204030204"/>
                  </a:rPr>
                  <a:t>WindowsServer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CPU  8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RAM </a:t>
                </a:r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  <a:sym typeface="Wingdings" panose="05000000000000000000" pitchFamily="2" charset="2"/>
                  </a:rPr>
                  <a:t>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 32 GB</a:t>
                </a:r>
              </a:p>
            </p:txBody>
          </p:sp>
        </p:grpSp>
        <p:sp>
          <p:nvSpPr>
            <p:cNvPr id="304" name="TextBox 111">
              <a:extLst>
                <a:ext uri="{FF2B5EF4-FFF2-40B4-BE49-F238E27FC236}">
                  <a16:creationId xmlns:a16="http://schemas.microsoft.com/office/drawing/2014/main" id="{5B96EEA4-C786-FAF0-2EF0-4A616B99E490}"/>
                </a:ext>
              </a:extLst>
            </p:cNvPr>
            <p:cNvSpPr txBox="1"/>
            <p:nvPr/>
          </p:nvSpPr>
          <p:spPr>
            <a:xfrm>
              <a:off x="6578636" y="3045043"/>
              <a:ext cx="1875538" cy="239445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VM Gateway PBI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31391DA-22CB-49AA-53CA-51AB149B4C1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65920" y="1224412"/>
            <a:ext cx="687969" cy="26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tangolo 3">
            <a:extLst>
              <a:ext uri="{FF2B5EF4-FFF2-40B4-BE49-F238E27FC236}">
                <a16:creationId xmlns:a16="http://schemas.microsoft.com/office/drawing/2014/main" id="{6C0F7A5A-1F9C-AAED-6E45-48CB0E259EE8}"/>
              </a:ext>
            </a:extLst>
          </p:cNvPr>
          <p:cNvSpPr/>
          <p:nvPr/>
        </p:nvSpPr>
        <p:spPr>
          <a:xfrm>
            <a:off x="3971458" y="976927"/>
            <a:ext cx="1137442" cy="5579680"/>
          </a:xfrm>
          <a:prstGeom prst="rect">
            <a:avLst/>
          </a:prstGeom>
          <a:pattFill prst="lgCheck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364452" y="107059"/>
            <a:ext cx="11182248" cy="425095"/>
          </a:xfrm>
        </p:spPr>
        <p:txBody>
          <a:bodyPr>
            <a:noAutofit/>
          </a:bodyPr>
          <a:lstStyle/>
          <a:p>
            <a:r>
              <a:rPr lang="it-IT" sz="2400">
                <a:solidFill>
                  <a:srgbClr val="C00000"/>
                </a:solidFill>
                <a:latin typeface="+mn-lt"/>
              </a:rPr>
              <a:t>DR per Data processing</a:t>
            </a:r>
            <a:endParaRPr lang="en-US" sz="240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84" name="TextBox 383"/>
          <p:cNvSpPr txBox="1"/>
          <p:nvPr/>
        </p:nvSpPr>
        <p:spPr>
          <a:xfrm>
            <a:off x="10661323" y="228842"/>
            <a:ext cx="757655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1000">
                <a:solidFill>
                  <a:srgbClr val="FF0000"/>
                </a:solidFill>
                <a:latin typeface="Calibri" panose="020F0502020204030204"/>
              </a:rPr>
              <a:t>DRAFT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B0505DC-01B0-3F9A-D4C2-A7A0F868AB4C}"/>
              </a:ext>
            </a:extLst>
          </p:cNvPr>
          <p:cNvSpPr/>
          <p:nvPr/>
        </p:nvSpPr>
        <p:spPr>
          <a:xfrm>
            <a:off x="378778" y="978986"/>
            <a:ext cx="3466841" cy="5579681"/>
          </a:xfrm>
          <a:prstGeom prst="rect">
            <a:avLst/>
          </a:prstGeom>
          <a:solidFill>
            <a:schemeClr val="bg1">
              <a:lumMod val="95000"/>
              <a:alpha val="14902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E960E28-8705-7579-A15A-814E2F80BFF1}"/>
              </a:ext>
            </a:extLst>
          </p:cNvPr>
          <p:cNvSpPr/>
          <p:nvPr/>
        </p:nvSpPr>
        <p:spPr>
          <a:xfrm>
            <a:off x="5207419" y="982541"/>
            <a:ext cx="3472378" cy="5579681"/>
          </a:xfrm>
          <a:prstGeom prst="rect">
            <a:avLst/>
          </a:prstGeom>
          <a:solidFill>
            <a:schemeClr val="bg1">
              <a:lumMod val="95000"/>
              <a:alpha val="14902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801E08D-3D1D-FC24-8A90-8ED4DDFC4A7E}"/>
              </a:ext>
            </a:extLst>
          </p:cNvPr>
          <p:cNvSpPr txBox="1"/>
          <p:nvPr/>
        </p:nvSpPr>
        <p:spPr>
          <a:xfrm>
            <a:off x="348794" y="6502864"/>
            <a:ext cx="122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accent6"/>
                </a:solidFill>
              </a:rPr>
              <a:t>West EU</a:t>
            </a:r>
            <a:endParaRPr lang="en-US" b="1">
              <a:solidFill>
                <a:schemeClr val="accent6"/>
              </a:solidFill>
            </a:endParaRPr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41FFA336-4B53-290D-5AE3-91122D259851}"/>
              </a:ext>
            </a:extLst>
          </p:cNvPr>
          <p:cNvSpPr/>
          <p:nvPr/>
        </p:nvSpPr>
        <p:spPr>
          <a:xfrm>
            <a:off x="2798836" y="3031450"/>
            <a:ext cx="4198771" cy="354278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A-P HDD replica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6" descr="Traffic Manager | Microsoft Azure Color">
            <a:extLst>
              <a:ext uri="{FF2B5EF4-FFF2-40B4-BE49-F238E27FC236}">
                <a16:creationId xmlns:a16="http://schemas.microsoft.com/office/drawing/2014/main" id="{ECC292A0-93F3-28E5-3EF5-571A6C50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65" y="2182175"/>
            <a:ext cx="397377" cy="38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8889387F-741D-D886-05BA-F6B126143DDE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2798837" y="2373217"/>
            <a:ext cx="1536929" cy="6322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a gomito 30">
            <a:extLst>
              <a:ext uri="{FF2B5EF4-FFF2-40B4-BE49-F238E27FC236}">
                <a16:creationId xmlns:a16="http://schemas.microsoft.com/office/drawing/2014/main" id="{CC7A777E-3B85-36B6-81EC-EC8E8831D5C3}"/>
              </a:ext>
            </a:extLst>
          </p:cNvPr>
          <p:cNvCxnSpPr>
            <a:cxnSpLocks/>
            <a:stCxn id="279" idx="2"/>
            <a:endCxn id="65" idx="1"/>
          </p:cNvCxnSpPr>
          <p:nvPr/>
        </p:nvCxnSpPr>
        <p:spPr>
          <a:xfrm rot="16200000" flipH="1">
            <a:off x="1801619" y="3948323"/>
            <a:ext cx="1071016" cy="367853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ttore a gomito 223">
            <a:extLst>
              <a:ext uri="{FF2B5EF4-FFF2-40B4-BE49-F238E27FC236}">
                <a16:creationId xmlns:a16="http://schemas.microsoft.com/office/drawing/2014/main" id="{2FF6B714-78B0-2A3E-6779-E84B6D51B60C}"/>
              </a:ext>
            </a:extLst>
          </p:cNvPr>
          <p:cNvCxnSpPr>
            <a:cxnSpLocks/>
            <a:stCxn id="279" idx="2"/>
          </p:cNvCxnSpPr>
          <p:nvPr/>
        </p:nvCxnSpPr>
        <p:spPr>
          <a:xfrm rot="16200000" flipH="1">
            <a:off x="1450250" y="4299692"/>
            <a:ext cx="1783186" cy="377285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ttore a gomito 225">
            <a:extLst>
              <a:ext uri="{FF2B5EF4-FFF2-40B4-BE49-F238E27FC236}">
                <a16:creationId xmlns:a16="http://schemas.microsoft.com/office/drawing/2014/main" id="{49D72FE1-88F4-B614-4F0A-C0A1093CFF38}"/>
              </a:ext>
            </a:extLst>
          </p:cNvPr>
          <p:cNvCxnSpPr>
            <a:cxnSpLocks/>
            <a:stCxn id="268" idx="0"/>
            <a:endCxn id="82" idx="1"/>
          </p:cNvCxnSpPr>
          <p:nvPr/>
        </p:nvCxnSpPr>
        <p:spPr>
          <a:xfrm rot="5400000" flipH="1" flipV="1">
            <a:off x="1952801" y="1840529"/>
            <a:ext cx="683283" cy="303746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ttore a gomito 226">
            <a:extLst>
              <a:ext uri="{FF2B5EF4-FFF2-40B4-BE49-F238E27FC236}">
                <a16:creationId xmlns:a16="http://schemas.microsoft.com/office/drawing/2014/main" id="{F1281B07-394A-CB74-D383-48DD53C7CD1C}"/>
              </a:ext>
            </a:extLst>
          </p:cNvPr>
          <p:cNvCxnSpPr>
            <a:cxnSpLocks/>
            <a:stCxn id="223" idx="0"/>
            <a:endCxn id="92" idx="3"/>
          </p:cNvCxnSpPr>
          <p:nvPr/>
        </p:nvCxnSpPr>
        <p:spPr>
          <a:xfrm rot="16200000" flipV="1">
            <a:off x="7162849" y="1789729"/>
            <a:ext cx="235728" cy="874648"/>
          </a:xfrm>
          <a:prstGeom prst="bentConnector2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ttore a gomito 230">
            <a:extLst>
              <a:ext uri="{FF2B5EF4-FFF2-40B4-BE49-F238E27FC236}">
                <a16:creationId xmlns:a16="http://schemas.microsoft.com/office/drawing/2014/main" id="{06A1BDD5-044B-4F70-77D9-057C837BC98F}"/>
              </a:ext>
            </a:extLst>
          </p:cNvPr>
          <p:cNvCxnSpPr>
            <a:cxnSpLocks/>
            <a:endCxn id="72" idx="3"/>
          </p:cNvCxnSpPr>
          <p:nvPr/>
        </p:nvCxnSpPr>
        <p:spPr>
          <a:xfrm rot="5400000">
            <a:off x="6331757" y="3903716"/>
            <a:ext cx="1156925" cy="371159"/>
          </a:xfrm>
          <a:prstGeom prst="bentConnector2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ttore a gomito 231">
            <a:extLst>
              <a:ext uri="{FF2B5EF4-FFF2-40B4-BE49-F238E27FC236}">
                <a16:creationId xmlns:a16="http://schemas.microsoft.com/office/drawing/2014/main" id="{ACE2E7FB-94C9-E25B-E7A8-8846F629E5DF}"/>
              </a:ext>
            </a:extLst>
          </p:cNvPr>
          <p:cNvCxnSpPr>
            <a:cxnSpLocks/>
            <a:endCxn id="56" idx="3"/>
          </p:cNvCxnSpPr>
          <p:nvPr/>
        </p:nvCxnSpPr>
        <p:spPr>
          <a:xfrm rot="5400000">
            <a:off x="5946722" y="4307349"/>
            <a:ext cx="1939057" cy="346025"/>
          </a:xfrm>
          <a:prstGeom prst="bentConnector2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nettore a gomito 287">
            <a:extLst>
              <a:ext uri="{FF2B5EF4-FFF2-40B4-BE49-F238E27FC236}">
                <a16:creationId xmlns:a16="http://schemas.microsoft.com/office/drawing/2014/main" id="{9CBFA071-E652-C3E6-7881-057DCC3059D1}"/>
              </a:ext>
            </a:extLst>
          </p:cNvPr>
          <p:cNvCxnSpPr>
            <a:cxnSpLocks/>
            <a:stCxn id="295" idx="2"/>
            <a:endCxn id="23" idx="0"/>
          </p:cNvCxnSpPr>
          <p:nvPr/>
        </p:nvCxnSpPr>
        <p:spPr>
          <a:xfrm rot="16200000" flipH="1">
            <a:off x="3897857" y="1545577"/>
            <a:ext cx="1273193" cy="1"/>
          </a:xfrm>
          <a:prstGeom prst="bentConnector3">
            <a:avLst>
              <a:gd name="adj1" fmla="val 50000"/>
            </a:avLst>
          </a:prstGeom>
          <a:ln w="12700"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89" name="Group 96">
            <a:extLst>
              <a:ext uri="{FF2B5EF4-FFF2-40B4-BE49-F238E27FC236}">
                <a16:creationId xmlns:a16="http://schemas.microsoft.com/office/drawing/2014/main" id="{613F0EC4-11BC-8758-689C-1C1F5136DEF6}"/>
              </a:ext>
            </a:extLst>
          </p:cNvPr>
          <p:cNvGrpSpPr/>
          <p:nvPr/>
        </p:nvGrpSpPr>
        <p:grpSpPr>
          <a:xfrm>
            <a:off x="3884090" y="103337"/>
            <a:ext cx="1300726" cy="805645"/>
            <a:chOff x="4221684" y="2821482"/>
            <a:chExt cx="1733892" cy="1446700"/>
          </a:xfrm>
        </p:grpSpPr>
        <p:grpSp>
          <p:nvGrpSpPr>
            <p:cNvPr id="290" name="Group 97">
              <a:extLst>
                <a:ext uri="{FF2B5EF4-FFF2-40B4-BE49-F238E27FC236}">
                  <a16:creationId xmlns:a16="http://schemas.microsoft.com/office/drawing/2014/main" id="{D6AB2AF8-32AA-D552-9138-3E03594A9C4B}"/>
                </a:ext>
              </a:extLst>
            </p:cNvPr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295" name="Rectangle 103">
                <a:extLst>
                  <a:ext uri="{FF2B5EF4-FFF2-40B4-BE49-F238E27FC236}">
                    <a16:creationId xmlns:a16="http://schemas.microsoft.com/office/drawing/2014/main" id="{1CEBD296-7AD7-DA51-4FB7-F976175F483D}"/>
                  </a:ext>
                </a:extLst>
              </p:cNvPr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TextBox 104">
                <a:extLst>
                  <a:ext uri="{FF2B5EF4-FFF2-40B4-BE49-F238E27FC236}">
                    <a16:creationId xmlns:a16="http://schemas.microsoft.com/office/drawing/2014/main" id="{D8670BD4-210E-E956-4D02-B6D028634AD6}"/>
                  </a:ext>
                </a:extLst>
              </p:cNvPr>
              <p:cNvSpPr txBox="1"/>
              <p:nvPr/>
            </p:nvSpPr>
            <p:spPr>
              <a:xfrm>
                <a:off x="7951090" y="3396022"/>
                <a:ext cx="1580558" cy="191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Developer Client</a:t>
                </a:r>
              </a:p>
            </p:txBody>
          </p:sp>
        </p:grpSp>
        <p:grpSp>
          <p:nvGrpSpPr>
            <p:cNvPr id="291" name="Group 98">
              <a:extLst>
                <a:ext uri="{FF2B5EF4-FFF2-40B4-BE49-F238E27FC236}">
                  <a16:creationId xmlns:a16="http://schemas.microsoft.com/office/drawing/2014/main" id="{AFEDD1FD-5D70-BEE4-5556-06C886A0A40A}"/>
                </a:ext>
              </a:extLst>
            </p:cNvPr>
            <p:cNvGrpSpPr/>
            <p:nvPr/>
          </p:nvGrpSpPr>
          <p:grpSpPr>
            <a:xfrm>
              <a:off x="4325005" y="3270737"/>
              <a:ext cx="1515147" cy="994816"/>
              <a:chOff x="5711660" y="4157988"/>
              <a:chExt cx="1515147" cy="994816"/>
            </a:xfrm>
          </p:grpSpPr>
          <p:pic>
            <p:nvPicPr>
              <p:cNvPr id="292" name="Picture 99">
                <a:extLst>
                  <a:ext uri="{FF2B5EF4-FFF2-40B4-BE49-F238E27FC236}">
                    <a16:creationId xmlns:a16="http://schemas.microsoft.com/office/drawing/2014/main" id="{4C8A7126-EB76-8D01-1E53-565F96D0A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394558"/>
                <a:ext cx="391782" cy="391782"/>
              </a:xfrm>
              <a:prstGeom prst="rect">
                <a:avLst/>
              </a:prstGeom>
            </p:spPr>
          </p:pic>
          <p:sp>
            <p:nvSpPr>
              <p:cNvPr id="293" name="Rectangle 100">
                <a:extLst>
                  <a:ext uri="{FF2B5EF4-FFF2-40B4-BE49-F238E27FC236}">
                    <a16:creationId xmlns:a16="http://schemas.microsoft.com/office/drawing/2014/main" id="{B5A326F4-5B76-A558-E99F-6833F9A18F3C}"/>
                  </a:ext>
                </a:extLst>
              </p:cNvPr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294" name="TextBox 101">
                <a:extLst>
                  <a:ext uri="{FF2B5EF4-FFF2-40B4-BE49-F238E27FC236}">
                    <a16:creationId xmlns:a16="http://schemas.microsoft.com/office/drawing/2014/main" id="{42CAA75B-B7B5-7FF9-4A1C-0AEE5DFE2C25}"/>
                  </a:ext>
                </a:extLst>
              </p:cNvPr>
              <p:cNvSpPr txBox="1"/>
              <p:nvPr/>
            </p:nvSpPr>
            <p:spPr>
              <a:xfrm>
                <a:off x="6108853" y="4157988"/>
                <a:ext cx="1085063" cy="99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Windows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SW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TBD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</a:p>
              <a:p>
                <a:pPr algn="l"/>
                <a:r>
                  <a:rPr lang="en-US" sz="5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5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</p:grp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5625866-8C1B-7F13-6864-5F429B8762EA}"/>
              </a:ext>
            </a:extLst>
          </p:cNvPr>
          <p:cNvSpPr txBox="1"/>
          <p:nvPr/>
        </p:nvSpPr>
        <p:spPr>
          <a:xfrm>
            <a:off x="7686531" y="6534217"/>
            <a:ext cx="119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accent2">
                    <a:lumMod val="75000"/>
                  </a:schemeClr>
                </a:solidFill>
              </a:rPr>
              <a:t>North EU</a:t>
            </a:r>
            <a:endParaRPr lang="en-US" b="1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9B943698-14C4-48E1-BE83-DF6B80BE6239}"/>
              </a:ext>
            </a:extLst>
          </p:cNvPr>
          <p:cNvCxnSpPr>
            <a:cxnSpLocks/>
            <a:stCxn id="47" idx="1"/>
            <a:endCxn id="34" idx="1"/>
          </p:cNvCxnSpPr>
          <p:nvPr/>
        </p:nvCxnSpPr>
        <p:spPr>
          <a:xfrm rot="10800000" flipV="1">
            <a:off x="2503966" y="5439398"/>
            <a:ext cx="9897" cy="771640"/>
          </a:xfrm>
          <a:prstGeom prst="bentConnector3">
            <a:avLst>
              <a:gd name="adj1" fmla="val 24097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a gomito 231">
            <a:extLst>
              <a:ext uri="{FF2B5EF4-FFF2-40B4-BE49-F238E27FC236}">
                <a16:creationId xmlns:a16="http://schemas.microsoft.com/office/drawing/2014/main" id="{CD3F65BB-CAE4-4F58-8950-F7AFC7079BA4}"/>
              </a:ext>
            </a:extLst>
          </p:cNvPr>
          <p:cNvCxnSpPr>
            <a:cxnSpLocks/>
            <a:stCxn id="56" idx="3"/>
            <a:endCxn id="43" idx="3"/>
          </p:cNvCxnSpPr>
          <p:nvPr/>
        </p:nvCxnSpPr>
        <p:spPr>
          <a:xfrm>
            <a:off x="6743237" y="5449890"/>
            <a:ext cx="14223" cy="761148"/>
          </a:xfrm>
          <a:prstGeom prst="bentConnector3">
            <a:avLst>
              <a:gd name="adj1" fmla="val 1707256"/>
            </a:avLst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reccia a destra 27">
            <a:extLst>
              <a:ext uri="{FF2B5EF4-FFF2-40B4-BE49-F238E27FC236}">
                <a16:creationId xmlns:a16="http://schemas.microsoft.com/office/drawing/2014/main" id="{6F4E56B0-0A4D-44D9-8AA0-E7D4C177F3BC}"/>
              </a:ext>
            </a:extLst>
          </p:cNvPr>
          <p:cNvSpPr/>
          <p:nvPr/>
        </p:nvSpPr>
        <p:spPr>
          <a:xfrm>
            <a:off x="3731366" y="6125634"/>
            <a:ext cx="1801024" cy="35427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Manual </a:t>
            </a:r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GEO-Backup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Freccia a destra 21">
            <a:extLst>
              <a:ext uri="{FF2B5EF4-FFF2-40B4-BE49-F238E27FC236}">
                <a16:creationId xmlns:a16="http://schemas.microsoft.com/office/drawing/2014/main" id="{88936F05-18A5-4D48-8AAE-85D9926BAD22}"/>
              </a:ext>
            </a:extLst>
          </p:cNvPr>
          <p:cNvSpPr/>
          <p:nvPr/>
        </p:nvSpPr>
        <p:spPr>
          <a:xfrm>
            <a:off x="3745400" y="4493935"/>
            <a:ext cx="1790118" cy="35427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A-A Manual</a:t>
            </a:r>
          </a:p>
        </p:txBody>
      </p:sp>
      <p:sp>
        <p:nvSpPr>
          <p:cNvPr id="145" name="Freccia a destra 21">
            <a:extLst>
              <a:ext uri="{FF2B5EF4-FFF2-40B4-BE49-F238E27FC236}">
                <a16:creationId xmlns:a16="http://schemas.microsoft.com/office/drawing/2014/main" id="{765E3B56-ACE8-4999-9922-0E4ADB7014DA}"/>
              </a:ext>
            </a:extLst>
          </p:cNvPr>
          <p:cNvSpPr/>
          <p:nvPr/>
        </p:nvSpPr>
        <p:spPr>
          <a:xfrm>
            <a:off x="3722960" y="5288555"/>
            <a:ext cx="1813935" cy="354278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A-A </a:t>
            </a:r>
            <a:r>
              <a:rPr lang="it-IT" sz="10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Automatic</a:t>
            </a:r>
            <a:r>
              <a:rPr lang="it-IT" sz="1000" b="1">
                <a:solidFill>
                  <a:schemeClr val="tx1">
                    <a:lumMod val="75000"/>
                    <a:lumOff val="25000"/>
                  </a:schemeClr>
                </a:solidFill>
              </a:rPr>
              <a:t> GEO-replica</a:t>
            </a:r>
          </a:p>
          <a:p>
            <a:pPr algn="ctr"/>
            <a:r>
              <a:rPr lang="it-IT" sz="800">
                <a:solidFill>
                  <a:srgbClr val="FF0000"/>
                </a:solidFill>
              </a:rPr>
              <a:t>(preview)</a:t>
            </a:r>
            <a:endParaRPr lang="en-US" sz="800">
              <a:solidFill>
                <a:srgbClr val="FF0000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57AA3BC-B13B-4192-A54F-7A9490493377}"/>
              </a:ext>
            </a:extLst>
          </p:cNvPr>
          <p:cNvGrpSpPr/>
          <p:nvPr/>
        </p:nvGrpSpPr>
        <p:grpSpPr>
          <a:xfrm>
            <a:off x="544005" y="3645264"/>
            <a:ext cx="1313567" cy="1210953"/>
            <a:chOff x="569416" y="4472726"/>
            <a:chExt cx="1313567" cy="1210953"/>
          </a:xfrm>
        </p:grpSpPr>
        <p:pic>
          <p:nvPicPr>
            <p:cNvPr id="157" name="Picture 4">
              <a:extLst>
                <a:ext uri="{FF2B5EF4-FFF2-40B4-BE49-F238E27FC236}">
                  <a16:creationId xmlns:a16="http://schemas.microsoft.com/office/drawing/2014/main" id="{8C9E95EB-88B2-4DA1-8A0D-79E9D3E95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594" y="4702891"/>
              <a:ext cx="482518" cy="586340"/>
            </a:xfrm>
            <a:prstGeom prst="rect">
              <a:avLst/>
            </a:prstGeom>
          </p:spPr>
        </p:pic>
        <p:sp>
          <p:nvSpPr>
            <p:cNvPr id="158" name="Rectangle 5">
              <a:extLst>
                <a:ext uri="{FF2B5EF4-FFF2-40B4-BE49-F238E27FC236}">
                  <a16:creationId xmlns:a16="http://schemas.microsoft.com/office/drawing/2014/main" id="{9CBFD9F9-DD28-4BBA-AE0F-74182798B028}"/>
                </a:ext>
              </a:extLst>
            </p:cNvPr>
            <p:cNvSpPr/>
            <p:nvPr/>
          </p:nvSpPr>
          <p:spPr>
            <a:xfrm>
              <a:off x="569416" y="4472726"/>
              <a:ext cx="1251292" cy="1210953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8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159" name="TextBox 111">
              <a:extLst>
                <a:ext uri="{FF2B5EF4-FFF2-40B4-BE49-F238E27FC236}">
                  <a16:creationId xmlns:a16="http://schemas.microsoft.com/office/drawing/2014/main" id="{584B077F-9468-4ECE-B759-C32FEC51A720}"/>
                </a:ext>
              </a:extLst>
            </p:cNvPr>
            <p:cNvSpPr txBox="1"/>
            <p:nvPr/>
          </p:nvSpPr>
          <p:spPr>
            <a:xfrm>
              <a:off x="569915" y="4472726"/>
              <a:ext cx="1247976" cy="215444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SFTP server</a:t>
              </a:r>
            </a:p>
          </p:txBody>
        </p:sp>
        <p:sp>
          <p:nvSpPr>
            <p:cNvPr id="160" name="Disco magnetico 268">
              <a:extLst>
                <a:ext uri="{FF2B5EF4-FFF2-40B4-BE49-F238E27FC236}">
                  <a16:creationId xmlns:a16="http://schemas.microsoft.com/office/drawing/2014/main" id="{4A282961-41F1-41F0-9185-92F5066F726B}"/>
                </a:ext>
              </a:extLst>
            </p:cNvPr>
            <p:cNvSpPr/>
            <p:nvPr/>
          </p:nvSpPr>
          <p:spPr>
            <a:xfrm>
              <a:off x="684117" y="5338402"/>
              <a:ext cx="962981" cy="206985"/>
            </a:xfrm>
            <a:prstGeom prst="flowChartMagneticDisk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0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DISK OS 64 GB</a:t>
              </a:r>
              <a:endParaRPr lang="en-US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3" name="TextBox 236">
              <a:extLst>
                <a:ext uri="{FF2B5EF4-FFF2-40B4-BE49-F238E27FC236}">
                  <a16:creationId xmlns:a16="http://schemas.microsoft.com/office/drawing/2014/main" id="{A0A5E796-6D09-4FB3-88EA-C568DC045A2C}"/>
                </a:ext>
              </a:extLst>
            </p:cNvPr>
            <p:cNvSpPr txBox="1"/>
            <p:nvPr/>
          </p:nvSpPr>
          <p:spPr>
            <a:xfrm>
              <a:off x="1144135" y="4776301"/>
              <a:ext cx="738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6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RHEL 7.8 x64</a:t>
              </a:r>
            </a:p>
            <a:p>
              <a:pPr algn="l"/>
              <a:r>
                <a:rPr lang="en-US" sz="600" b="0">
                  <a:solidFill>
                    <a:prstClr val="black"/>
                  </a:solidFill>
                  <a:latin typeface="Calibri" panose="020F0502020204030204"/>
                </a:rPr>
                <a:t>CPU  16</a:t>
              </a:r>
              <a:endParaRPr lang="en-US" sz="6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600" b="0">
                  <a:solidFill>
                    <a:prstClr val="black"/>
                  </a:solidFill>
                  <a:latin typeface="Calibri" panose="020F0502020204030204"/>
                </a:rPr>
                <a:t>RAM </a:t>
              </a:r>
              <a:r>
                <a:rPr lang="en-US" sz="600" b="0">
                  <a:solidFill>
                    <a:prstClr val="black"/>
                  </a:solidFill>
                  <a:latin typeface="Calibri" panose="020F0502020204030204"/>
                  <a:sym typeface="Wingdings" panose="05000000000000000000" pitchFamily="2" charset="2"/>
                </a:rPr>
                <a:t> </a:t>
              </a:r>
              <a:r>
                <a:rPr lang="en-US" sz="600">
                  <a:solidFill>
                    <a:prstClr val="black"/>
                  </a:solidFill>
                  <a:latin typeface="Calibri" panose="020F0502020204030204"/>
                </a:rPr>
                <a:t> 128 GB</a:t>
              </a:r>
            </a:p>
          </p:txBody>
        </p:sp>
      </p:grp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3E25B2DE-51EB-4E07-9F16-3477665EDD3D}"/>
              </a:ext>
            </a:extLst>
          </p:cNvPr>
          <p:cNvCxnSpPr>
            <a:cxnSpLocks/>
            <a:stCxn id="158" idx="2"/>
          </p:cNvCxnSpPr>
          <p:nvPr/>
        </p:nvCxnSpPr>
        <p:spPr>
          <a:xfrm rot="16200000" flipH="1">
            <a:off x="1588213" y="4437654"/>
            <a:ext cx="523711" cy="13608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ttore a gomito 231">
            <a:extLst>
              <a:ext uri="{FF2B5EF4-FFF2-40B4-BE49-F238E27FC236}">
                <a16:creationId xmlns:a16="http://schemas.microsoft.com/office/drawing/2014/main" id="{815EB483-9DD6-4CE6-9C66-61E814A1FC14}"/>
              </a:ext>
            </a:extLst>
          </p:cNvPr>
          <p:cNvCxnSpPr>
            <a:cxnSpLocks/>
            <a:stCxn id="170" idx="2"/>
            <a:endCxn id="56" idx="3"/>
          </p:cNvCxnSpPr>
          <p:nvPr/>
        </p:nvCxnSpPr>
        <p:spPr>
          <a:xfrm rot="5400000">
            <a:off x="7072925" y="4531922"/>
            <a:ext cx="588280" cy="1247656"/>
          </a:xfrm>
          <a:prstGeom prst="bentConnector2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Freccia a destra 27">
            <a:extLst>
              <a:ext uri="{FF2B5EF4-FFF2-40B4-BE49-F238E27FC236}">
                <a16:creationId xmlns:a16="http://schemas.microsoft.com/office/drawing/2014/main" id="{9C32BD17-44B9-4F77-A007-E4E5D3DFACAB}"/>
              </a:ext>
            </a:extLst>
          </p:cNvPr>
          <p:cNvSpPr/>
          <p:nvPr/>
        </p:nvSpPr>
        <p:spPr>
          <a:xfrm>
            <a:off x="3671986" y="1758635"/>
            <a:ext cx="1915885" cy="38208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-A </a:t>
            </a:r>
            <a:r>
              <a:rPr lang="it-IT" sz="105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Automatic</a:t>
            </a:r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 GEO-replica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A285232-53C3-4858-9FB9-26E29C0B86CC}"/>
              </a:ext>
            </a:extLst>
          </p:cNvPr>
          <p:cNvGrpSpPr/>
          <p:nvPr/>
        </p:nvGrpSpPr>
        <p:grpSpPr>
          <a:xfrm>
            <a:off x="1485083" y="2334043"/>
            <a:ext cx="1325603" cy="1262699"/>
            <a:chOff x="1485083" y="2334044"/>
            <a:chExt cx="1325603" cy="109909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8ADDF48-DBC7-4AE1-9574-E10911A5FA7B}"/>
                </a:ext>
              </a:extLst>
            </p:cNvPr>
            <p:cNvGrpSpPr/>
            <p:nvPr/>
          </p:nvGrpSpPr>
          <p:grpSpPr>
            <a:xfrm>
              <a:off x="1485083" y="2334044"/>
              <a:ext cx="1325603" cy="1099090"/>
              <a:chOff x="964965" y="2719938"/>
              <a:chExt cx="1325603" cy="1099090"/>
            </a:xfrm>
          </p:grpSpPr>
          <p:grpSp>
            <p:nvGrpSpPr>
              <p:cNvPr id="267" name="Group 9">
                <a:extLst>
                  <a:ext uri="{FF2B5EF4-FFF2-40B4-BE49-F238E27FC236}">
                    <a16:creationId xmlns:a16="http://schemas.microsoft.com/office/drawing/2014/main" id="{3F27B429-9F5E-EABB-41C8-287B9A39D5D3}"/>
                  </a:ext>
                </a:extLst>
              </p:cNvPr>
              <p:cNvGrpSpPr/>
              <p:nvPr/>
            </p:nvGrpSpPr>
            <p:grpSpPr>
              <a:xfrm>
                <a:off x="975597" y="2724687"/>
                <a:ext cx="1314971" cy="1094341"/>
                <a:chOff x="5718877" y="3778942"/>
                <a:chExt cx="1043434" cy="731219"/>
              </a:xfrm>
            </p:grpSpPr>
            <p:pic>
              <p:nvPicPr>
                <p:cNvPr id="276" name="Picture 4">
                  <a:extLst>
                    <a:ext uri="{FF2B5EF4-FFF2-40B4-BE49-F238E27FC236}">
                      <a16:creationId xmlns:a16="http://schemas.microsoft.com/office/drawing/2014/main" id="{E45A8536-6346-00EC-94A7-DD50877698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57817" y="3929471"/>
                  <a:ext cx="319054" cy="319054"/>
                </a:xfrm>
                <a:prstGeom prst="rect">
                  <a:avLst/>
                </a:prstGeom>
              </p:spPr>
            </p:pic>
            <p:sp>
              <p:nvSpPr>
                <p:cNvPr id="279" name="Rectangle 5">
                  <a:extLst>
                    <a:ext uri="{FF2B5EF4-FFF2-40B4-BE49-F238E27FC236}">
                      <a16:creationId xmlns:a16="http://schemas.microsoft.com/office/drawing/2014/main" id="{FA3DCDAB-A760-0B08-A2F0-CF647E2AEA63}"/>
                    </a:ext>
                  </a:extLst>
                </p:cNvPr>
                <p:cNvSpPr/>
                <p:nvPr/>
              </p:nvSpPr>
              <p:spPr>
                <a:xfrm>
                  <a:off x="5718877" y="3778942"/>
                  <a:ext cx="1043434" cy="731219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sz="800" b="1" kern="0">
                    <a:solidFill>
                      <a:srgbClr val="0070C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68" name="TextBox 111">
                <a:extLst>
                  <a:ext uri="{FF2B5EF4-FFF2-40B4-BE49-F238E27FC236}">
                    <a16:creationId xmlns:a16="http://schemas.microsoft.com/office/drawing/2014/main" id="{CC1A27BB-0B07-8F18-EF0C-7E5E8AF183B2}"/>
                  </a:ext>
                </a:extLst>
              </p:cNvPr>
              <p:cNvSpPr txBox="1"/>
              <p:nvPr/>
            </p:nvSpPr>
            <p:spPr>
              <a:xfrm>
                <a:off x="964965" y="2719938"/>
                <a:ext cx="1314971" cy="215444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DEI/DEQ</a:t>
                </a:r>
              </a:p>
            </p:txBody>
          </p:sp>
          <p:sp>
            <p:nvSpPr>
              <p:cNvPr id="269" name="Disco magnetico 268">
                <a:extLst>
                  <a:ext uri="{FF2B5EF4-FFF2-40B4-BE49-F238E27FC236}">
                    <a16:creationId xmlns:a16="http://schemas.microsoft.com/office/drawing/2014/main" id="{25DD0CEC-1CDF-4FC6-26BB-CC8DDBF3CCE5}"/>
                  </a:ext>
                </a:extLst>
              </p:cNvPr>
              <p:cNvSpPr/>
              <p:nvPr/>
            </p:nvSpPr>
            <p:spPr>
              <a:xfrm>
                <a:off x="1016276" y="3398834"/>
                <a:ext cx="820955" cy="121172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8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OS DISK 64 GB</a:t>
                </a:r>
                <a:endParaRPr lang="en-US" sz="8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75" name="TextBox 236">
                <a:extLst>
                  <a:ext uri="{FF2B5EF4-FFF2-40B4-BE49-F238E27FC236}">
                    <a16:creationId xmlns:a16="http://schemas.microsoft.com/office/drawing/2014/main" id="{7E2D5BA9-8562-1214-A76B-4513E78BC24D}"/>
                  </a:ext>
                </a:extLst>
              </p:cNvPr>
              <p:cNvSpPr txBox="1"/>
              <p:nvPr/>
            </p:nvSpPr>
            <p:spPr>
              <a:xfrm>
                <a:off x="1569142" y="2972002"/>
                <a:ext cx="705435" cy="401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RHEL 7.8 x64</a:t>
                </a: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CPU  16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RAM </a:t>
                </a:r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  <a:sym typeface="Wingdings" panose="05000000000000000000" pitchFamily="2" charset="2"/>
                  </a:rPr>
                  <a:t>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 128 GB</a:t>
                </a:r>
              </a:p>
            </p:txBody>
          </p:sp>
        </p:grpSp>
        <p:pic>
          <p:nvPicPr>
            <p:cNvPr id="326" name="Picture 165">
              <a:extLst>
                <a:ext uri="{FF2B5EF4-FFF2-40B4-BE49-F238E27FC236}">
                  <a16:creationId xmlns:a16="http://schemas.microsoft.com/office/drawing/2014/main" id="{C46E2302-F3E1-4E91-A3DE-8E487B83B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824" y="2363944"/>
              <a:ext cx="238366" cy="229193"/>
            </a:xfrm>
            <a:prstGeom prst="rect">
              <a:avLst/>
            </a:prstGeom>
          </p:spPr>
        </p:pic>
      </p:grpSp>
      <p:sp>
        <p:nvSpPr>
          <p:cNvPr id="329" name="Freccia a destra 21">
            <a:extLst>
              <a:ext uri="{FF2B5EF4-FFF2-40B4-BE49-F238E27FC236}">
                <a16:creationId xmlns:a16="http://schemas.microsoft.com/office/drawing/2014/main" id="{91A44B5C-508B-418C-8E76-9BA75C639EF8}"/>
              </a:ext>
            </a:extLst>
          </p:cNvPr>
          <p:cNvSpPr/>
          <p:nvPr/>
        </p:nvSpPr>
        <p:spPr>
          <a:xfrm>
            <a:off x="1776541" y="3926440"/>
            <a:ext cx="5556859" cy="354278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 b="1">
                <a:solidFill>
                  <a:schemeClr val="tx1">
                    <a:lumMod val="75000"/>
                    <a:lumOff val="25000"/>
                  </a:schemeClr>
                </a:solidFill>
              </a:rPr>
              <a:t>A-P HDD replica</a:t>
            </a:r>
            <a:endParaRPr lang="en-US" sz="10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8" name="Picture 6" descr="Traffic Manager | Microsoft Azure Color">
            <a:extLst>
              <a:ext uri="{FF2B5EF4-FFF2-40B4-BE49-F238E27FC236}">
                <a16:creationId xmlns:a16="http://schemas.microsoft.com/office/drawing/2014/main" id="{970ECCC9-8230-4864-94D3-0A6B0B0BD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581" y="3493832"/>
            <a:ext cx="397377" cy="38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0" name="Connettore a gomito 24">
            <a:extLst>
              <a:ext uri="{FF2B5EF4-FFF2-40B4-BE49-F238E27FC236}">
                <a16:creationId xmlns:a16="http://schemas.microsoft.com/office/drawing/2014/main" id="{D88E68C1-4B1E-48DB-8DE9-DF529D87E685}"/>
              </a:ext>
            </a:extLst>
          </p:cNvPr>
          <p:cNvCxnSpPr>
            <a:cxnSpLocks/>
            <a:stCxn id="128" idx="1"/>
            <a:endCxn id="158" idx="3"/>
          </p:cNvCxnSpPr>
          <p:nvPr/>
        </p:nvCxnSpPr>
        <p:spPr>
          <a:xfrm rot="10800000" flipV="1">
            <a:off x="1795297" y="3684875"/>
            <a:ext cx="2549284" cy="5658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ttore a gomito 287">
            <a:extLst>
              <a:ext uri="{FF2B5EF4-FFF2-40B4-BE49-F238E27FC236}">
                <a16:creationId xmlns:a16="http://schemas.microsoft.com/office/drawing/2014/main" id="{2CCEE383-599F-4D1C-98B2-E007080567A2}"/>
              </a:ext>
            </a:extLst>
          </p:cNvPr>
          <p:cNvCxnSpPr>
            <a:cxnSpLocks/>
            <a:stCxn id="295" idx="2"/>
            <a:endCxn id="128" idx="0"/>
          </p:cNvCxnSpPr>
          <p:nvPr/>
        </p:nvCxnSpPr>
        <p:spPr>
          <a:xfrm rot="16200000" flipH="1">
            <a:off x="3246436" y="2196998"/>
            <a:ext cx="2584850" cy="8817"/>
          </a:xfrm>
          <a:prstGeom prst="bentConnector3">
            <a:avLst>
              <a:gd name="adj1" fmla="val 50000"/>
            </a:avLst>
          </a:prstGeom>
          <a:ln w="12700"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Connettore a gomito 231">
            <a:extLst>
              <a:ext uri="{FF2B5EF4-FFF2-40B4-BE49-F238E27FC236}">
                <a16:creationId xmlns:a16="http://schemas.microsoft.com/office/drawing/2014/main" id="{4658304C-A881-48AF-9A3D-EDF250E8405E}"/>
              </a:ext>
            </a:extLst>
          </p:cNvPr>
          <p:cNvCxnSpPr>
            <a:cxnSpLocks/>
            <a:stCxn id="23" idx="3"/>
            <a:endCxn id="324" idx="1"/>
          </p:cNvCxnSpPr>
          <p:nvPr/>
        </p:nvCxnSpPr>
        <p:spPr>
          <a:xfrm>
            <a:off x="4733142" y="2373218"/>
            <a:ext cx="2275131" cy="542573"/>
          </a:xfrm>
          <a:prstGeom prst="bentConnector3">
            <a:avLst>
              <a:gd name="adj1" fmla="val 35766"/>
            </a:avLst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ttore a gomito 231">
            <a:extLst>
              <a:ext uri="{FF2B5EF4-FFF2-40B4-BE49-F238E27FC236}">
                <a16:creationId xmlns:a16="http://schemas.microsoft.com/office/drawing/2014/main" id="{3DB572A1-AAC0-4A4A-96EF-DB992C737DE7}"/>
              </a:ext>
            </a:extLst>
          </p:cNvPr>
          <p:cNvCxnSpPr>
            <a:cxnSpLocks/>
            <a:stCxn id="128" idx="3"/>
            <a:endCxn id="170" idx="1"/>
          </p:cNvCxnSpPr>
          <p:nvPr/>
        </p:nvCxnSpPr>
        <p:spPr>
          <a:xfrm>
            <a:off x="4741958" y="3684875"/>
            <a:ext cx="2623289" cy="5712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DE5D71BB-2D0F-4B33-BA9E-414FA6AD524A}"/>
              </a:ext>
            </a:extLst>
          </p:cNvPr>
          <p:cNvGrpSpPr/>
          <p:nvPr/>
        </p:nvGrpSpPr>
        <p:grpSpPr>
          <a:xfrm>
            <a:off x="7365247" y="3554899"/>
            <a:ext cx="1313567" cy="1306711"/>
            <a:chOff x="7345789" y="3467631"/>
            <a:chExt cx="1313567" cy="1306711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36CDFF8-27AA-4D7C-954F-1C406A415D1E}"/>
                </a:ext>
              </a:extLst>
            </p:cNvPr>
            <p:cNvGrpSpPr/>
            <p:nvPr/>
          </p:nvGrpSpPr>
          <p:grpSpPr>
            <a:xfrm>
              <a:off x="7345789" y="3563389"/>
              <a:ext cx="1313567" cy="1210953"/>
              <a:chOff x="569416" y="4472726"/>
              <a:chExt cx="1313567" cy="1210953"/>
            </a:xfrm>
          </p:grpSpPr>
          <p:pic>
            <p:nvPicPr>
              <p:cNvPr id="169" name="Picture 4">
                <a:extLst>
                  <a:ext uri="{FF2B5EF4-FFF2-40B4-BE49-F238E27FC236}">
                    <a16:creationId xmlns:a16="http://schemas.microsoft.com/office/drawing/2014/main" id="{EBD93E22-3D68-407E-ADA3-9F14AC24D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594" y="4702891"/>
                <a:ext cx="482518" cy="586340"/>
              </a:xfrm>
              <a:prstGeom prst="rect">
                <a:avLst/>
              </a:prstGeom>
            </p:spPr>
          </p:pic>
          <p:sp>
            <p:nvSpPr>
              <p:cNvPr id="170" name="Rectangle 5">
                <a:extLst>
                  <a:ext uri="{FF2B5EF4-FFF2-40B4-BE49-F238E27FC236}">
                    <a16:creationId xmlns:a16="http://schemas.microsoft.com/office/drawing/2014/main" id="{CFE805DE-6D5F-41A3-A37A-A2CC1E3B97C9}"/>
                  </a:ext>
                </a:extLst>
              </p:cNvPr>
              <p:cNvSpPr/>
              <p:nvPr/>
            </p:nvSpPr>
            <p:spPr>
              <a:xfrm>
                <a:off x="569416" y="4472726"/>
                <a:ext cx="1251292" cy="1210953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8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71" name="TextBox 111">
                <a:extLst>
                  <a:ext uri="{FF2B5EF4-FFF2-40B4-BE49-F238E27FC236}">
                    <a16:creationId xmlns:a16="http://schemas.microsoft.com/office/drawing/2014/main" id="{ED5DC6AC-C697-4DC2-ACE8-7AF0587FBF2B}"/>
                  </a:ext>
                </a:extLst>
              </p:cNvPr>
              <p:cNvSpPr txBox="1"/>
              <p:nvPr/>
            </p:nvSpPr>
            <p:spPr>
              <a:xfrm>
                <a:off x="569915" y="4472726"/>
                <a:ext cx="1247976" cy="215444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SFTP server</a:t>
                </a:r>
              </a:p>
            </p:txBody>
          </p:sp>
          <p:sp>
            <p:nvSpPr>
              <p:cNvPr id="172" name="Disco magnetico 268">
                <a:extLst>
                  <a:ext uri="{FF2B5EF4-FFF2-40B4-BE49-F238E27FC236}">
                    <a16:creationId xmlns:a16="http://schemas.microsoft.com/office/drawing/2014/main" id="{9DDFC5F9-209C-4679-8A05-2B2E4B6C6C79}"/>
                  </a:ext>
                </a:extLst>
              </p:cNvPr>
              <p:cNvSpPr/>
              <p:nvPr/>
            </p:nvSpPr>
            <p:spPr>
              <a:xfrm>
                <a:off x="684117" y="5338402"/>
                <a:ext cx="962981" cy="206985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0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DISK OS 64 GB</a:t>
                </a:r>
                <a:endParaRPr lang="en-US" sz="10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73" name="TextBox 236">
                <a:extLst>
                  <a:ext uri="{FF2B5EF4-FFF2-40B4-BE49-F238E27FC236}">
                    <a16:creationId xmlns:a16="http://schemas.microsoft.com/office/drawing/2014/main" id="{A7C3C16F-9D23-4E66-8853-C10E69B328E0}"/>
                  </a:ext>
                </a:extLst>
              </p:cNvPr>
              <p:cNvSpPr txBox="1"/>
              <p:nvPr/>
            </p:nvSpPr>
            <p:spPr>
              <a:xfrm>
                <a:off x="1144135" y="4776301"/>
                <a:ext cx="738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RHEL 7.8 x64</a:t>
                </a: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CPU  16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RAM </a:t>
                </a:r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  <a:sym typeface="Wingdings" panose="05000000000000000000" pitchFamily="2" charset="2"/>
                  </a:rPr>
                  <a:t>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 128 GB</a:t>
                </a:r>
              </a:p>
            </p:txBody>
          </p:sp>
        </p:grpSp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451B1864-CD35-4510-9416-126728B55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66883" y="3467631"/>
              <a:ext cx="355267" cy="355267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D474BC4-306D-4C74-BFB6-12E4DC11C151}"/>
              </a:ext>
            </a:extLst>
          </p:cNvPr>
          <p:cNvGrpSpPr/>
          <p:nvPr/>
        </p:nvGrpSpPr>
        <p:grpSpPr>
          <a:xfrm>
            <a:off x="6976488" y="2320748"/>
            <a:ext cx="1749613" cy="1190085"/>
            <a:chOff x="6419194" y="2317369"/>
            <a:chExt cx="1296691" cy="1034679"/>
          </a:xfrm>
        </p:grpSpPr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29159AB-38BA-43A1-A74D-6E30EAC8B230}"/>
                </a:ext>
              </a:extLst>
            </p:cNvPr>
            <p:cNvGrpSpPr/>
            <p:nvPr/>
          </p:nvGrpSpPr>
          <p:grpSpPr>
            <a:xfrm>
              <a:off x="6419194" y="2317369"/>
              <a:ext cx="1296691" cy="1034679"/>
              <a:chOff x="952043" y="2724688"/>
              <a:chExt cx="1296691" cy="1034679"/>
            </a:xfrm>
          </p:grpSpPr>
          <p:grpSp>
            <p:nvGrpSpPr>
              <p:cNvPr id="222" name="Group 9">
                <a:extLst>
                  <a:ext uri="{FF2B5EF4-FFF2-40B4-BE49-F238E27FC236}">
                    <a16:creationId xmlns:a16="http://schemas.microsoft.com/office/drawing/2014/main" id="{3B7CD191-208B-4481-B987-DAC780577D47}"/>
                  </a:ext>
                </a:extLst>
              </p:cNvPr>
              <p:cNvGrpSpPr/>
              <p:nvPr/>
            </p:nvGrpSpPr>
            <p:grpSpPr>
              <a:xfrm>
                <a:off x="975600" y="2724688"/>
                <a:ext cx="1099169" cy="1034679"/>
                <a:chOff x="5718877" y="3778943"/>
                <a:chExt cx="872194" cy="691354"/>
              </a:xfrm>
            </p:grpSpPr>
            <p:pic>
              <p:nvPicPr>
                <p:cNvPr id="323" name="Picture 4">
                  <a:extLst>
                    <a:ext uri="{FF2B5EF4-FFF2-40B4-BE49-F238E27FC236}">
                      <a16:creationId xmlns:a16="http://schemas.microsoft.com/office/drawing/2014/main" id="{F271FD78-65B7-4854-B16E-D61C68CFFA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12329" y="3943912"/>
                  <a:ext cx="335901" cy="290578"/>
                </a:xfrm>
                <a:prstGeom prst="rect">
                  <a:avLst/>
                </a:prstGeom>
              </p:spPr>
            </p:pic>
            <p:sp>
              <p:nvSpPr>
                <p:cNvPr id="324" name="Rectangle 5">
                  <a:extLst>
                    <a:ext uri="{FF2B5EF4-FFF2-40B4-BE49-F238E27FC236}">
                      <a16:creationId xmlns:a16="http://schemas.microsoft.com/office/drawing/2014/main" id="{15E74D82-BBDE-413A-8404-AFB028A202D2}"/>
                    </a:ext>
                  </a:extLst>
                </p:cNvPr>
                <p:cNvSpPr/>
                <p:nvPr/>
              </p:nvSpPr>
              <p:spPr>
                <a:xfrm>
                  <a:off x="5718877" y="3778943"/>
                  <a:ext cx="872194" cy="691354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00B0F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sz="800" b="1" kern="0">
                    <a:solidFill>
                      <a:srgbClr val="0070C0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23" name="TextBox 111">
                <a:extLst>
                  <a:ext uri="{FF2B5EF4-FFF2-40B4-BE49-F238E27FC236}">
                    <a16:creationId xmlns:a16="http://schemas.microsoft.com/office/drawing/2014/main" id="{105CE5C3-59EA-47A3-B4D1-A48DBF61BA12}"/>
                  </a:ext>
                </a:extLst>
              </p:cNvPr>
              <p:cNvSpPr txBox="1"/>
              <p:nvPr/>
            </p:nvSpPr>
            <p:spPr>
              <a:xfrm>
                <a:off x="952043" y="2745701"/>
                <a:ext cx="1099169" cy="215444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DEI/DEQ</a:t>
                </a:r>
              </a:p>
            </p:txBody>
          </p:sp>
          <p:sp>
            <p:nvSpPr>
              <p:cNvPr id="320" name="Disco magnetico 268">
                <a:extLst>
                  <a:ext uri="{FF2B5EF4-FFF2-40B4-BE49-F238E27FC236}">
                    <a16:creationId xmlns:a16="http://schemas.microsoft.com/office/drawing/2014/main" id="{19C57E47-EEDF-469D-8500-0E31BBF58D01}"/>
                  </a:ext>
                </a:extLst>
              </p:cNvPr>
              <p:cNvSpPr/>
              <p:nvPr/>
            </p:nvSpPr>
            <p:spPr>
              <a:xfrm>
                <a:off x="1020153" y="3368244"/>
                <a:ext cx="596371" cy="114257"/>
              </a:xfrm>
              <a:prstGeom prst="flowChartMagneticDisk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8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OS DISK 64 GB</a:t>
                </a:r>
                <a:endParaRPr lang="en-US" sz="8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321" name="TextBox 236">
                <a:extLst>
                  <a:ext uri="{FF2B5EF4-FFF2-40B4-BE49-F238E27FC236}">
                    <a16:creationId xmlns:a16="http://schemas.microsoft.com/office/drawing/2014/main" id="{FD975D55-A82C-4A13-ACCC-C8400A50F7FC}"/>
                  </a:ext>
                </a:extLst>
              </p:cNvPr>
              <p:cNvSpPr txBox="1"/>
              <p:nvPr/>
            </p:nvSpPr>
            <p:spPr>
              <a:xfrm>
                <a:off x="1569143" y="3037126"/>
                <a:ext cx="679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RHEL 7.8 x64</a:t>
                </a: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CPU  16</a:t>
                </a:r>
                <a:endParaRPr lang="en-US" sz="6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</a:rPr>
                  <a:t>RAM </a:t>
                </a:r>
                <a:r>
                  <a:rPr lang="en-US" sz="600" b="0">
                    <a:solidFill>
                      <a:prstClr val="black"/>
                    </a:solidFill>
                    <a:latin typeface="Calibri" panose="020F0502020204030204"/>
                    <a:sym typeface="Wingdings" panose="05000000000000000000" pitchFamily="2" charset="2"/>
                  </a:rPr>
                  <a:t> </a:t>
                </a:r>
                <a:r>
                  <a:rPr lang="en-US" sz="600">
                    <a:solidFill>
                      <a:prstClr val="black"/>
                    </a:solidFill>
                    <a:latin typeface="Calibri" panose="020F0502020204030204"/>
                  </a:rPr>
                  <a:t> 128 GB</a:t>
                </a:r>
              </a:p>
            </p:txBody>
          </p:sp>
        </p:grpSp>
        <p:pic>
          <p:nvPicPr>
            <p:cNvPr id="327" name="Picture 165">
              <a:extLst>
                <a:ext uri="{FF2B5EF4-FFF2-40B4-BE49-F238E27FC236}">
                  <a16:creationId xmlns:a16="http://schemas.microsoft.com/office/drawing/2014/main" id="{09BB1548-D182-437E-A339-1AEEB3B35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8297" y="2335314"/>
              <a:ext cx="243103" cy="233747"/>
            </a:xfrm>
            <a:prstGeom prst="rect">
              <a:avLst/>
            </a:prstGeom>
          </p:spPr>
        </p:pic>
      </p:grpSp>
      <p:sp>
        <p:nvSpPr>
          <p:cNvPr id="17" name="Freccia a destra 27">
            <a:extLst>
              <a:ext uri="{FF2B5EF4-FFF2-40B4-BE49-F238E27FC236}">
                <a16:creationId xmlns:a16="http://schemas.microsoft.com/office/drawing/2014/main" id="{3A6A1C0F-6B8B-87BE-0075-4C7F9EF08A27}"/>
              </a:ext>
            </a:extLst>
          </p:cNvPr>
          <p:cNvSpPr/>
          <p:nvPr/>
        </p:nvSpPr>
        <p:spPr>
          <a:xfrm>
            <a:off x="3693330" y="1222041"/>
            <a:ext cx="1915885" cy="348398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>
                    <a:lumMod val="75000"/>
                    <a:lumOff val="25000"/>
                  </a:schemeClr>
                </a:solidFill>
              </a:rPr>
              <a:t>On Demand  </a:t>
            </a:r>
            <a:r>
              <a:rPr lang="it-IT" sz="8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Automatic</a:t>
            </a:r>
            <a:r>
              <a:rPr lang="it-IT" sz="800" b="1">
                <a:solidFill>
                  <a:schemeClr val="tx1">
                    <a:lumMod val="75000"/>
                    <a:lumOff val="25000"/>
                  </a:schemeClr>
                </a:solidFill>
              </a:rPr>
              <a:t> GEO-replica</a:t>
            </a:r>
            <a:endParaRPr lang="en-US" sz="8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Disco magnetico 23">
            <a:extLst>
              <a:ext uri="{FF2B5EF4-FFF2-40B4-BE49-F238E27FC236}">
                <a16:creationId xmlns:a16="http://schemas.microsoft.com/office/drawing/2014/main" id="{F8DAD376-84E7-FF3E-AFE5-6FB7B37618F8}"/>
              </a:ext>
            </a:extLst>
          </p:cNvPr>
          <p:cNvSpPr/>
          <p:nvPr/>
        </p:nvSpPr>
        <p:spPr>
          <a:xfrm>
            <a:off x="1730938" y="3271736"/>
            <a:ext cx="783119" cy="14124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DISK 0 256 GB</a:t>
            </a:r>
            <a:endParaRPr lang="en-US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Disco magnetico 25">
            <a:extLst>
              <a:ext uri="{FF2B5EF4-FFF2-40B4-BE49-F238E27FC236}">
                <a16:creationId xmlns:a16="http://schemas.microsoft.com/office/drawing/2014/main" id="{1C78E3BA-179B-4CBB-D6C7-5C2F1573DE89}"/>
              </a:ext>
            </a:extLst>
          </p:cNvPr>
          <p:cNvSpPr/>
          <p:nvPr/>
        </p:nvSpPr>
        <p:spPr>
          <a:xfrm>
            <a:off x="1935841" y="3413013"/>
            <a:ext cx="714395" cy="150939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DISK 1 64 GB</a:t>
            </a:r>
            <a:endParaRPr lang="en-US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2" name="Disco magnetico 241">
            <a:extLst>
              <a:ext uri="{FF2B5EF4-FFF2-40B4-BE49-F238E27FC236}">
                <a16:creationId xmlns:a16="http://schemas.microsoft.com/office/drawing/2014/main" id="{A6904A5D-C046-06D6-7411-A43323AC628A}"/>
              </a:ext>
            </a:extLst>
          </p:cNvPr>
          <p:cNvSpPr/>
          <p:nvPr/>
        </p:nvSpPr>
        <p:spPr>
          <a:xfrm>
            <a:off x="7246119" y="3192843"/>
            <a:ext cx="783119" cy="14124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DISK 0 256 GB</a:t>
            </a:r>
            <a:endParaRPr lang="en-US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3" name="Disco magnetico 242">
            <a:extLst>
              <a:ext uri="{FF2B5EF4-FFF2-40B4-BE49-F238E27FC236}">
                <a16:creationId xmlns:a16="http://schemas.microsoft.com/office/drawing/2014/main" id="{684327B5-E40C-9635-83ED-7E051B9C970B}"/>
              </a:ext>
            </a:extLst>
          </p:cNvPr>
          <p:cNvSpPr/>
          <p:nvPr/>
        </p:nvSpPr>
        <p:spPr>
          <a:xfrm>
            <a:off x="7594901" y="3341441"/>
            <a:ext cx="714395" cy="150939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DISK 1 64 GB</a:t>
            </a:r>
            <a:endParaRPr lang="en-US" sz="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51" name="Graphic 147">
            <a:extLst>
              <a:ext uri="{FF2B5EF4-FFF2-40B4-BE49-F238E27FC236}">
                <a16:creationId xmlns:a16="http://schemas.microsoft.com/office/drawing/2014/main" id="{FC2C8AC7-A000-53C7-29CB-B4FA8FA451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2789" y="2239732"/>
            <a:ext cx="355267" cy="355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D0B58D-419F-6D74-EB94-71EC81671EAA}"/>
              </a:ext>
            </a:extLst>
          </p:cNvPr>
          <p:cNvSpPr txBox="1"/>
          <p:nvPr/>
        </p:nvSpPr>
        <p:spPr>
          <a:xfrm>
            <a:off x="3636074" y="2522181"/>
            <a:ext cx="1996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/>
              <a:t>https://adacfoinfadei01.trafficmanager.net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757E4-5F79-E0B7-649B-B19D9D6771FA}"/>
              </a:ext>
            </a:extLst>
          </p:cNvPr>
          <p:cNvSpPr txBox="1"/>
          <p:nvPr/>
        </p:nvSpPr>
        <p:spPr>
          <a:xfrm>
            <a:off x="3690313" y="3808033"/>
            <a:ext cx="1866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/>
              <a:t>https://adacfosftp01.trafficmanager.net</a:t>
            </a:r>
          </a:p>
        </p:txBody>
      </p:sp>
      <p:sp>
        <p:nvSpPr>
          <p:cNvPr id="30" name="CasellaDiTesto 4">
            <a:extLst>
              <a:ext uri="{FF2B5EF4-FFF2-40B4-BE49-F238E27FC236}">
                <a16:creationId xmlns:a16="http://schemas.microsoft.com/office/drawing/2014/main" id="{BFF4862B-B70F-0ECD-A172-E1C84388999E}"/>
              </a:ext>
            </a:extLst>
          </p:cNvPr>
          <p:cNvSpPr txBox="1"/>
          <p:nvPr/>
        </p:nvSpPr>
        <p:spPr>
          <a:xfrm>
            <a:off x="3791676" y="6500154"/>
            <a:ext cx="1474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bg1">
                    <a:lumMod val="50000"/>
                  </a:schemeClr>
                </a:solidFill>
              </a:rPr>
              <a:t>Cross Region</a:t>
            </a:r>
            <a:endParaRPr lang="en-US" b="1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6A47EC-9E1F-5B03-CF28-5813BEBEC36A}"/>
              </a:ext>
            </a:extLst>
          </p:cNvPr>
          <p:cNvGrpSpPr/>
          <p:nvPr/>
        </p:nvGrpSpPr>
        <p:grpSpPr>
          <a:xfrm>
            <a:off x="2503965" y="5894546"/>
            <a:ext cx="1224345" cy="632983"/>
            <a:chOff x="2521054" y="5950213"/>
            <a:chExt cx="1224345" cy="63298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51DA0D8-1F20-73E1-C4D6-8DBD9B1957FC}"/>
                </a:ext>
              </a:extLst>
            </p:cNvPr>
            <p:cNvSpPr/>
            <p:nvPr/>
          </p:nvSpPr>
          <p:spPr>
            <a:xfrm>
              <a:off x="2521054" y="5950213"/>
              <a:ext cx="1224345" cy="6329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3C843-41A4-54D4-ED7A-8AEC7D7C8897}"/>
                </a:ext>
              </a:extLst>
            </p:cNvPr>
            <p:cNvSpPr txBox="1"/>
            <p:nvPr/>
          </p:nvSpPr>
          <p:spPr>
            <a:xfrm>
              <a:off x="2796707" y="5956699"/>
              <a:ext cx="79060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Synapse</a:t>
              </a:r>
              <a:endParaRPr lang="it-IT" sz="800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75459388-E6E0-07C7-7841-4E2591AB8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53507" y="6135090"/>
              <a:ext cx="413046" cy="40511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E816A8-4B9B-7572-A513-583D71E8777A}"/>
              </a:ext>
            </a:extLst>
          </p:cNvPr>
          <p:cNvGrpSpPr/>
          <p:nvPr/>
        </p:nvGrpSpPr>
        <p:grpSpPr>
          <a:xfrm>
            <a:off x="5533115" y="5894546"/>
            <a:ext cx="1224345" cy="632983"/>
            <a:chOff x="2521054" y="5950213"/>
            <a:chExt cx="1224345" cy="63298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43A52F2-B02F-1572-52FB-FDF57063654B}"/>
                </a:ext>
              </a:extLst>
            </p:cNvPr>
            <p:cNvSpPr/>
            <p:nvPr/>
          </p:nvSpPr>
          <p:spPr>
            <a:xfrm>
              <a:off x="2521054" y="5950213"/>
              <a:ext cx="1224345" cy="6329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05F6FB-8B07-6802-5882-76812CB76184}"/>
                </a:ext>
              </a:extLst>
            </p:cNvPr>
            <p:cNvSpPr txBox="1"/>
            <p:nvPr/>
          </p:nvSpPr>
          <p:spPr>
            <a:xfrm>
              <a:off x="2796707" y="5956699"/>
              <a:ext cx="79060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Synapse</a:t>
              </a:r>
              <a:endParaRPr lang="it-IT" sz="800"/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B4FC5C67-870C-AC9A-F8C2-53BA7E280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53507" y="6135090"/>
              <a:ext cx="413046" cy="40511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FD86882-980B-E1EC-B73B-C5BF7F2C95CB}"/>
              </a:ext>
            </a:extLst>
          </p:cNvPr>
          <p:cNvGrpSpPr/>
          <p:nvPr/>
        </p:nvGrpSpPr>
        <p:grpSpPr>
          <a:xfrm>
            <a:off x="2513862" y="5122906"/>
            <a:ext cx="1224345" cy="632983"/>
            <a:chOff x="1076610" y="5704628"/>
            <a:chExt cx="1224345" cy="63298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F1EBC95-8FB6-A2DB-83F3-952CFB69E55C}"/>
                </a:ext>
              </a:extLst>
            </p:cNvPr>
            <p:cNvSpPr/>
            <p:nvPr/>
          </p:nvSpPr>
          <p:spPr>
            <a:xfrm>
              <a:off x="1076610" y="5704628"/>
              <a:ext cx="1224345" cy="6329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58C0D8-B3F3-68FF-86A3-92539886A778}"/>
                </a:ext>
              </a:extLst>
            </p:cNvPr>
            <p:cNvSpPr txBox="1"/>
            <p:nvPr/>
          </p:nvSpPr>
          <p:spPr>
            <a:xfrm>
              <a:off x="1182002" y="5708502"/>
              <a:ext cx="10342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</a:t>
              </a:r>
              <a:r>
                <a:rPr lang="en-US" sz="800" err="1"/>
                <a:t>datalake</a:t>
              </a:r>
              <a:r>
                <a:rPr lang="en-US" sz="800"/>
                <a:t> gen2</a:t>
              </a:r>
              <a:endParaRPr lang="it-IT" sz="800"/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C61D8C8B-B2B0-CB4D-64DC-96BF45714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24342" y="5916122"/>
              <a:ext cx="291634" cy="354278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AAEB710-BDF6-A182-1768-2C76FE9284A4}"/>
              </a:ext>
            </a:extLst>
          </p:cNvPr>
          <p:cNvGrpSpPr/>
          <p:nvPr/>
        </p:nvGrpSpPr>
        <p:grpSpPr>
          <a:xfrm>
            <a:off x="5518892" y="5133398"/>
            <a:ext cx="1224345" cy="632983"/>
            <a:chOff x="1076610" y="5704628"/>
            <a:chExt cx="1224345" cy="63298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B58737D-12BA-52CD-4849-727B2F50791A}"/>
                </a:ext>
              </a:extLst>
            </p:cNvPr>
            <p:cNvSpPr/>
            <p:nvPr/>
          </p:nvSpPr>
          <p:spPr>
            <a:xfrm>
              <a:off x="1076610" y="5704628"/>
              <a:ext cx="1224345" cy="6329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449E06A-005A-3891-CF6B-6A4EE363005A}"/>
                </a:ext>
              </a:extLst>
            </p:cNvPr>
            <p:cNvSpPr txBox="1"/>
            <p:nvPr/>
          </p:nvSpPr>
          <p:spPr>
            <a:xfrm>
              <a:off x="1182002" y="5708502"/>
              <a:ext cx="10342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</a:t>
              </a:r>
              <a:r>
                <a:rPr lang="en-US" sz="800" err="1"/>
                <a:t>datalake</a:t>
              </a:r>
              <a:r>
                <a:rPr lang="en-US" sz="800"/>
                <a:t> gen2</a:t>
              </a:r>
              <a:endParaRPr lang="it-IT" sz="800"/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6CD95F14-0940-0DB1-6656-2023E4CC9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24342" y="5916122"/>
              <a:ext cx="291634" cy="354278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CB1DC16-D70F-4072-8CEC-424D5E4E7F72}"/>
              </a:ext>
            </a:extLst>
          </p:cNvPr>
          <p:cNvGrpSpPr/>
          <p:nvPr/>
        </p:nvGrpSpPr>
        <p:grpSpPr>
          <a:xfrm>
            <a:off x="2521054" y="4351266"/>
            <a:ext cx="1224345" cy="632983"/>
            <a:chOff x="872910" y="5665907"/>
            <a:chExt cx="1224345" cy="63298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39ADA3-D4D6-3AFF-6A99-A3A256B1FF3D}"/>
                </a:ext>
              </a:extLst>
            </p:cNvPr>
            <p:cNvSpPr/>
            <p:nvPr/>
          </p:nvSpPr>
          <p:spPr>
            <a:xfrm>
              <a:off x="872910" y="5665907"/>
              <a:ext cx="1224345" cy="6329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37FC1-AB41-B4D9-B4E4-67527D85890C}"/>
                </a:ext>
              </a:extLst>
            </p:cNvPr>
            <p:cNvSpPr txBox="1"/>
            <p:nvPr/>
          </p:nvSpPr>
          <p:spPr>
            <a:xfrm>
              <a:off x="1073404" y="5671998"/>
              <a:ext cx="87876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</a:t>
              </a:r>
              <a:r>
                <a:rPr lang="en-US" sz="800" err="1"/>
                <a:t>databricks</a:t>
              </a:r>
              <a:endParaRPr lang="it-IT" sz="800"/>
            </a:p>
          </p:txBody>
        </p:sp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56E5C4A6-907B-684D-F0C4-D90D5B9EF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57060" y="5886086"/>
              <a:ext cx="311453" cy="32593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010597-F7B8-7ADB-1352-2FEC3D28BA2E}"/>
              </a:ext>
            </a:extLst>
          </p:cNvPr>
          <p:cNvGrpSpPr/>
          <p:nvPr/>
        </p:nvGrpSpPr>
        <p:grpSpPr>
          <a:xfrm>
            <a:off x="5500294" y="4351266"/>
            <a:ext cx="1224345" cy="632983"/>
            <a:chOff x="872910" y="5665907"/>
            <a:chExt cx="1224345" cy="63298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388F2BC-1F20-99DE-631B-3249826E0FDA}"/>
                </a:ext>
              </a:extLst>
            </p:cNvPr>
            <p:cNvSpPr/>
            <p:nvPr/>
          </p:nvSpPr>
          <p:spPr>
            <a:xfrm>
              <a:off x="872910" y="5665907"/>
              <a:ext cx="1224345" cy="63298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1545118-29D7-8D7A-6F4C-B24D28866725}"/>
                </a:ext>
              </a:extLst>
            </p:cNvPr>
            <p:cNvSpPr txBox="1"/>
            <p:nvPr/>
          </p:nvSpPr>
          <p:spPr>
            <a:xfrm>
              <a:off x="1073404" y="5671998"/>
              <a:ext cx="87876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</a:t>
              </a:r>
              <a:r>
                <a:rPr lang="en-US" sz="800" err="1"/>
                <a:t>databricks</a:t>
              </a:r>
              <a:endParaRPr lang="it-IT" sz="800"/>
            </a:p>
          </p:txBody>
        </p:sp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C0B21692-65BB-7EF7-B2D2-CADA5B8CD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57060" y="5886086"/>
              <a:ext cx="311453" cy="32593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4DDCCB1-5F2B-D8F1-626D-8FBA3674B2D4}"/>
              </a:ext>
            </a:extLst>
          </p:cNvPr>
          <p:cNvGrpSpPr/>
          <p:nvPr/>
        </p:nvGrpSpPr>
        <p:grpSpPr>
          <a:xfrm>
            <a:off x="2446315" y="1211645"/>
            <a:ext cx="1224345" cy="878229"/>
            <a:chOff x="5524121" y="2060920"/>
            <a:chExt cx="1224345" cy="878229"/>
          </a:xfrm>
        </p:grpSpPr>
        <p:pic>
          <p:nvPicPr>
            <p:cNvPr id="81" name="Graphic 191">
              <a:extLst>
                <a:ext uri="{FF2B5EF4-FFF2-40B4-BE49-F238E27FC236}">
                  <a16:creationId xmlns:a16="http://schemas.microsoft.com/office/drawing/2014/main" id="{107BF573-03FA-4F2A-E82F-495ED087C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982477" y="2374138"/>
              <a:ext cx="382775" cy="39164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5D36469-E56D-8A28-6CDD-D9E931A8808E}"/>
                </a:ext>
              </a:extLst>
            </p:cNvPr>
            <p:cNvSpPr/>
            <p:nvPr/>
          </p:nvSpPr>
          <p:spPr>
            <a:xfrm>
              <a:off x="5524121" y="2060920"/>
              <a:ext cx="1224345" cy="87822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7B72364-C0C2-46E8-B4DF-57F3B93E6E10}"/>
                </a:ext>
              </a:extLst>
            </p:cNvPr>
            <p:cNvSpPr txBox="1"/>
            <p:nvPr/>
          </p:nvSpPr>
          <p:spPr>
            <a:xfrm>
              <a:off x="5714717" y="2134683"/>
              <a:ext cx="92044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/>
                <a:t>Azure Elastic Pool</a:t>
              </a:r>
              <a:endParaRPr lang="it-IT" sz="80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1C0A2AF-BDD6-9874-C571-075E20C64C1C}"/>
              </a:ext>
            </a:extLst>
          </p:cNvPr>
          <p:cNvGrpSpPr/>
          <p:nvPr/>
        </p:nvGrpSpPr>
        <p:grpSpPr>
          <a:xfrm>
            <a:off x="5619436" y="1052518"/>
            <a:ext cx="1224345" cy="693136"/>
            <a:chOff x="6093909" y="4197060"/>
            <a:chExt cx="1224345" cy="693136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F2A0651-CCC6-0B8B-2C71-93858CFE2D09}"/>
                </a:ext>
              </a:extLst>
            </p:cNvPr>
            <p:cNvSpPr/>
            <p:nvPr/>
          </p:nvSpPr>
          <p:spPr>
            <a:xfrm>
              <a:off x="6093909" y="4226232"/>
              <a:ext cx="1224345" cy="663964"/>
            </a:xfrm>
            <a:prstGeom prst="rect">
              <a:avLst/>
            </a:prstGeom>
            <a:pattFill prst="shingle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2ACF4F4-1057-5FE3-CA78-D87216572C4F}"/>
                </a:ext>
              </a:extLst>
            </p:cNvPr>
            <p:cNvSpPr txBox="1"/>
            <p:nvPr/>
          </p:nvSpPr>
          <p:spPr>
            <a:xfrm>
              <a:off x="6261493" y="4197060"/>
              <a:ext cx="9589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b="1"/>
                <a:t>Azure Elastic Pool </a:t>
              </a:r>
            </a:p>
            <a:p>
              <a:pPr algn="ctr"/>
              <a:r>
                <a:rPr lang="en-US" sz="800" b="1"/>
                <a:t>Replica</a:t>
              </a:r>
              <a:endParaRPr lang="it-IT" sz="800" b="1"/>
            </a:p>
          </p:txBody>
        </p:sp>
        <p:pic>
          <p:nvPicPr>
            <p:cNvPr id="88" name="Graphic 191">
              <a:extLst>
                <a:ext uri="{FF2B5EF4-FFF2-40B4-BE49-F238E27FC236}">
                  <a16:creationId xmlns:a16="http://schemas.microsoft.com/office/drawing/2014/main" id="{3F7C6858-A4A8-3EA4-C1AE-9C0102998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52779" y="4454990"/>
              <a:ext cx="382775" cy="391645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B9D5DD3-549A-6979-9E93-94824C540325}"/>
              </a:ext>
            </a:extLst>
          </p:cNvPr>
          <p:cNvGrpSpPr/>
          <p:nvPr/>
        </p:nvGrpSpPr>
        <p:grpSpPr>
          <a:xfrm>
            <a:off x="5619044" y="1748035"/>
            <a:ext cx="1224345" cy="693136"/>
            <a:chOff x="5524121" y="2031749"/>
            <a:chExt cx="1224345" cy="693136"/>
          </a:xfrm>
        </p:grpSpPr>
        <p:pic>
          <p:nvPicPr>
            <p:cNvPr id="91" name="Graphic 191">
              <a:extLst>
                <a:ext uri="{FF2B5EF4-FFF2-40B4-BE49-F238E27FC236}">
                  <a16:creationId xmlns:a16="http://schemas.microsoft.com/office/drawing/2014/main" id="{9E65C8B5-4D1C-CD31-85CD-C7CF4B528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963279" y="2307512"/>
              <a:ext cx="382775" cy="391645"/>
            </a:xfrm>
            <a:prstGeom prst="rect">
              <a:avLst/>
            </a:prstGeom>
          </p:spPr>
        </p:pic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3E18B5A-45BD-099A-6366-F81DDF912C0A}"/>
                </a:ext>
              </a:extLst>
            </p:cNvPr>
            <p:cNvSpPr/>
            <p:nvPr/>
          </p:nvSpPr>
          <p:spPr>
            <a:xfrm>
              <a:off x="5524121" y="2060921"/>
              <a:ext cx="1224345" cy="6639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1142CA8-4A20-5410-D4D8-4843EFDAC3ED}"/>
                </a:ext>
              </a:extLst>
            </p:cNvPr>
            <p:cNvSpPr txBox="1"/>
            <p:nvPr/>
          </p:nvSpPr>
          <p:spPr>
            <a:xfrm>
              <a:off x="5699720" y="2031749"/>
              <a:ext cx="9428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/>
                <a:t>Azure Elastic Pool </a:t>
              </a:r>
            </a:p>
            <a:p>
              <a:pPr algn="ctr"/>
              <a:r>
                <a:rPr lang="en-US" sz="800"/>
                <a:t>Failover Group</a:t>
              </a:r>
              <a:endParaRPr lang="it-IT" sz="800"/>
            </a:p>
          </p:txBody>
        </p:sp>
      </p:grpSp>
      <p:pic>
        <p:nvPicPr>
          <p:cNvPr id="10" name="Graphic 9" descr="Chevron arrows">
            <a:extLst>
              <a:ext uri="{FF2B5EF4-FFF2-40B4-BE49-F238E27FC236}">
                <a16:creationId xmlns:a16="http://schemas.microsoft.com/office/drawing/2014/main" id="{0B4A4DE0-D373-BFC9-AA9C-5AE0C2CAAE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78316" y="1108599"/>
            <a:ext cx="914400" cy="914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3C8570-50E1-F878-C34C-2589D8D44DD8}"/>
              </a:ext>
            </a:extLst>
          </p:cNvPr>
          <p:cNvSpPr/>
          <p:nvPr/>
        </p:nvSpPr>
        <p:spPr>
          <a:xfrm>
            <a:off x="9771652" y="961165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3.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per il DB SQL SERVER</a:t>
            </a:r>
          </a:p>
          <a:p>
            <a:pPr algn="ctr"/>
            <a:r>
              <a:rPr lang="en-US" sz="800">
                <a:solidFill>
                  <a:srgbClr val="C00000"/>
                </a:solidFill>
              </a:rPr>
              <a:t>and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9.4  </a:t>
            </a:r>
            <a:r>
              <a:rPr lang="en-US" sz="1000" b="1" err="1">
                <a:solidFill>
                  <a:srgbClr val="C00000"/>
                </a:solidFill>
              </a:rPr>
              <a:t>Preparazione</a:t>
            </a:r>
            <a:r>
              <a:rPr lang="en-US" sz="1000" b="1">
                <a:solidFill>
                  <a:srgbClr val="C00000"/>
                </a:solidFill>
              </a:rPr>
              <a:t> Test-failover Custom app</a:t>
            </a:r>
            <a:endParaRPr lang="it-IT" sz="1000" b="1">
              <a:solidFill>
                <a:srgbClr val="C00000"/>
              </a:solidFill>
            </a:endParaRPr>
          </a:p>
        </p:txBody>
      </p:sp>
      <p:pic>
        <p:nvPicPr>
          <p:cNvPr id="12" name="Graphic 191">
            <a:extLst>
              <a:ext uri="{FF2B5EF4-FFF2-40B4-BE49-F238E27FC236}">
                <a16:creationId xmlns:a16="http://schemas.microsoft.com/office/drawing/2014/main" id="{D476E9B9-5052-CF2E-8057-ACB2EB9B36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78262" y="912777"/>
            <a:ext cx="382775" cy="391645"/>
          </a:xfrm>
          <a:prstGeom prst="rect">
            <a:avLst/>
          </a:prstGeom>
        </p:spPr>
      </p:pic>
      <p:pic>
        <p:nvPicPr>
          <p:cNvPr id="13" name="Graphic 12" descr="Chevron arrows">
            <a:extLst>
              <a:ext uri="{FF2B5EF4-FFF2-40B4-BE49-F238E27FC236}">
                <a16:creationId xmlns:a16="http://schemas.microsoft.com/office/drawing/2014/main" id="{FB9EB082-D5DF-FF31-211C-59A37B6F322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78316" y="2268586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A54249B-D4C5-FDCF-A06C-922A19CCF70E}"/>
              </a:ext>
            </a:extLst>
          </p:cNvPr>
          <p:cNvSpPr/>
          <p:nvPr/>
        </p:nvSpPr>
        <p:spPr>
          <a:xfrm>
            <a:off x="9771652" y="2225989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2.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Virtual Machine</a:t>
            </a:r>
          </a:p>
          <a:p>
            <a:pPr algn="ctr"/>
            <a:r>
              <a:rPr lang="en-US" sz="800">
                <a:solidFill>
                  <a:srgbClr val="C00000"/>
                </a:solidFill>
              </a:rPr>
              <a:t>and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9.5  </a:t>
            </a:r>
            <a:r>
              <a:rPr lang="en-US" sz="1000" b="1" err="1">
                <a:solidFill>
                  <a:srgbClr val="C00000"/>
                </a:solidFill>
              </a:rPr>
              <a:t>Preparazione</a:t>
            </a:r>
            <a:r>
              <a:rPr lang="en-US" sz="1000" b="1">
                <a:solidFill>
                  <a:srgbClr val="C00000"/>
                </a:solidFill>
              </a:rPr>
              <a:t> Test-failover Informatica AXON</a:t>
            </a:r>
            <a:endParaRPr lang="it-IT" sz="1000" b="1">
              <a:solidFill>
                <a:srgbClr val="C00000"/>
              </a:solidFill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8AA1B5BD-2026-CAFC-2406-54D6C59BAF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136" y="2112176"/>
            <a:ext cx="315275" cy="384203"/>
          </a:xfrm>
          <a:prstGeom prst="rect">
            <a:avLst/>
          </a:prstGeom>
        </p:spPr>
      </p:pic>
      <p:pic>
        <p:nvPicPr>
          <p:cNvPr id="16" name="Graphic 15" descr="Chevron arrows">
            <a:extLst>
              <a:ext uri="{FF2B5EF4-FFF2-40B4-BE49-F238E27FC236}">
                <a16:creationId xmlns:a16="http://schemas.microsoft.com/office/drawing/2014/main" id="{0F1F2CA8-E758-4E9D-D266-977BE79AD3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83641" y="3445963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4A19891-427E-77C5-FA5F-F37DD5DCE247}"/>
              </a:ext>
            </a:extLst>
          </p:cNvPr>
          <p:cNvSpPr/>
          <p:nvPr/>
        </p:nvSpPr>
        <p:spPr>
          <a:xfrm>
            <a:off x="9771652" y="3403366"/>
            <a:ext cx="2026322" cy="1088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2.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Virtual Machine</a:t>
            </a:r>
          </a:p>
          <a:p>
            <a:pPr algn="ctr"/>
            <a:r>
              <a:rPr lang="en-US" sz="800">
                <a:solidFill>
                  <a:srgbClr val="C00000"/>
                </a:solidFill>
              </a:rPr>
              <a:t>and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9.3  </a:t>
            </a:r>
            <a:r>
              <a:rPr lang="en-US" sz="1000" b="1" err="1">
                <a:solidFill>
                  <a:srgbClr val="C00000"/>
                </a:solidFill>
              </a:rPr>
              <a:t>Preparazione</a:t>
            </a:r>
            <a:r>
              <a:rPr lang="en-US" sz="1000" b="1">
                <a:solidFill>
                  <a:srgbClr val="C00000"/>
                </a:solidFill>
              </a:rPr>
              <a:t> Test-failover SFTP Server</a:t>
            </a:r>
            <a:endParaRPr lang="it-IT" sz="1000" b="1">
              <a:solidFill>
                <a:srgbClr val="C00000"/>
              </a:solidFill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7FEB0303-2F9B-0567-B86C-6C5CF1628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5762" y="3310718"/>
            <a:ext cx="315275" cy="384203"/>
          </a:xfrm>
          <a:prstGeom prst="rect">
            <a:avLst/>
          </a:prstGeom>
        </p:spPr>
      </p:pic>
      <p:pic>
        <p:nvPicPr>
          <p:cNvPr id="20" name="Graphic 19" descr="Chevron arrows">
            <a:extLst>
              <a:ext uri="{FF2B5EF4-FFF2-40B4-BE49-F238E27FC236}">
                <a16:creationId xmlns:a16="http://schemas.microsoft.com/office/drawing/2014/main" id="{4DEAAF79-9D84-848E-E081-07013B70D0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17868" y="4350602"/>
            <a:ext cx="914400" cy="914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C45BBBF-8532-BD08-AD1D-F707393CAAA8}"/>
              </a:ext>
            </a:extLst>
          </p:cNvPr>
          <p:cNvSpPr/>
          <p:nvPr/>
        </p:nvSpPr>
        <p:spPr>
          <a:xfrm>
            <a:off x="9771652" y="4528534"/>
            <a:ext cx="2026322" cy="7429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5.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Azure Databricks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ADC3527-4FAA-3F56-F20C-3DB291D5A2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11793" y="4494927"/>
            <a:ext cx="311453" cy="325930"/>
          </a:xfrm>
          <a:prstGeom prst="rect">
            <a:avLst/>
          </a:prstGeom>
        </p:spPr>
      </p:pic>
      <p:pic>
        <p:nvPicPr>
          <p:cNvPr id="38" name="Graphic 37" descr="Chevron arrows">
            <a:extLst>
              <a:ext uri="{FF2B5EF4-FFF2-40B4-BE49-F238E27FC236}">
                <a16:creationId xmlns:a16="http://schemas.microsoft.com/office/drawing/2014/main" id="{E4C611A0-979C-5F5D-83F9-3D2B4D2BB98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36597" y="5271500"/>
            <a:ext cx="914400" cy="9144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CE011D6-BDD8-31B5-DAE8-7BEF663F8147}"/>
              </a:ext>
            </a:extLst>
          </p:cNvPr>
          <p:cNvSpPr/>
          <p:nvPr/>
        </p:nvSpPr>
        <p:spPr>
          <a:xfrm>
            <a:off x="9771652" y="5327687"/>
            <a:ext cx="2026322" cy="7429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6.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per Storage Account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C9DD6F8A-95B1-C540-86C3-9A79CA1AC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22136" y="5274643"/>
            <a:ext cx="291634" cy="354278"/>
          </a:xfrm>
          <a:prstGeom prst="rect">
            <a:avLst/>
          </a:prstGeom>
        </p:spPr>
      </p:pic>
      <p:pic>
        <p:nvPicPr>
          <p:cNvPr id="46" name="Graphic 45" descr="Chevron arrows">
            <a:extLst>
              <a:ext uri="{FF2B5EF4-FFF2-40B4-BE49-F238E27FC236}">
                <a16:creationId xmlns:a16="http://schemas.microsoft.com/office/drawing/2014/main" id="{DB03F307-25FA-F880-5E62-5522940085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46925" y="5975418"/>
            <a:ext cx="914400" cy="9144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150AB76-65A0-1226-5534-6CE6803210C8}"/>
              </a:ext>
            </a:extLst>
          </p:cNvPr>
          <p:cNvSpPr/>
          <p:nvPr/>
        </p:nvSpPr>
        <p:spPr>
          <a:xfrm>
            <a:off x="9771652" y="6142640"/>
            <a:ext cx="2026322" cy="608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rgbClr val="C00000"/>
                </a:solidFill>
              </a:rPr>
              <a:t>Reference documentation chapter </a:t>
            </a:r>
          </a:p>
          <a:p>
            <a:pPr algn="ctr"/>
            <a:r>
              <a:rPr lang="en-US" sz="1000" b="1">
                <a:solidFill>
                  <a:srgbClr val="C00000"/>
                </a:solidFill>
              </a:rPr>
              <a:t>4. </a:t>
            </a:r>
            <a:r>
              <a:rPr lang="en-US" sz="1000" b="1" err="1">
                <a:solidFill>
                  <a:srgbClr val="C00000"/>
                </a:solidFill>
              </a:rPr>
              <a:t>Configurazione</a:t>
            </a:r>
            <a:r>
              <a:rPr lang="en-US" sz="1000" b="1">
                <a:solidFill>
                  <a:srgbClr val="C00000"/>
                </a:solidFill>
              </a:rPr>
              <a:t> DR per Synapse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237CD32D-1287-8F30-47A6-389C5313F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11793" y="6103880"/>
            <a:ext cx="332316" cy="325931"/>
          </a:xfrm>
          <a:prstGeom prst="rect">
            <a:avLst/>
          </a:prstGeom>
        </p:spPr>
      </p:pic>
      <p:sp>
        <p:nvSpPr>
          <p:cNvPr id="2" name="Rectangle 192">
            <a:extLst>
              <a:ext uri="{FF2B5EF4-FFF2-40B4-BE49-F238E27FC236}">
                <a16:creationId xmlns:a16="http://schemas.microsoft.com/office/drawing/2014/main" id="{6468F408-1731-F00E-00DD-AF856F28D26B}"/>
              </a:ext>
            </a:extLst>
          </p:cNvPr>
          <p:cNvSpPr/>
          <p:nvPr/>
        </p:nvSpPr>
        <p:spPr>
          <a:xfrm>
            <a:off x="7419238" y="236366"/>
            <a:ext cx="519871" cy="149245"/>
          </a:xfrm>
          <a:prstGeom prst="rect">
            <a:avLst/>
          </a:prstGeom>
          <a:pattFill prst="diagBrick">
            <a:fgClr>
              <a:schemeClr val="accent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F84C6-ECC1-7994-47B4-8E5E876DE98A}"/>
              </a:ext>
            </a:extLst>
          </p:cNvPr>
          <p:cNvSpPr txBox="1"/>
          <p:nvPr/>
        </p:nvSpPr>
        <p:spPr>
          <a:xfrm>
            <a:off x="7969873" y="196528"/>
            <a:ext cx="12650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Only for Test DR Purposes</a:t>
            </a:r>
            <a:endParaRPr lang="it-IT" sz="800"/>
          </a:p>
        </p:txBody>
      </p:sp>
    </p:spTree>
    <p:extLst>
      <p:ext uri="{BB962C8B-B14F-4D97-AF65-F5344CB8AC3E}">
        <p14:creationId xmlns:p14="http://schemas.microsoft.com/office/powerpoint/2010/main" val="2787636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661CC52E-BA34-4986-81FD-4BDD57D9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76" y="2305789"/>
            <a:ext cx="11182248" cy="1298575"/>
          </a:xfrm>
        </p:spPr>
        <p:txBody>
          <a:bodyPr/>
          <a:lstStyle/>
          <a:p>
            <a:pPr algn="ctr"/>
            <a:r>
              <a:rPr lang="it-IT" sz="3600" b="1"/>
              <a:t>Architettura per Servizio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3159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A9A467-DA4B-935C-60F9-8C80A7B74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491" y="328269"/>
            <a:ext cx="11182248" cy="425095"/>
          </a:xfrm>
        </p:spPr>
        <p:txBody>
          <a:bodyPr/>
          <a:lstStyle/>
          <a:p>
            <a:r>
              <a:rPr lang="it-IT"/>
              <a:t>Data Discovery Tool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E36767B-B6D6-4031-54FC-0025CFA37A19}"/>
              </a:ext>
            </a:extLst>
          </p:cNvPr>
          <p:cNvSpPr/>
          <p:nvPr/>
        </p:nvSpPr>
        <p:spPr>
          <a:xfrm>
            <a:off x="5339080" y="1739200"/>
            <a:ext cx="1513840" cy="1031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Portale</a:t>
            </a:r>
          </a:p>
          <a:p>
            <a:pPr algn="ctr"/>
            <a:r>
              <a:rPr lang="it-IT"/>
              <a:t>(DDT &amp; Monitoring)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74882D8-D842-FCDE-2287-767E26E6A0C1}"/>
              </a:ext>
            </a:extLst>
          </p:cNvPr>
          <p:cNvSpPr/>
          <p:nvPr/>
        </p:nvSpPr>
        <p:spPr>
          <a:xfrm>
            <a:off x="3224171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Application Gateway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4A6913-6947-8FF0-8392-F89A71B88333}"/>
              </a:ext>
            </a:extLst>
          </p:cNvPr>
          <p:cNvSpPr/>
          <p:nvPr/>
        </p:nvSpPr>
        <p:spPr>
          <a:xfrm>
            <a:off x="1109262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Imperva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FDD51D3-397D-5E19-D733-5B5B1810B0A7}"/>
              </a:ext>
            </a:extLst>
          </p:cNvPr>
          <p:cNvSpPr/>
          <p:nvPr/>
        </p:nvSpPr>
        <p:spPr>
          <a:xfrm>
            <a:off x="5339080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SQL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E95E8E1-E35A-A6F0-CEB2-619ABF3EE577}"/>
              </a:ext>
            </a:extLst>
          </p:cNvPr>
          <p:cNvSpPr/>
          <p:nvPr/>
        </p:nvSpPr>
        <p:spPr>
          <a:xfrm>
            <a:off x="8055059" y="230871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Storage Account </a:t>
            </a:r>
            <a:r>
              <a:rPr lang="it-IT" err="1"/>
              <a:t>Datalake</a:t>
            </a:r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DEDB18B-DE37-6CCB-CC1E-E6E3EBE11C63}"/>
              </a:ext>
            </a:extLst>
          </p:cNvPr>
          <p:cNvSpPr/>
          <p:nvPr/>
        </p:nvSpPr>
        <p:spPr>
          <a:xfrm>
            <a:off x="10410837" y="730514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Teams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34EA218-73F3-899B-BC49-0AF9DB6C8748}"/>
              </a:ext>
            </a:extLst>
          </p:cNvPr>
          <p:cNvSpPr/>
          <p:nvPr/>
        </p:nvSpPr>
        <p:spPr>
          <a:xfrm>
            <a:off x="8055059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Synapse</a:t>
            </a:r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9BB800E-15C6-E2AA-192A-C8F9DD9502E5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 flipV="1">
            <a:off x="4738011" y="2250248"/>
            <a:ext cx="601069" cy="4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9F5441D-9EFD-1957-B99C-7B0FB28E5ACA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2623102" y="225024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BE8E2086-386D-771C-1356-EA589778461E}"/>
              </a:ext>
            </a:extLst>
          </p:cNvPr>
          <p:cNvSpPr/>
          <p:nvPr/>
        </p:nvSpPr>
        <p:spPr>
          <a:xfrm>
            <a:off x="8055059" y="730514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Power </a:t>
            </a:r>
            <a:r>
              <a:rPr lang="it-IT" err="1"/>
              <a:t>Automate</a:t>
            </a:r>
            <a:endParaRPr lang="it-IT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C00B7C3-6148-84C5-3021-26D4E7EE7E38}"/>
              </a:ext>
            </a:extLst>
          </p:cNvPr>
          <p:cNvCxnSpPr>
            <a:cxnSpLocks/>
            <a:stCxn id="10" idx="1"/>
            <a:endCxn id="14" idx="3"/>
          </p:cNvCxnSpPr>
          <p:nvPr/>
        </p:nvCxnSpPr>
        <p:spPr>
          <a:xfrm flipH="1">
            <a:off x="9568899" y="1131834"/>
            <a:ext cx="8419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CA8998F6-1AE5-667A-A742-81E08411543B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811979" y="1533154"/>
            <a:ext cx="0" cy="77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0BD510B-0C25-1A1C-3D5A-AAE3471F3D7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8811979" y="3111356"/>
            <a:ext cx="0" cy="119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E8E239C-D16C-9D4C-05FD-BB1F9B8063CD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6852920" y="4708393"/>
            <a:ext cx="1202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35C3164-09F5-B10B-E207-F83D90A31CD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2770632"/>
            <a:ext cx="0" cy="15364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122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A9A467-DA4B-935C-60F9-8C80A7B74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491" y="328269"/>
            <a:ext cx="11182248" cy="425095"/>
          </a:xfrm>
        </p:spPr>
        <p:txBody>
          <a:bodyPr/>
          <a:lstStyle/>
          <a:p>
            <a:r>
              <a:rPr lang="it-IT"/>
              <a:t>GDPP Dashboard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E36767B-B6D6-4031-54FC-0025CFA37A19}"/>
              </a:ext>
            </a:extLst>
          </p:cNvPr>
          <p:cNvSpPr/>
          <p:nvPr/>
        </p:nvSpPr>
        <p:spPr>
          <a:xfrm>
            <a:off x="5339079" y="1848928"/>
            <a:ext cx="2114911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Portale</a:t>
            </a:r>
          </a:p>
          <a:p>
            <a:pPr algn="ctr"/>
            <a:r>
              <a:rPr lang="it-IT"/>
              <a:t>(NEW Monitoring)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74882D8-D842-FCDE-2287-767E26E6A0C1}"/>
              </a:ext>
            </a:extLst>
          </p:cNvPr>
          <p:cNvSpPr/>
          <p:nvPr/>
        </p:nvSpPr>
        <p:spPr>
          <a:xfrm>
            <a:off x="3224171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Application Gateway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4A6913-6947-8FF0-8392-F89A71B88333}"/>
              </a:ext>
            </a:extLst>
          </p:cNvPr>
          <p:cNvSpPr/>
          <p:nvPr/>
        </p:nvSpPr>
        <p:spPr>
          <a:xfrm>
            <a:off x="1109262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Imperva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FDD51D3-397D-5E19-D733-5B5B1810B0A7}"/>
              </a:ext>
            </a:extLst>
          </p:cNvPr>
          <p:cNvSpPr/>
          <p:nvPr/>
        </p:nvSpPr>
        <p:spPr>
          <a:xfrm>
            <a:off x="5639614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SQL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E95E8E1-E35A-A6F0-CEB2-619ABF3EE577}"/>
              </a:ext>
            </a:extLst>
          </p:cNvPr>
          <p:cNvSpPr/>
          <p:nvPr/>
        </p:nvSpPr>
        <p:spPr>
          <a:xfrm>
            <a:off x="8055059" y="230871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Storage Account </a:t>
            </a:r>
            <a:r>
              <a:rPr lang="it-IT" err="1"/>
              <a:t>Datalake</a:t>
            </a:r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34EA218-73F3-899B-BC49-0AF9DB6C8748}"/>
              </a:ext>
            </a:extLst>
          </p:cNvPr>
          <p:cNvSpPr/>
          <p:nvPr/>
        </p:nvSpPr>
        <p:spPr>
          <a:xfrm>
            <a:off x="8055059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Databricks</a:t>
            </a:r>
            <a:endParaRPr lang="it-IT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9BB800E-15C6-E2AA-192A-C8F9DD9502E5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4738011" y="2250248"/>
            <a:ext cx="6010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9F5441D-9EFD-1957-B99C-7B0FB28E5ACA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2623102" y="225024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0BD510B-0C25-1A1C-3D5A-AAE3471F3D7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8811979" y="3111356"/>
            <a:ext cx="0" cy="119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E8E239C-D16C-9D4C-05FD-BB1F9B8063CD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7153454" y="4708393"/>
            <a:ext cx="9016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35C3164-09F5-B10B-E207-F83D90A31CD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6396534" y="2651568"/>
            <a:ext cx="1" cy="16555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7F975003-EC49-D44B-9776-40DC9C9A6981}"/>
              </a:ext>
            </a:extLst>
          </p:cNvPr>
          <p:cNvSpPr/>
          <p:nvPr/>
        </p:nvSpPr>
        <p:spPr>
          <a:xfrm>
            <a:off x="10438595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Power BI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AFDF206-CAE6-5D3D-9BE1-0CD34E1426C0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>
            <a:off x="9568899" y="4708393"/>
            <a:ext cx="8696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3C5F80AC-843D-4EB3-C9B4-5AF4C856AE8C}"/>
              </a:ext>
            </a:extLst>
          </p:cNvPr>
          <p:cNvSpPr/>
          <p:nvPr/>
        </p:nvSpPr>
        <p:spPr>
          <a:xfrm>
            <a:off x="6895803" y="54081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GRC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01B1D95-6351-728D-0AE7-CDA9F6660D51}"/>
              </a:ext>
            </a:extLst>
          </p:cNvPr>
          <p:cNvSpPr/>
          <p:nvPr/>
        </p:nvSpPr>
        <p:spPr>
          <a:xfrm>
            <a:off x="9252271" y="54081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GDPP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0526446-4D89-26C6-BA8B-81C8105A6308}"/>
              </a:ext>
            </a:extLst>
          </p:cNvPr>
          <p:cNvCxnSpPr>
            <a:stCxn id="23" idx="2"/>
            <a:endCxn id="9" idx="0"/>
          </p:cNvCxnSpPr>
          <p:nvPr/>
        </p:nvCxnSpPr>
        <p:spPr>
          <a:xfrm>
            <a:off x="7652723" y="1343456"/>
            <a:ext cx="1159256" cy="965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ECD25A49-A512-0F6F-8516-1EA377CB0841}"/>
              </a:ext>
            </a:extLst>
          </p:cNvPr>
          <p:cNvCxnSpPr>
            <a:cxnSpLocks/>
            <a:stCxn id="24" idx="2"/>
            <a:endCxn id="34" idx="0"/>
          </p:cNvCxnSpPr>
          <p:nvPr/>
        </p:nvCxnSpPr>
        <p:spPr>
          <a:xfrm>
            <a:off x="10009191" y="1343456"/>
            <a:ext cx="842628" cy="964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tangolo 33">
            <a:extLst>
              <a:ext uri="{FF2B5EF4-FFF2-40B4-BE49-F238E27FC236}">
                <a16:creationId xmlns:a16="http://schemas.microsoft.com/office/drawing/2014/main" id="{9B72233C-9C75-0C64-037C-42A4DDAF4E01}"/>
              </a:ext>
            </a:extLst>
          </p:cNvPr>
          <p:cNvSpPr/>
          <p:nvPr/>
        </p:nvSpPr>
        <p:spPr>
          <a:xfrm>
            <a:off x="10094899" y="230809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ADF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E2233AB4-C5F6-CAE0-A315-957B42C9197B}"/>
              </a:ext>
            </a:extLst>
          </p:cNvPr>
          <p:cNvCxnSpPr>
            <a:cxnSpLocks/>
            <a:stCxn id="34" idx="2"/>
            <a:endCxn id="11" idx="0"/>
          </p:cNvCxnSpPr>
          <p:nvPr/>
        </p:nvCxnSpPr>
        <p:spPr>
          <a:xfrm flipH="1">
            <a:off x="8811979" y="3110733"/>
            <a:ext cx="2039840" cy="1196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660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A9A467-DA4B-935C-60F9-8C80A7B74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491" y="328269"/>
            <a:ext cx="11182248" cy="425095"/>
          </a:xfrm>
        </p:spPr>
        <p:txBody>
          <a:bodyPr/>
          <a:lstStyle/>
          <a:p>
            <a:r>
              <a:rPr lang="it-IT"/>
              <a:t>NEXT: </a:t>
            </a:r>
            <a:r>
              <a:rPr lang="it-IT" err="1"/>
              <a:t>Passthrough</a:t>
            </a:r>
            <a:r>
              <a:rPr lang="it-IT"/>
              <a:t> TEAM Tool (</a:t>
            </a:r>
            <a:r>
              <a:rPr lang="it-IT" err="1"/>
              <a:t>Datahub</a:t>
            </a:r>
            <a:r>
              <a:rPr lang="it-IT"/>
              <a:t> IFRS17)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E36767B-B6D6-4031-54FC-0025CFA37A19}"/>
              </a:ext>
            </a:extLst>
          </p:cNvPr>
          <p:cNvSpPr/>
          <p:nvPr/>
        </p:nvSpPr>
        <p:spPr>
          <a:xfrm>
            <a:off x="5339080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Portale</a:t>
            </a:r>
          </a:p>
          <a:p>
            <a:pPr algn="ctr"/>
            <a:r>
              <a:rPr lang="it-IT"/>
              <a:t>(Monitoring)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74882D8-D842-FCDE-2287-767E26E6A0C1}"/>
              </a:ext>
            </a:extLst>
          </p:cNvPr>
          <p:cNvSpPr/>
          <p:nvPr/>
        </p:nvSpPr>
        <p:spPr>
          <a:xfrm>
            <a:off x="3224171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Application Gateway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4A6913-6947-8FF0-8392-F89A71B88333}"/>
              </a:ext>
            </a:extLst>
          </p:cNvPr>
          <p:cNvSpPr/>
          <p:nvPr/>
        </p:nvSpPr>
        <p:spPr>
          <a:xfrm>
            <a:off x="1109262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Imperva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FDD51D3-397D-5E19-D733-5B5B1810B0A7}"/>
              </a:ext>
            </a:extLst>
          </p:cNvPr>
          <p:cNvSpPr/>
          <p:nvPr/>
        </p:nvSpPr>
        <p:spPr>
          <a:xfrm>
            <a:off x="5339080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SQL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E95E8E1-E35A-A6F0-CEB2-619ABF3EE577}"/>
              </a:ext>
            </a:extLst>
          </p:cNvPr>
          <p:cNvSpPr/>
          <p:nvPr/>
        </p:nvSpPr>
        <p:spPr>
          <a:xfrm>
            <a:off x="8055059" y="278309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Storage Account </a:t>
            </a:r>
            <a:r>
              <a:rPr lang="it-IT" err="1"/>
              <a:t>Datalake</a:t>
            </a:r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34EA218-73F3-899B-BC49-0AF9DB6C8748}"/>
              </a:ext>
            </a:extLst>
          </p:cNvPr>
          <p:cNvSpPr/>
          <p:nvPr/>
        </p:nvSpPr>
        <p:spPr>
          <a:xfrm>
            <a:off x="8055059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Informatica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9BB800E-15C6-E2AA-192A-C8F9DD9502E5}"/>
              </a:ext>
            </a:extLst>
          </p:cNvPr>
          <p:cNvCxnSpPr>
            <a:stCxn id="4" idx="1"/>
            <a:endCxn id="6" idx="3"/>
          </p:cNvCxnSpPr>
          <p:nvPr/>
        </p:nvCxnSpPr>
        <p:spPr>
          <a:xfrm flipH="1">
            <a:off x="4738011" y="225024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9F5441D-9EFD-1957-B99C-7B0FB28E5ACA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2623102" y="225024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0BD510B-0C25-1A1C-3D5A-AAE3471F3D7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8811979" y="3585733"/>
            <a:ext cx="0" cy="721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E8E239C-D16C-9D4C-05FD-BB1F9B8063CD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6852920" y="4708393"/>
            <a:ext cx="1202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35C3164-09F5-B10B-E207-F83D90A31CD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2651568"/>
            <a:ext cx="0" cy="16555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9E2759DC-2CC2-8B02-E8F7-056DBC5302F7}"/>
              </a:ext>
            </a:extLst>
          </p:cNvPr>
          <p:cNvSpPr/>
          <p:nvPr/>
        </p:nvSpPr>
        <p:spPr>
          <a:xfrm>
            <a:off x="8055059" y="141446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SFTP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2ED0950-F6B4-7E7B-BD13-D9EBE978CF09}"/>
              </a:ext>
            </a:extLst>
          </p:cNvPr>
          <p:cNvSpPr/>
          <p:nvPr/>
        </p:nvSpPr>
        <p:spPr>
          <a:xfrm>
            <a:off x="9568899" y="32494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SAP FPSL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63B0588-4421-0A4E-D341-A5AA53525358}"/>
              </a:ext>
            </a:extLst>
          </p:cNvPr>
          <p:cNvCxnSpPr>
            <a:cxnSpLocks/>
            <a:stCxn id="14" idx="1"/>
            <a:endCxn id="10" idx="0"/>
          </p:cNvCxnSpPr>
          <p:nvPr/>
        </p:nvCxnSpPr>
        <p:spPr>
          <a:xfrm flipH="1">
            <a:off x="8811979" y="726268"/>
            <a:ext cx="756920" cy="68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E86855F-D620-E56B-E5F5-E61FDEBDD21D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811979" y="2217108"/>
            <a:ext cx="0" cy="565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tangolo 31">
            <a:extLst>
              <a:ext uri="{FF2B5EF4-FFF2-40B4-BE49-F238E27FC236}">
                <a16:creationId xmlns:a16="http://schemas.microsoft.com/office/drawing/2014/main" id="{9F86B1BC-3B55-0DDF-1098-341331962D3F}"/>
              </a:ext>
            </a:extLst>
          </p:cNvPr>
          <p:cNvSpPr/>
          <p:nvPr/>
        </p:nvSpPr>
        <p:spPr>
          <a:xfrm>
            <a:off x="10443675" y="2776825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TEAM Tool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0657BCB1-6F95-C91B-B918-BFCEE78C7608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 flipV="1">
            <a:off x="9568899" y="3178145"/>
            <a:ext cx="874776" cy="6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946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A9A467-DA4B-935C-60F9-8C80A7B74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491" y="328269"/>
            <a:ext cx="11182248" cy="425095"/>
          </a:xfrm>
        </p:spPr>
        <p:txBody>
          <a:bodyPr/>
          <a:lstStyle/>
          <a:p>
            <a:r>
              <a:rPr lang="it-IT"/>
              <a:t>NEXT: </a:t>
            </a:r>
            <a:r>
              <a:rPr lang="it-IT" err="1"/>
              <a:t>Datahub</a:t>
            </a:r>
            <a:r>
              <a:rPr lang="it-IT"/>
              <a:t> IFRS9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E36767B-B6D6-4031-54FC-0025CFA37A19}"/>
              </a:ext>
            </a:extLst>
          </p:cNvPr>
          <p:cNvSpPr/>
          <p:nvPr/>
        </p:nvSpPr>
        <p:spPr>
          <a:xfrm>
            <a:off x="5339080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Portale</a:t>
            </a:r>
          </a:p>
          <a:p>
            <a:pPr algn="ctr"/>
            <a:r>
              <a:rPr lang="it-IT"/>
              <a:t>(Monitoring)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74882D8-D842-FCDE-2287-767E26E6A0C1}"/>
              </a:ext>
            </a:extLst>
          </p:cNvPr>
          <p:cNvSpPr/>
          <p:nvPr/>
        </p:nvSpPr>
        <p:spPr>
          <a:xfrm>
            <a:off x="3224171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Application Gateway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4A6913-6947-8FF0-8392-F89A71B88333}"/>
              </a:ext>
            </a:extLst>
          </p:cNvPr>
          <p:cNvSpPr/>
          <p:nvPr/>
        </p:nvSpPr>
        <p:spPr>
          <a:xfrm>
            <a:off x="1109262" y="184892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Imperva</a:t>
            </a:r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FDD51D3-397D-5E19-D733-5B5B1810B0A7}"/>
              </a:ext>
            </a:extLst>
          </p:cNvPr>
          <p:cNvSpPr/>
          <p:nvPr/>
        </p:nvSpPr>
        <p:spPr>
          <a:xfrm>
            <a:off x="5339080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SQL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E95E8E1-E35A-A6F0-CEB2-619ABF3EE577}"/>
              </a:ext>
            </a:extLst>
          </p:cNvPr>
          <p:cNvSpPr/>
          <p:nvPr/>
        </p:nvSpPr>
        <p:spPr>
          <a:xfrm>
            <a:off x="8055059" y="278309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Storage Account </a:t>
            </a:r>
            <a:r>
              <a:rPr lang="it-IT" err="1"/>
              <a:t>Datalake</a:t>
            </a:r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34EA218-73F3-899B-BC49-0AF9DB6C8748}"/>
              </a:ext>
            </a:extLst>
          </p:cNvPr>
          <p:cNvSpPr/>
          <p:nvPr/>
        </p:nvSpPr>
        <p:spPr>
          <a:xfrm>
            <a:off x="8055059" y="430707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Informatica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F9BB800E-15C6-E2AA-192A-C8F9DD9502E5}"/>
              </a:ext>
            </a:extLst>
          </p:cNvPr>
          <p:cNvCxnSpPr>
            <a:stCxn id="4" idx="1"/>
            <a:endCxn id="6" idx="3"/>
          </p:cNvCxnSpPr>
          <p:nvPr/>
        </p:nvCxnSpPr>
        <p:spPr>
          <a:xfrm flipH="1">
            <a:off x="4738011" y="225024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9F5441D-9EFD-1957-B99C-7B0FB28E5ACA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2623102" y="225024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0BD510B-0C25-1A1C-3D5A-AAE3471F3D7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8811979" y="3585733"/>
            <a:ext cx="0" cy="721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E8E239C-D16C-9D4C-05FD-BB1F9B8063CD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6852920" y="4708393"/>
            <a:ext cx="1202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F35C3164-09F5-B10B-E207-F83D90A31CD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2651568"/>
            <a:ext cx="0" cy="16555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9E2759DC-2CC2-8B02-E8F7-056DBC5302F7}"/>
              </a:ext>
            </a:extLst>
          </p:cNvPr>
          <p:cNvSpPr/>
          <p:nvPr/>
        </p:nvSpPr>
        <p:spPr>
          <a:xfrm>
            <a:off x="8055059" y="141446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Goanywhere</a:t>
            </a:r>
            <a:endParaRPr lang="it-IT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FE86855F-D620-E56B-E5F5-E61FDEBDD21D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811979" y="2217108"/>
            <a:ext cx="0" cy="565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0657BCB1-6F95-C91B-B918-BFCEE78C7608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9568899" y="3184413"/>
            <a:ext cx="641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8A3A6404-9BF1-1B12-D8C0-F7A216FBFE4F}"/>
              </a:ext>
            </a:extLst>
          </p:cNvPr>
          <p:cNvSpPr/>
          <p:nvPr/>
        </p:nvSpPr>
        <p:spPr>
          <a:xfrm>
            <a:off x="10210359" y="278309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ADM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3429ED0-A5E2-03F9-34A2-3A6997F557C1}"/>
              </a:ext>
            </a:extLst>
          </p:cNvPr>
          <p:cNvSpPr/>
          <p:nvPr/>
        </p:nvSpPr>
        <p:spPr>
          <a:xfrm>
            <a:off x="10094899" y="520160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Moody’s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F1D139FF-58B0-24FF-92EE-D37CAEEE1C53}"/>
              </a:ext>
            </a:extLst>
          </p:cNvPr>
          <p:cNvCxnSpPr>
            <a:cxnSpLocks/>
            <a:stCxn id="11" idx="3"/>
            <a:endCxn id="5" idx="0"/>
          </p:cNvCxnSpPr>
          <p:nvPr/>
        </p:nvCxnSpPr>
        <p:spPr>
          <a:xfrm>
            <a:off x="9568899" y="4708393"/>
            <a:ext cx="1282920" cy="493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676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A9A467-DA4B-935C-60F9-8C80A7B74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491" y="328269"/>
            <a:ext cx="11182248" cy="425095"/>
          </a:xfrm>
        </p:spPr>
        <p:txBody>
          <a:bodyPr/>
          <a:lstStyle/>
          <a:p>
            <a:r>
              <a:rPr lang="it-IT"/>
              <a:t>NEXT: AIR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10CCF4E2-A28E-4BCF-38E2-72636FB5448E}"/>
              </a:ext>
            </a:extLst>
          </p:cNvPr>
          <p:cNvSpPr/>
          <p:nvPr/>
        </p:nvSpPr>
        <p:spPr>
          <a:xfrm>
            <a:off x="4991569" y="2333560"/>
            <a:ext cx="1513840" cy="1031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Portale</a:t>
            </a:r>
          </a:p>
          <a:p>
            <a:pPr algn="ctr"/>
            <a:r>
              <a:rPr lang="it-IT"/>
              <a:t>(AIR &amp; Monitoring)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2E9BBC55-6923-47B0-5612-8228A87EB249}"/>
              </a:ext>
            </a:extLst>
          </p:cNvPr>
          <p:cNvSpPr/>
          <p:nvPr/>
        </p:nvSpPr>
        <p:spPr>
          <a:xfrm>
            <a:off x="2876660" y="244328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Application Gateway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DB3CCA11-AFDF-8C9A-F05B-4498EE7C97F7}"/>
              </a:ext>
            </a:extLst>
          </p:cNvPr>
          <p:cNvSpPr/>
          <p:nvPr/>
        </p:nvSpPr>
        <p:spPr>
          <a:xfrm>
            <a:off x="761751" y="244328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Imperva</a:t>
            </a:r>
            <a:endParaRPr lang="it-IT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33F06C07-EA09-9DDE-54A6-7588BD292305}"/>
              </a:ext>
            </a:extLst>
          </p:cNvPr>
          <p:cNvSpPr/>
          <p:nvPr/>
        </p:nvSpPr>
        <p:spPr>
          <a:xfrm>
            <a:off x="4991569" y="490143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SQL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3C223F4D-FCD5-F5CC-57EC-6B93655F17E6}"/>
              </a:ext>
            </a:extLst>
          </p:cNvPr>
          <p:cNvSpPr/>
          <p:nvPr/>
        </p:nvSpPr>
        <p:spPr>
          <a:xfrm>
            <a:off x="7707548" y="290307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Storage Account </a:t>
            </a:r>
            <a:r>
              <a:rPr lang="it-IT" err="1"/>
              <a:t>Datalake</a:t>
            </a:r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AB10F4A4-B545-1393-B1FD-79C00E7942C5}"/>
              </a:ext>
            </a:extLst>
          </p:cNvPr>
          <p:cNvSpPr/>
          <p:nvPr/>
        </p:nvSpPr>
        <p:spPr>
          <a:xfrm>
            <a:off x="10063326" y="1324874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Teams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96DBCD62-FA36-61F2-0802-3F27CF76041D}"/>
              </a:ext>
            </a:extLst>
          </p:cNvPr>
          <p:cNvSpPr/>
          <p:nvPr/>
        </p:nvSpPr>
        <p:spPr>
          <a:xfrm>
            <a:off x="7707548" y="490143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Informatica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2EC9DB4C-7E8B-45DC-AC28-65A6DFB1AC02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 flipV="1">
            <a:off x="4390500" y="2844608"/>
            <a:ext cx="601069" cy="4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012A17BE-7F7C-9E7E-D826-3E73B0A0E2BD}"/>
              </a:ext>
            </a:extLst>
          </p:cNvPr>
          <p:cNvCxnSpPr>
            <a:cxnSpLocks/>
            <a:stCxn id="36" idx="1"/>
            <a:endCxn id="37" idx="3"/>
          </p:cNvCxnSpPr>
          <p:nvPr/>
        </p:nvCxnSpPr>
        <p:spPr>
          <a:xfrm flipH="1">
            <a:off x="2275591" y="284460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D504FD76-47BC-96C8-C2CD-B95F4DF353F3}"/>
              </a:ext>
            </a:extLst>
          </p:cNvPr>
          <p:cNvSpPr/>
          <p:nvPr/>
        </p:nvSpPr>
        <p:spPr>
          <a:xfrm>
            <a:off x="7707548" y="1324874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Power </a:t>
            </a:r>
            <a:r>
              <a:rPr lang="it-IT" err="1"/>
              <a:t>Automate</a:t>
            </a:r>
            <a:endParaRPr lang="it-IT"/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193C0AF1-8CA7-6597-B2FE-D7EF54D6148C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flipH="1">
            <a:off x="9221388" y="1726194"/>
            <a:ext cx="8419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FF61EBA-DDA4-AC85-1877-965C5CF51ECF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>
          <a:xfrm>
            <a:off x="8464468" y="2127514"/>
            <a:ext cx="0" cy="77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8FDC7182-B68A-60C9-35EC-296075E3ACFA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8464468" y="3705716"/>
            <a:ext cx="0" cy="119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57E2E281-C487-4370-5A2E-5AF707504929}"/>
              </a:ext>
            </a:extLst>
          </p:cNvPr>
          <p:cNvCxnSpPr>
            <a:cxnSpLocks/>
            <a:stCxn id="41" idx="1"/>
            <a:endCxn id="38" idx="3"/>
          </p:cNvCxnSpPr>
          <p:nvPr/>
        </p:nvCxnSpPr>
        <p:spPr>
          <a:xfrm flipH="1">
            <a:off x="6505409" y="5302753"/>
            <a:ext cx="1202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F5B8DD9D-5438-886B-40FD-7413D90994DD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5748489" y="3364992"/>
            <a:ext cx="0" cy="15364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728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A9A467-DA4B-935C-60F9-8C80A7B74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491" y="328269"/>
            <a:ext cx="11182248" cy="425095"/>
          </a:xfrm>
        </p:spPr>
        <p:txBody>
          <a:bodyPr/>
          <a:lstStyle/>
          <a:p>
            <a:r>
              <a:rPr lang="it-IT"/>
              <a:t>NEXT: </a:t>
            </a:r>
            <a:r>
              <a:rPr lang="it-IT" err="1"/>
              <a:t>Opti.Mo</a:t>
            </a:r>
            <a:endParaRPr lang="it-IT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10CCF4E2-A28E-4BCF-38E2-72636FB5448E}"/>
              </a:ext>
            </a:extLst>
          </p:cNvPr>
          <p:cNvSpPr/>
          <p:nvPr/>
        </p:nvSpPr>
        <p:spPr>
          <a:xfrm>
            <a:off x="4991569" y="2333560"/>
            <a:ext cx="1513840" cy="1031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Portale</a:t>
            </a:r>
          </a:p>
          <a:p>
            <a:pPr algn="ctr"/>
            <a:r>
              <a:rPr lang="it-IT"/>
              <a:t>(</a:t>
            </a:r>
            <a:r>
              <a:rPr lang="it-IT" err="1"/>
              <a:t>Opti.Mo</a:t>
            </a:r>
            <a:r>
              <a:rPr lang="it-IT"/>
              <a:t> &amp; Monitoring)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2E9BBC55-6923-47B0-5612-8228A87EB249}"/>
              </a:ext>
            </a:extLst>
          </p:cNvPr>
          <p:cNvSpPr/>
          <p:nvPr/>
        </p:nvSpPr>
        <p:spPr>
          <a:xfrm>
            <a:off x="2876660" y="244328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Application Gateway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DB3CCA11-AFDF-8C9A-F05B-4498EE7C97F7}"/>
              </a:ext>
            </a:extLst>
          </p:cNvPr>
          <p:cNvSpPr/>
          <p:nvPr/>
        </p:nvSpPr>
        <p:spPr>
          <a:xfrm>
            <a:off x="761751" y="2443288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Imperva</a:t>
            </a:r>
            <a:endParaRPr lang="it-IT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33F06C07-EA09-9DDE-54A6-7588BD292305}"/>
              </a:ext>
            </a:extLst>
          </p:cNvPr>
          <p:cNvSpPr/>
          <p:nvPr/>
        </p:nvSpPr>
        <p:spPr>
          <a:xfrm>
            <a:off x="4991569" y="490143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Azure SQL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3C223F4D-FCD5-F5CC-57EC-6B93655F17E6}"/>
              </a:ext>
            </a:extLst>
          </p:cNvPr>
          <p:cNvSpPr/>
          <p:nvPr/>
        </p:nvSpPr>
        <p:spPr>
          <a:xfrm>
            <a:off x="7707548" y="2903076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Storage Account </a:t>
            </a:r>
            <a:r>
              <a:rPr lang="it-IT" err="1"/>
              <a:t>Datalake</a:t>
            </a:r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AB10F4A4-B545-1393-B1FD-79C00E7942C5}"/>
              </a:ext>
            </a:extLst>
          </p:cNvPr>
          <p:cNvSpPr/>
          <p:nvPr/>
        </p:nvSpPr>
        <p:spPr>
          <a:xfrm>
            <a:off x="10063326" y="1324874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Teams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96DBCD62-FA36-61F2-0802-3F27CF76041D}"/>
              </a:ext>
            </a:extLst>
          </p:cNvPr>
          <p:cNvSpPr/>
          <p:nvPr/>
        </p:nvSpPr>
        <p:spPr>
          <a:xfrm>
            <a:off x="7707548" y="490143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/>
              <a:t>Synapse</a:t>
            </a:r>
            <a:endParaRPr lang="it-IT"/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2EC9DB4C-7E8B-45DC-AC28-65A6DFB1AC02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 flipV="1">
            <a:off x="4390500" y="2844608"/>
            <a:ext cx="601069" cy="4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012A17BE-7F7C-9E7E-D826-3E73B0A0E2BD}"/>
              </a:ext>
            </a:extLst>
          </p:cNvPr>
          <p:cNvCxnSpPr>
            <a:cxnSpLocks/>
            <a:stCxn id="36" idx="1"/>
            <a:endCxn id="37" idx="3"/>
          </p:cNvCxnSpPr>
          <p:nvPr/>
        </p:nvCxnSpPr>
        <p:spPr>
          <a:xfrm flipH="1">
            <a:off x="2275591" y="2844608"/>
            <a:ext cx="601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D504FD76-47BC-96C8-C2CD-B95F4DF353F3}"/>
              </a:ext>
            </a:extLst>
          </p:cNvPr>
          <p:cNvSpPr/>
          <p:nvPr/>
        </p:nvSpPr>
        <p:spPr>
          <a:xfrm>
            <a:off x="7707548" y="1324874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Power </a:t>
            </a:r>
            <a:r>
              <a:rPr lang="it-IT" err="1"/>
              <a:t>Automate</a:t>
            </a:r>
            <a:endParaRPr lang="it-IT"/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193C0AF1-8CA7-6597-B2FE-D7EF54D6148C}"/>
              </a:ext>
            </a:extLst>
          </p:cNvPr>
          <p:cNvCxnSpPr>
            <a:cxnSpLocks/>
            <a:stCxn id="40" idx="1"/>
            <a:endCxn id="44" idx="3"/>
          </p:cNvCxnSpPr>
          <p:nvPr/>
        </p:nvCxnSpPr>
        <p:spPr>
          <a:xfrm flipH="1">
            <a:off x="9221388" y="1726194"/>
            <a:ext cx="8419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FF61EBA-DDA4-AC85-1877-965C5CF51ECF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>
          <a:xfrm>
            <a:off x="8464468" y="2127514"/>
            <a:ext cx="0" cy="77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8FDC7182-B68A-60C9-35EC-296075E3ACFA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8464468" y="3705716"/>
            <a:ext cx="0" cy="11957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57E2E281-C487-4370-5A2E-5AF707504929}"/>
              </a:ext>
            </a:extLst>
          </p:cNvPr>
          <p:cNvCxnSpPr>
            <a:cxnSpLocks/>
            <a:stCxn id="41" idx="1"/>
            <a:endCxn id="38" idx="3"/>
          </p:cNvCxnSpPr>
          <p:nvPr/>
        </p:nvCxnSpPr>
        <p:spPr>
          <a:xfrm flipH="1">
            <a:off x="6505409" y="5302753"/>
            <a:ext cx="1202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F5B8DD9D-5438-886B-40FD-7413D90994DD}"/>
              </a:ext>
            </a:extLst>
          </p:cNvPr>
          <p:cNvCxnSpPr>
            <a:cxnSpLocks/>
            <a:stCxn id="35" idx="2"/>
            <a:endCxn id="38" idx="0"/>
          </p:cNvCxnSpPr>
          <p:nvPr/>
        </p:nvCxnSpPr>
        <p:spPr>
          <a:xfrm>
            <a:off x="5748489" y="3364992"/>
            <a:ext cx="0" cy="15364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A00191CC-3ADB-695A-C69F-4DCB45C9AA51}"/>
              </a:ext>
            </a:extLst>
          </p:cNvPr>
          <p:cNvSpPr/>
          <p:nvPr/>
        </p:nvSpPr>
        <p:spPr>
          <a:xfrm>
            <a:off x="10063326" y="4901433"/>
            <a:ext cx="1513840" cy="802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Power Bi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68BB86E7-E59F-9087-04CA-44DFFE21005B}"/>
              </a:ext>
            </a:extLst>
          </p:cNvPr>
          <p:cNvCxnSpPr>
            <a:cxnSpLocks/>
            <a:stCxn id="41" idx="3"/>
            <a:endCxn id="2" idx="1"/>
          </p:cNvCxnSpPr>
          <p:nvPr/>
        </p:nvCxnSpPr>
        <p:spPr>
          <a:xfrm>
            <a:off x="9221388" y="5302753"/>
            <a:ext cx="8419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936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>
          <a:xfrm>
            <a:off x="5092677" y="763132"/>
            <a:ext cx="3165530" cy="5977302"/>
            <a:chOff x="3109159" y="1004477"/>
            <a:chExt cx="2268965" cy="3824287"/>
          </a:xfrm>
        </p:grpSpPr>
        <p:sp>
          <p:nvSpPr>
            <p:cNvPr id="162" name="Rectangle 161"/>
            <p:cNvSpPr/>
            <p:nvPr/>
          </p:nvSpPr>
          <p:spPr>
            <a:xfrm>
              <a:off x="3109159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612500" y="1004478"/>
              <a:ext cx="1249180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 (DM)</a:t>
              </a:r>
            </a:p>
          </p:txBody>
        </p:sp>
      </p:grpSp>
      <p:sp>
        <p:nvSpPr>
          <p:cNvPr id="199" name="Rectangle 198"/>
          <p:cNvSpPr/>
          <p:nvPr/>
        </p:nvSpPr>
        <p:spPr>
          <a:xfrm>
            <a:off x="6154902" y="1131842"/>
            <a:ext cx="1919356" cy="3208863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6505289" y="1159412"/>
            <a:ext cx="1218603" cy="47424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Bulk / Batch ETL</a:t>
            </a:r>
          </a:p>
        </p:txBody>
      </p:sp>
      <p:pic>
        <p:nvPicPr>
          <p:cNvPr id="166" name="Picture 1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738" y="1717704"/>
            <a:ext cx="304729" cy="304729"/>
          </a:xfrm>
          <a:prstGeom prst="rect">
            <a:avLst/>
          </a:prstGeom>
        </p:spPr>
      </p:pic>
      <p:grpSp>
        <p:nvGrpSpPr>
          <p:cNvPr id="167" name="Group 166"/>
          <p:cNvGrpSpPr/>
          <p:nvPr/>
        </p:nvGrpSpPr>
        <p:grpSpPr>
          <a:xfrm>
            <a:off x="6253685" y="1633492"/>
            <a:ext cx="1733892" cy="2603418"/>
            <a:chOff x="7781673" y="3379917"/>
            <a:chExt cx="1919355" cy="1005840"/>
          </a:xfrm>
        </p:grpSpPr>
        <p:sp>
          <p:nvSpPr>
            <p:cNvPr id="168" name="Rectangle 167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8298457" y="3396022"/>
              <a:ext cx="885813" cy="154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DEI,</a:t>
              </a:r>
              <a:r>
                <a:rPr kumimoji="0" lang="en-US" sz="1000" b="1" i="0" u="none" strike="noStrike" kern="0" cap="none" spc="0" normalizeH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DEQ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57006" y="2101425"/>
            <a:ext cx="1515147" cy="830997"/>
            <a:chOff x="5711660" y="4176667"/>
            <a:chExt cx="1515147" cy="83099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PROD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:10.4.1.3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16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128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384 Gb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1908204" y="763132"/>
            <a:ext cx="3076546" cy="5977302"/>
            <a:chOff x="3102605" y="1004477"/>
            <a:chExt cx="2268965" cy="3824287"/>
          </a:xfrm>
        </p:grpSpPr>
        <p:sp>
          <p:nvSpPr>
            <p:cNvPr id="273" name="Rectangle 272"/>
            <p:cNvSpPr/>
            <p:nvPr/>
          </p:nvSpPr>
          <p:spPr>
            <a:xfrm>
              <a:off x="3102605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0845" y="1004478"/>
              <a:ext cx="1552493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err="1">
                  <a:solidFill>
                    <a:srgbClr val="0070C0"/>
                  </a:solidFill>
                  <a:latin typeface="Calibri" panose="020F0502020204030204"/>
                </a:rPr>
                <a:t>Metad</a:t>
              </a:r>
              <a:r>
                <a:rPr kumimoji="0" lang="en-US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ata</a:t>
              </a: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Management (MM)</a:t>
              </a:r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4122901" y="1133824"/>
            <a:ext cx="1919356" cy="2649916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4313793" y="1161393"/>
            <a:ext cx="15376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DM : Data Quality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MM : Data Directory,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Elements,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Rules Management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Semantic Framework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221684" y="2168872"/>
            <a:ext cx="1733892" cy="1446700"/>
            <a:chOff x="4221684" y="2821482"/>
            <a:chExt cx="1733892" cy="1446700"/>
          </a:xfrm>
        </p:grpSpPr>
        <p:pic>
          <p:nvPicPr>
            <p:cNvPr id="246" name="Picture 2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5737" y="2905695"/>
              <a:ext cx="304729" cy="304729"/>
            </a:xfrm>
            <a:prstGeom prst="rect">
              <a:avLst/>
            </a:prstGeom>
          </p:spPr>
        </p:pic>
        <p:grpSp>
          <p:nvGrpSpPr>
            <p:cNvPr id="247" name="Group 246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248" name="Rectangle 247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>
                <a:off x="8298456" y="3396022"/>
                <a:ext cx="885813" cy="173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endParaRPr lang="en-US" sz="1000" b="1" kern="0" noProof="0">
                  <a:solidFill>
                    <a:srgbClr val="0070C0"/>
                  </a:solidFill>
                  <a:latin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AXON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251" name="Group 250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252" name="Picture 25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253" name="Rectangle 252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264" name="TextBox 263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PROD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:7.2.2.2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320 Gb</a:t>
                </a: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grpSp>
        <p:nvGrpSpPr>
          <p:cNvPr id="366" name="Group 365"/>
          <p:cNvGrpSpPr/>
          <p:nvPr/>
        </p:nvGrpSpPr>
        <p:grpSpPr>
          <a:xfrm>
            <a:off x="8303914" y="757338"/>
            <a:ext cx="2268965" cy="5983096"/>
            <a:chOff x="300960" y="993148"/>
            <a:chExt cx="2268965" cy="3835616"/>
          </a:xfrm>
        </p:grpSpPr>
        <p:sp>
          <p:nvSpPr>
            <p:cNvPr id="367" name="Rectangle 366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561655" y="993148"/>
              <a:ext cx="1747594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Application and Services</a:t>
              </a:r>
            </a:p>
          </p:txBody>
        </p:sp>
      </p:grpSp>
      <p:sp>
        <p:nvSpPr>
          <p:cNvPr id="338" name="Rectangle 337"/>
          <p:cNvSpPr/>
          <p:nvPr/>
        </p:nvSpPr>
        <p:spPr>
          <a:xfrm>
            <a:off x="8475267" y="1138394"/>
            <a:ext cx="1919356" cy="3202312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8913830" y="1165963"/>
            <a:ext cx="10422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Master Data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Management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40" name="Picture 3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103" y="1711555"/>
            <a:ext cx="304729" cy="304729"/>
          </a:xfrm>
          <a:prstGeom prst="rect">
            <a:avLst/>
          </a:prstGeom>
        </p:spPr>
      </p:pic>
      <p:grpSp>
        <p:nvGrpSpPr>
          <p:cNvPr id="341" name="Group 340"/>
          <p:cNvGrpSpPr/>
          <p:nvPr/>
        </p:nvGrpSpPr>
        <p:grpSpPr>
          <a:xfrm>
            <a:off x="8574050" y="1627344"/>
            <a:ext cx="1733892" cy="1371916"/>
            <a:chOff x="7781673" y="3379917"/>
            <a:chExt cx="1919355" cy="612722"/>
          </a:xfrm>
        </p:grpSpPr>
        <p:sp>
          <p:nvSpPr>
            <p:cNvPr id="364" name="Rectangle 363"/>
            <p:cNvSpPr/>
            <p:nvPr/>
          </p:nvSpPr>
          <p:spPr>
            <a:xfrm>
              <a:off x="7781673" y="3379917"/>
              <a:ext cx="1919355" cy="612722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8298460" y="3396022"/>
              <a:ext cx="885813" cy="126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MDM</a:t>
              </a:r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8677371" y="2095276"/>
            <a:ext cx="1515147" cy="830997"/>
            <a:chOff x="5711660" y="4176667"/>
            <a:chExt cx="1515147" cy="830997"/>
          </a:xfrm>
        </p:grpSpPr>
        <p:pic>
          <p:nvPicPr>
            <p:cNvPr id="360" name="Picture 35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61" name="Rectangle 36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PROD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32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256 Gb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451133" y="179327"/>
            <a:ext cx="11182248" cy="425095"/>
          </a:xfrm>
        </p:spPr>
        <p:txBody>
          <a:bodyPr>
            <a:normAutofit fontScale="90000"/>
          </a:bodyPr>
          <a:lstStyle/>
          <a:p>
            <a:r>
              <a:rPr lang="it-IT"/>
              <a:t>Microsoft Enhanced Scenario : Focus on </a:t>
            </a:r>
            <a:r>
              <a:rPr lang="it-IT" err="1"/>
              <a:t>components</a:t>
            </a:r>
            <a:r>
              <a:rPr lang="it-IT"/>
              <a:t>, PROD</a:t>
            </a:r>
            <a:endParaRPr lang="en-US"/>
          </a:p>
        </p:txBody>
      </p:sp>
      <p:grpSp>
        <p:nvGrpSpPr>
          <p:cNvPr id="370" name="Group 369"/>
          <p:cNvGrpSpPr/>
          <p:nvPr/>
        </p:nvGrpSpPr>
        <p:grpSpPr>
          <a:xfrm>
            <a:off x="6357006" y="3265821"/>
            <a:ext cx="1515147" cy="830997"/>
            <a:chOff x="5711660" y="4176667"/>
            <a:chExt cx="1515147" cy="830997"/>
          </a:xfrm>
        </p:grpSpPr>
        <p:sp>
          <p:nvSpPr>
            <p:cNvPr id="372" name="Rectangle 371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PROD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5.5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lts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ND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5749961" y="4580183"/>
              <a:ext cx="391782" cy="338554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endPara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353817" y="3022610"/>
            <a:ext cx="1518335" cy="24622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Databricks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083008" y="1131842"/>
            <a:ext cx="1919356" cy="4121570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2246652" y="1159412"/>
            <a:ext cx="159210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Lineage +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Metadata Intelligence</a:t>
            </a:r>
          </a:p>
        </p:txBody>
      </p:sp>
      <p:pic>
        <p:nvPicPr>
          <p:cNvPr id="283" name="Picture 2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44" y="1705004"/>
            <a:ext cx="304729" cy="304729"/>
          </a:xfrm>
          <a:prstGeom prst="rect">
            <a:avLst/>
          </a:prstGeom>
        </p:spPr>
      </p:pic>
      <p:grpSp>
        <p:nvGrpSpPr>
          <p:cNvPr id="284" name="Group 283"/>
          <p:cNvGrpSpPr/>
          <p:nvPr/>
        </p:nvGrpSpPr>
        <p:grpSpPr>
          <a:xfrm>
            <a:off x="2181791" y="1620792"/>
            <a:ext cx="1733892" cy="3442928"/>
            <a:chOff x="7781673" y="3379917"/>
            <a:chExt cx="1919355" cy="1005840"/>
          </a:xfrm>
        </p:grpSpPr>
        <p:sp>
          <p:nvSpPr>
            <p:cNvPr id="314" name="Rectangle 313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7945341" y="3396022"/>
              <a:ext cx="1592051" cy="173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Enterprise Data Catalog</a:t>
              </a:r>
            </a:p>
          </p:txBody>
        </p:sp>
      </p:grpSp>
      <p:grpSp>
        <p:nvGrpSpPr>
          <p:cNvPr id="285" name="Group 284"/>
          <p:cNvGrpSpPr/>
          <p:nvPr/>
        </p:nvGrpSpPr>
        <p:grpSpPr>
          <a:xfrm>
            <a:off x="2285112" y="2088725"/>
            <a:ext cx="1515147" cy="830997"/>
            <a:chOff x="5711660" y="4176667"/>
            <a:chExt cx="1515147" cy="830997"/>
          </a:xfrm>
        </p:grpSpPr>
        <p:pic>
          <p:nvPicPr>
            <p:cNvPr id="310" name="Picture 30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11" name="Rectangle 31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PROD/IDM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16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64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512 Gb</a:t>
              </a: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304" name="Group 303"/>
          <p:cNvGrpSpPr/>
          <p:nvPr/>
        </p:nvGrpSpPr>
        <p:grpSpPr>
          <a:xfrm>
            <a:off x="2285463" y="2972791"/>
            <a:ext cx="1553293" cy="830997"/>
            <a:chOff x="5711660" y="4176667"/>
            <a:chExt cx="1553293" cy="830997"/>
          </a:xfrm>
        </p:grpSpPr>
        <p:pic>
          <p:nvPicPr>
            <p:cNvPr id="306" name="Picture 30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07" name="Rectangle 306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6109901" y="4176667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PROD/MDP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16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64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 Tb</a:t>
              </a: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85112" y="3891706"/>
            <a:ext cx="1515147" cy="1074207"/>
            <a:chOff x="368956" y="4264291"/>
            <a:chExt cx="1515147" cy="1074207"/>
          </a:xfrm>
        </p:grpSpPr>
        <p:grpSp>
          <p:nvGrpSpPr>
            <p:cNvPr id="375" name="Group 374"/>
            <p:cNvGrpSpPr/>
            <p:nvPr/>
          </p:nvGrpSpPr>
          <p:grpSpPr>
            <a:xfrm>
              <a:off x="368956" y="4507501"/>
              <a:ext cx="1515147" cy="830997"/>
              <a:chOff x="5711660" y="4176667"/>
              <a:chExt cx="1515147" cy="830997"/>
            </a:xfrm>
          </p:grpSpPr>
          <p:pic>
            <p:nvPicPr>
              <p:cNvPr id="376" name="Picture 37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377" name="Rectangle 376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378" name="TextBox 377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PROD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:ND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1 Tb</a:t>
                </a:r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sp>
          <p:nvSpPr>
            <p:cNvPr id="380" name="TextBox 379"/>
            <p:cNvSpPr txBox="1"/>
            <p:nvPr/>
          </p:nvSpPr>
          <p:spPr>
            <a:xfrm>
              <a:off x="368956" y="4264291"/>
              <a:ext cx="1515147" cy="24622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Hadoop Cluster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100386" y="2168872"/>
            <a:ext cx="1733892" cy="1446700"/>
            <a:chOff x="4221684" y="2821482"/>
            <a:chExt cx="1733892" cy="1446700"/>
          </a:xfrm>
        </p:grpSpPr>
        <p:grpSp>
          <p:nvGrpSpPr>
            <p:cNvPr id="98" name="Group 97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8040273" y="3396022"/>
                <a:ext cx="1402183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DEVELOPMENT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VMs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00" name="Picture 9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01" name="Rectangle 100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Windows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</p:grpSp>
      <p:pic>
        <p:nvPicPr>
          <p:cNvPr id="118" name="Picture 1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76" y="5278104"/>
            <a:ext cx="284920" cy="284920"/>
          </a:xfrm>
          <a:prstGeom prst="rect">
            <a:avLst/>
          </a:prstGeom>
        </p:spPr>
      </p:pic>
      <p:sp>
        <p:nvSpPr>
          <p:cNvPr id="119" name="Rectangle 118"/>
          <p:cNvSpPr/>
          <p:nvPr/>
        </p:nvSpPr>
        <p:spPr>
          <a:xfrm>
            <a:off x="4337544" y="5217797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735785" y="5217797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PROD</a:t>
            </a:r>
            <a:endParaRPr lang="en-US" sz="800" b="0">
              <a:solidFill>
                <a:prstClr val="black"/>
              </a:solidFill>
              <a:latin typeface="Calibri" panose="020F0502020204030204"/>
            </a:endParaRP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3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250 Gb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75845" y="5621313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32260" y="4964185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SQL</a:t>
            </a:r>
          </a:p>
        </p:txBody>
      </p:sp>
      <p:cxnSp>
        <p:nvCxnSpPr>
          <p:cNvPr id="123" name="Elbow Connector 122"/>
          <p:cNvCxnSpPr>
            <a:stCxn id="277" idx="2"/>
            <a:endCxn id="119" idx="1"/>
          </p:cNvCxnSpPr>
          <p:nvPr/>
        </p:nvCxnSpPr>
        <p:spPr>
          <a:xfrm rot="16200000" flipH="1">
            <a:off x="3500173" y="4795925"/>
            <a:ext cx="379884" cy="1294858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28" name="Elbow Connector 127"/>
          <p:cNvCxnSpPr>
            <a:endCxn id="122" idx="0"/>
          </p:cNvCxnSpPr>
          <p:nvPr/>
        </p:nvCxnSpPr>
        <p:spPr>
          <a:xfrm rot="10800000" flipV="1">
            <a:off x="5091827" y="3873927"/>
            <a:ext cx="1265180" cy="1090257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grpSp>
        <p:nvGrpSpPr>
          <p:cNvPr id="95" name="Group 94"/>
          <p:cNvGrpSpPr/>
          <p:nvPr/>
        </p:nvGrpSpPr>
        <p:grpSpPr>
          <a:xfrm>
            <a:off x="8680950" y="3192553"/>
            <a:ext cx="1558577" cy="1084609"/>
            <a:chOff x="10183434" y="4125482"/>
            <a:chExt cx="1558577" cy="1084609"/>
          </a:xfrm>
        </p:grpSpPr>
        <p:pic>
          <p:nvPicPr>
            <p:cNvPr id="96" name="Picture 9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0450" y="4439401"/>
              <a:ext cx="284920" cy="284920"/>
            </a:xfrm>
            <a:prstGeom prst="rect">
              <a:avLst/>
            </a:prstGeom>
          </p:spPr>
        </p:pic>
        <p:sp>
          <p:nvSpPr>
            <p:cNvPr id="106" name="Rectangle 105"/>
            <p:cNvSpPr/>
            <p:nvPr/>
          </p:nvSpPr>
          <p:spPr>
            <a:xfrm>
              <a:off x="10188718" y="4379094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0586959" y="4379094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PROD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32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2 Tb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227019" y="4782610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0183434" y="4125482"/>
              <a:ext cx="1519133" cy="25361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SQL Server</a:t>
              </a:r>
            </a:p>
          </p:txBody>
        </p:sp>
      </p:grpSp>
      <p:cxnSp>
        <p:nvCxnSpPr>
          <p:cNvPr id="113" name="Straight Connector 112"/>
          <p:cNvCxnSpPr/>
          <p:nvPr/>
        </p:nvCxnSpPr>
        <p:spPr>
          <a:xfrm>
            <a:off x="9425810" y="2971456"/>
            <a:ext cx="9134" cy="24870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115" name="Rectangle 114"/>
          <p:cNvSpPr/>
          <p:nvPr/>
        </p:nvSpPr>
        <p:spPr>
          <a:xfrm>
            <a:off x="6365774" y="5219105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790768" y="5219105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PROD</a:t>
            </a: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5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200 Gb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4075" y="5622621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60490" y="4965493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 </a:t>
            </a:r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Datalake</a:t>
            </a:r>
            <a:endParaRPr lang="en-US" sz="1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5" name="Picture 1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443" y="5267044"/>
            <a:ext cx="338817" cy="2931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/>
          <a:srcRect r="69457" b="5102"/>
          <a:stretch/>
        </p:blipFill>
        <p:spPr>
          <a:xfrm>
            <a:off x="6420568" y="3297447"/>
            <a:ext cx="355136" cy="327049"/>
          </a:xfrm>
          <a:prstGeom prst="rect">
            <a:avLst/>
          </a:prstGeom>
        </p:spPr>
      </p:pic>
      <p:sp>
        <p:nvSpPr>
          <p:cNvPr id="137" name="Rectangle 136"/>
          <p:cNvSpPr/>
          <p:nvPr/>
        </p:nvSpPr>
        <p:spPr>
          <a:xfrm>
            <a:off x="8480839" y="4564612"/>
            <a:ext cx="1919356" cy="1888439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893756" y="4592181"/>
            <a:ext cx="109356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Custom Portal</a:t>
            </a:r>
          </a:p>
        </p:txBody>
      </p:sp>
      <p:pic>
        <p:nvPicPr>
          <p:cNvPr id="148" name="Picture 1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103" y="5010459"/>
            <a:ext cx="259756" cy="295584"/>
          </a:xfrm>
          <a:prstGeom prst="rect">
            <a:avLst/>
          </a:prstGeom>
        </p:spPr>
      </p:pic>
      <p:grpSp>
        <p:nvGrpSpPr>
          <p:cNvPr id="150" name="Group 149"/>
          <p:cNvGrpSpPr/>
          <p:nvPr/>
        </p:nvGrpSpPr>
        <p:grpSpPr>
          <a:xfrm>
            <a:off x="8558864" y="4927418"/>
            <a:ext cx="1733892" cy="1446700"/>
            <a:chOff x="4221684" y="2821482"/>
            <a:chExt cx="1733892" cy="1446700"/>
          </a:xfrm>
        </p:grpSpPr>
        <p:grpSp>
          <p:nvGrpSpPr>
            <p:cNvPr id="152" name="Group 151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58" name="Rectangle 157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8365886" y="3396022"/>
                <a:ext cx="750954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Web App</a:t>
                </a:r>
              </a:p>
            </p:txBody>
          </p:sp>
        </p:grpSp>
        <p:grpSp>
          <p:nvGrpSpPr>
            <p:cNvPr id="153" name="Group 152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54" name="Picture 15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55" name="Rectangle 154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PROD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:7.2.2.2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cxnSp>
        <p:nvCxnSpPr>
          <p:cNvPr id="160" name="Elbow Connector 159"/>
          <p:cNvCxnSpPr>
            <a:stCxn id="137" idx="2"/>
            <a:endCxn id="119" idx="2"/>
          </p:cNvCxnSpPr>
          <p:nvPr/>
        </p:nvCxnSpPr>
        <p:spPr>
          <a:xfrm rot="5400000" flipH="1">
            <a:off x="7065689" y="4078224"/>
            <a:ext cx="404257" cy="4345399"/>
          </a:xfrm>
          <a:prstGeom prst="bentConnector3">
            <a:avLst>
              <a:gd name="adj1" fmla="val -56548"/>
            </a:avLst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65" name="Straight Connector 164"/>
          <p:cNvCxnSpPr>
            <a:stCxn id="199" idx="2"/>
            <a:endCxn id="124" idx="0"/>
          </p:cNvCxnSpPr>
          <p:nvPr/>
        </p:nvCxnSpPr>
        <p:spPr>
          <a:xfrm>
            <a:off x="7114580" y="4340705"/>
            <a:ext cx="5477" cy="62478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48464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>
          <a:xfrm>
            <a:off x="5092677" y="841512"/>
            <a:ext cx="3165530" cy="5915798"/>
            <a:chOff x="3109159" y="1004477"/>
            <a:chExt cx="2268965" cy="3824287"/>
          </a:xfrm>
        </p:grpSpPr>
        <p:sp>
          <p:nvSpPr>
            <p:cNvPr id="162" name="Rectangle 161"/>
            <p:cNvSpPr/>
            <p:nvPr/>
          </p:nvSpPr>
          <p:spPr>
            <a:xfrm>
              <a:off x="3109159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612500" y="1004478"/>
              <a:ext cx="1249180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 (DM)</a:t>
              </a:r>
            </a:p>
          </p:txBody>
        </p:sp>
      </p:grpSp>
      <p:sp>
        <p:nvSpPr>
          <p:cNvPr id="199" name="Rectangle 198"/>
          <p:cNvSpPr/>
          <p:nvPr/>
        </p:nvSpPr>
        <p:spPr>
          <a:xfrm>
            <a:off x="6154902" y="1210222"/>
            <a:ext cx="1919356" cy="3208863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6505289" y="1237792"/>
            <a:ext cx="1218603" cy="47424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Bulk / Batch ETL</a:t>
            </a:r>
          </a:p>
        </p:txBody>
      </p:sp>
      <p:pic>
        <p:nvPicPr>
          <p:cNvPr id="166" name="Picture 1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738" y="1796084"/>
            <a:ext cx="304729" cy="304729"/>
          </a:xfrm>
          <a:prstGeom prst="rect">
            <a:avLst/>
          </a:prstGeom>
        </p:spPr>
      </p:pic>
      <p:grpSp>
        <p:nvGrpSpPr>
          <p:cNvPr id="167" name="Group 166"/>
          <p:cNvGrpSpPr/>
          <p:nvPr/>
        </p:nvGrpSpPr>
        <p:grpSpPr>
          <a:xfrm>
            <a:off x="6253685" y="1711872"/>
            <a:ext cx="1733892" cy="2603418"/>
            <a:chOff x="7781673" y="3379917"/>
            <a:chExt cx="1919355" cy="1005840"/>
          </a:xfrm>
        </p:grpSpPr>
        <p:sp>
          <p:nvSpPr>
            <p:cNvPr id="168" name="Rectangle 167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8298457" y="3396022"/>
              <a:ext cx="885813" cy="154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DEI,</a:t>
              </a:r>
              <a:r>
                <a:rPr kumimoji="0" lang="en-US" sz="1000" b="1" i="0" u="none" strike="noStrike" kern="0" cap="none" spc="0" normalizeH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DEQ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57006" y="2179805"/>
            <a:ext cx="1515147" cy="830997"/>
            <a:chOff x="5711660" y="4176667"/>
            <a:chExt cx="1515147" cy="83099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PreProd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:10.4.1.3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128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384 Gb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1908204" y="841512"/>
            <a:ext cx="3076546" cy="5915798"/>
            <a:chOff x="3102605" y="1004477"/>
            <a:chExt cx="2268965" cy="3824287"/>
          </a:xfrm>
        </p:grpSpPr>
        <p:sp>
          <p:nvSpPr>
            <p:cNvPr id="273" name="Rectangle 272"/>
            <p:cNvSpPr/>
            <p:nvPr/>
          </p:nvSpPr>
          <p:spPr>
            <a:xfrm>
              <a:off x="3102605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0845" y="1004478"/>
              <a:ext cx="1552493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err="1">
                  <a:solidFill>
                    <a:srgbClr val="0070C0"/>
                  </a:solidFill>
                  <a:latin typeface="Calibri" panose="020F0502020204030204"/>
                </a:rPr>
                <a:t>Metad</a:t>
              </a:r>
              <a:r>
                <a:rPr kumimoji="0" lang="en-US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ata</a:t>
              </a: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Management (MM)</a:t>
              </a:r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4122901" y="1212204"/>
            <a:ext cx="1919356" cy="2649916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4313793" y="1239773"/>
            <a:ext cx="15376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DM : Data Quality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MM : Data Directory,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Elements,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Rules Management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Semantic Framework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221684" y="2247252"/>
            <a:ext cx="1733892" cy="1446700"/>
            <a:chOff x="4221684" y="2821482"/>
            <a:chExt cx="1733892" cy="1446700"/>
          </a:xfrm>
        </p:grpSpPr>
        <p:pic>
          <p:nvPicPr>
            <p:cNvPr id="246" name="Picture 2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5737" y="2905695"/>
              <a:ext cx="304729" cy="304729"/>
            </a:xfrm>
            <a:prstGeom prst="rect">
              <a:avLst/>
            </a:prstGeom>
          </p:spPr>
        </p:pic>
        <p:grpSp>
          <p:nvGrpSpPr>
            <p:cNvPr id="247" name="Group 246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248" name="Rectangle 247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>
                <a:off x="8298456" y="3396022"/>
                <a:ext cx="885813" cy="173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endParaRPr lang="en-US" sz="1000" b="1" kern="0" noProof="0">
                  <a:solidFill>
                    <a:srgbClr val="0070C0"/>
                  </a:solidFill>
                  <a:latin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AXON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251" name="Group 250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252" name="Picture 25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253" name="Rectangle 252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264" name="TextBox 263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lang="en-US" sz="800" err="1">
                    <a:solidFill>
                      <a:prstClr val="black"/>
                    </a:solidFill>
                    <a:latin typeface="Calibri" panose="020F0502020204030204"/>
                  </a:rPr>
                  <a:t>PreProd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NA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NA</a:t>
                </a: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grpSp>
        <p:nvGrpSpPr>
          <p:cNvPr id="366" name="Group 365"/>
          <p:cNvGrpSpPr/>
          <p:nvPr/>
        </p:nvGrpSpPr>
        <p:grpSpPr>
          <a:xfrm>
            <a:off x="8303914" y="835717"/>
            <a:ext cx="2268965" cy="5922133"/>
            <a:chOff x="300960" y="993148"/>
            <a:chExt cx="2268965" cy="3835616"/>
          </a:xfrm>
        </p:grpSpPr>
        <p:sp>
          <p:nvSpPr>
            <p:cNvPr id="367" name="Rectangle 366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561655" y="993148"/>
              <a:ext cx="1747594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Application and Services</a:t>
              </a:r>
            </a:p>
          </p:txBody>
        </p:sp>
      </p:grpSp>
      <p:sp>
        <p:nvSpPr>
          <p:cNvPr id="338" name="Rectangle 337"/>
          <p:cNvSpPr/>
          <p:nvPr/>
        </p:nvSpPr>
        <p:spPr>
          <a:xfrm>
            <a:off x="8475267" y="1216773"/>
            <a:ext cx="1919356" cy="3163244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8913830" y="1244343"/>
            <a:ext cx="10422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Master Data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Management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40" name="Picture 3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103" y="1789935"/>
            <a:ext cx="304729" cy="304729"/>
          </a:xfrm>
          <a:prstGeom prst="rect">
            <a:avLst/>
          </a:prstGeom>
        </p:spPr>
      </p:pic>
      <p:grpSp>
        <p:nvGrpSpPr>
          <p:cNvPr id="341" name="Group 340"/>
          <p:cNvGrpSpPr/>
          <p:nvPr/>
        </p:nvGrpSpPr>
        <p:grpSpPr>
          <a:xfrm>
            <a:off x="8574050" y="1705723"/>
            <a:ext cx="1733892" cy="1418835"/>
            <a:chOff x="7781673" y="3379917"/>
            <a:chExt cx="1919355" cy="612722"/>
          </a:xfrm>
        </p:grpSpPr>
        <p:sp>
          <p:nvSpPr>
            <p:cNvPr id="364" name="Rectangle 363"/>
            <p:cNvSpPr/>
            <p:nvPr/>
          </p:nvSpPr>
          <p:spPr>
            <a:xfrm>
              <a:off x="7781673" y="3379917"/>
              <a:ext cx="1919355" cy="612722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8298460" y="3396022"/>
              <a:ext cx="885813" cy="126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MDM</a:t>
              </a:r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8677371" y="2173656"/>
            <a:ext cx="1515147" cy="830997"/>
            <a:chOff x="5711660" y="4176667"/>
            <a:chExt cx="1515147" cy="830997"/>
          </a:xfrm>
        </p:grpSpPr>
        <p:pic>
          <p:nvPicPr>
            <p:cNvPr id="360" name="Picture 35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61" name="Rectangle 36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PreProd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NA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451133" y="107815"/>
            <a:ext cx="11182248" cy="425095"/>
          </a:xfrm>
        </p:spPr>
        <p:txBody>
          <a:bodyPr>
            <a:normAutofit fontScale="90000"/>
          </a:bodyPr>
          <a:lstStyle/>
          <a:p>
            <a:r>
              <a:rPr lang="it-IT"/>
              <a:t>Microsoft Enhanced Scenario : Focus on </a:t>
            </a:r>
            <a:r>
              <a:rPr lang="it-IT" err="1"/>
              <a:t>components</a:t>
            </a:r>
            <a:r>
              <a:rPr lang="it-IT"/>
              <a:t>, PRE PROD</a:t>
            </a:r>
            <a:endParaRPr lang="en-US"/>
          </a:p>
        </p:txBody>
      </p:sp>
      <p:grpSp>
        <p:nvGrpSpPr>
          <p:cNvPr id="370" name="Group 369"/>
          <p:cNvGrpSpPr/>
          <p:nvPr/>
        </p:nvGrpSpPr>
        <p:grpSpPr>
          <a:xfrm>
            <a:off x="6357006" y="3344201"/>
            <a:ext cx="1515147" cy="830997"/>
            <a:chOff x="5711660" y="4176667"/>
            <a:chExt cx="1515147" cy="830997"/>
          </a:xfrm>
        </p:grpSpPr>
        <p:sp>
          <p:nvSpPr>
            <p:cNvPr id="372" name="Rectangle 371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PreProd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5.5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lts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ND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5749961" y="4580183"/>
              <a:ext cx="391782" cy="338554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endPara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353817" y="3100990"/>
            <a:ext cx="1518335" cy="24622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Databricks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083008" y="1210222"/>
            <a:ext cx="1919356" cy="4121570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3" name="Picture 2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44" y="1783384"/>
            <a:ext cx="304729" cy="304729"/>
          </a:xfrm>
          <a:prstGeom prst="rect">
            <a:avLst/>
          </a:prstGeom>
        </p:spPr>
      </p:pic>
      <p:grpSp>
        <p:nvGrpSpPr>
          <p:cNvPr id="284" name="Group 283"/>
          <p:cNvGrpSpPr/>
          <p:nvPr/>
        </p:nvGrpSpPr>
        <p:grpSpPr>
          <a:xfrm>
            <a:off x="2181791" y="1699172"/>
            <a:ext cx="1733892" cy="3442928"/>
            <a:chOff x="7781673" y="3379917"/>
            <a:chExt cx="1919355" cy="1005840"/>
          </a:xfrm>
        </p:grpSpPr>
        <p:sp>
          <p:nvSpPr>
            <p:cNvPr id="314" name="Rectangle 313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7945341" y="3396022"/>
              <a:ext cx="1592051" cy="173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Enterprise Data Catalog</a:t>
              </a:r>
            </a:p>
          </p:txBody>
        </p:sp>
      </p:grpSp>
      <p:grpSp>
        <p:nvGrpSpPr>
          <p:cNvPr id="285" name="Group 284"/>
          <p:cNvGrpSpPr/>
          <p:nvPr/>
        </p:nvGrpSpPr>
        <p:grpSpPr>
          <a:xfrm>
            <a:off x="2285112" y="2167105"/>
            <a:ext cx="1515147" cy="830997"/>
            <a:chOff x="5711660" y="4176667"/>
            <a:chExt cx="1515147" cy="830997"/>
          </a:xfrm>
        </p:grpSpPr>
        <p:pic>
          <p:nvPicPr>
            <p:cNvPr id="310" name="Picture 30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11" name="Rectangle 31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PreProd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/IDM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NA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304" name="Group 303"/>
          <p:cNvGrpSpPr/>
          <p:nvPr/>
        </p:nvGrpSpPr>
        <p:grpSpPr>
          <a:xfrm>
            <a:off x="2285463" y="3051171"/>
            <a:ext cx="1553293" cy="830997"/>
            <a:chOff x="5711660" y="4176667"/>
            <a:chExt cx="1553293" cy="830997"/>
          </a:xfrm>
        </p:grpSpPr>
        <p:pic>
          <p:nvPicPr>
            <p:cNvPr id="306" name="Picture 30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07" name="Rectangle 306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6109901" y="4176667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PreProd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/MDP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NA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85112" y="3970086"/>
            <a:ext cx="1515147" cy="1074207"/>
            <a:chOff x="368956" y="4264291"/>
            <a:chExt cx="1515147" cy="1074207"/>
          </a:xfrm>
        </p:grpSpPr>
        <p:grpSp>
          <p:nvGrpSpPr>
            <p:cNvPr id="375" name="Group 374"/>
            <p:cNvGrpSpPr/>
            <p:nvPr/>
          </p:nvGrpSpPr>
          <p:grpSpPr>
            <a:xfrm>
              <a:off x="368956" y="4507501"/>
              <a:ext cx="1515147" cy="830997"/>
              <a:chOff x="5711660" y="4176667"/>
              <a:chExt cx="1515147" cy="830997"/>
            </a:xfrm>
          </p:grpSpPr>
          <p:pic>
            <p:nvPicPr>
              <p:cNvPr id="376" name="Picture 37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377" name="Rectangle 376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378" name="TextBox 377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lang="en-US" sz="800" err="1">
                    <a:solidFill>
                      <a:prstClr val="black"/>
                    </a:solidFill>
                    <a:latin typeface="Calibri" panose="020F0502020204030204"/>
                  </a:rPr>
                  <a:t>PreProd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NA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NA</a:t>
                </a:r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sp>
          <p:nvSpPr>
            <p:cNvPr id="380" name="TextBox 379"/>
            <p:cNvSpPr txBox="1"/>
            <p:nvPr/>
          </p:nvSpPr>
          <p:spPr>
            <a:xfrm>
              <a:off x="368956" y="4264291"/>
              <a:ext cx="1515147" cy="24622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Hadoop Cluster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100386" y="2247252"/>
            <a:ext cx="1733892" cy="1446700"/>
            <a:chOff x="4221684" y="2821482"/>
            <a:chExt cx="1733892" cy="1446700"/>
          </a:xfrm>
        </p:grpSpPr>
        <p:grpSp>
          <p:nvGrpSpPr>
            <p:cNvPr id="98" name="Group 97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8040273" y="3396022"/>
                <a:ext cx="1402183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DEVELOPMENT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VMs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00" name="Picture 9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01" name="Rectangle 100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Windows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</p:grpSp>
      <p:cxnSp>
        <p:nvCxnSpPr>
          <p:cNvPr id="123" name="Elbow Connector 122"/>
          <p:cNvCxnSpPr>
            <a:stCxn id="277" idx="2"/>
            <a:endCxn id="177" idx="1"/>
          </p:cNvCxnSpPr>
          <p:nvPr/>
        </p:nvCxnSpPr>
        <p:spPr>
          <a:xfrm rot="16200000" flipH="1">
            <a:off x="3539363" y="4835115"/>
            <a:ext cx="301504" cy="1294858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28" name="Elbow Connector 127"/>
          <p:cNvCxnSpPr>
            <a:endCxn id="180" idx="0"/>
          </p:cNvCxnSpPr>
          <p:nvPr/>
        </p:nvCxnSpPr>
        <p:spPr>
          <a:xfrm rot="10800000" flipV="1">
            <a:off x="5091827" y="3952307"/>
            <a:ext cx="1265180" cy="1011877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r="69457" b="5102"/>
          <a:stretch/>
        </p:blipFill>
        <p:spPr>
          <a:xfrm>
            <a:off x="6420568" y="3375827"/>
            <a:ext cx="355136" cy="327049"/>
          </a:xfrm>
          <a:prstGeom prst="rect">
            <a:avLst/>
          </a:prstGeom>
        </p:spPr>
      </p:pic>
      <p:grpSp>
        <p:nvGrpSpPr>
          <p:cNvPr id="144" name="Group 143"/>
          <p:cNvGrpSpPr/>
          <p:nvPr/>
        </p:nvGrpSpPr>
        <p:grpSpPr>
          <a:xfrm>
            <a:off x="8680950" y="3192553"/>
            <a:ext cx="1558577" cy="1084609"/>
            <a:chOff x="10183434" y="4125482"/>
            <a:chExt cx="1558577" cy="1084609"/>
          </a:xfrm>
        </p:grpSpPr>
        <p:pic>
          <p:nvPicPr>
            <p:cNvPr id="145" name="Picture 14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0450" y="4439401"/>
              <a:ext cx="284920" cy="284920"/>
            </a:xfrm>
            <a:prstGeom prst="rect">
              <a:avLst/>
            </a:prstGeom>
          </p:spPr>
        </p:pic>
        <p:sp>
          <p:nvSpPr>
            <p:cNvPr id="146" name="Rectangle 145"/>
            <p:cNvSpPr/>
            <p:nvPr/>
          </p:nvSpPr>
          <p:spPr>
            <a:xfrm>
              <a:off x="10188718" y="4379094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0586959" y="4379094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PreProd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0227019" y="4782610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0183434" y="4125482"/>
              <a:ext cx="1519133" cy="25361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SQL Server</a:t>
              </a:r>
            </a:p>
          </p:txBody>
        </p:sp>
      </p:grpSp>
      <p:cxnSp>
        <p:nvCxnSpPr>
          <p:cNvPr id="150" name="Straight Connector 149"/>
          <p:cNvCxnSpPr/>
          <p:nvPr/>
        </p:nvCxnSpPr>
        <p:spPr>
          <a:xfrm>
            <a:off x="9425810" y="2971456"/>
            <a:ext cx="9134" cy="24870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151" name="Rectangle 150"/>
          <p:cNvSpPr/>
          <p:nvPr/>
        </p:nvSpPr>
        <p:spPr>
          <a:xfrm>
            <a:off x="8480839" y="4564612"/>
            <a:ext cx="1919356" cy="1888439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893756" y="4592181"/>
            <a:ext cx="109356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Custom Portal</a:t>
            </a:r>
          </a:p>
        </p:txBody>
      </p:sp>
      <p:pic>
        <p:nvPicPr>
          <p:cNvPr id="153" name="Picture 1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1103" y="5010459"/>
            <a:ext cx="259756" cy="295584"/>
          </a:xfrm>
          <a:prstGeom prst="rect">
            <a:avLst/>
          </a:prstGeom>
        </p:spPr>
      </p:pic>
      <p:grpSp>
        <p:nvGrpSpPr>
          <p:cNvPr id="154" name="Group 153"/>
          <p:cNvGrpSpPr/>
          <p:nvPr/>
        </p:nvGrpSpPr>
        <p:grpSpPr>
          <a:xfrm>
            <a:off x="8558864" y="4927418"/>
            <a:ext cx="1733892" cy="1446700"/>
            <a:chOff x="4221684" y="2821482"/>
            <a:chExt cx="1733892" cy="1446700"/>
          </a:xfrm>
        </p:grpSpPr>
        <p:grpSp>
          <p:nvGrpSpPr>
            <p:cNvPr id="155" name="Group 154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64" name="Rectangle 163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>
                <a:off x="8365886" y="3396022"/>
                <a:ext cx="750954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Web App</a:t>
                </a:r>
              </a:p>
            </p:txBody>
          </p:sp>
        </p:grpSp>
        <p:grpSp>
          <p:nvGrpSpPr>
            <p:cNvPr id="156" name="Group 155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57" name="Picture 15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58" name="Rectangle 157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lang="en-US" sz="800" err="1">
                    <a:solidFill>
                      <a:prstClr val="black"/>
                    </a:solidFill>
                    <a:latin typeface="Calibri" panose="020F0502020204030204"/>
                  </a:rPr>
                  <a:t>PreProd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:7.2.2.2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sp>
        <p:nvSpPr>
          <p:cNvPr id="170" name="Rectangle 169"/>
          <p:cNvSpPr/>
          <p:nvPr/>
        </p:nvSpPr>
        <p:spPr>
          <a:xfrm>
            <a:off x="6365774" y="5219105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6790768" y="5219105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800" err="1">
                <a:solidFill>
                  <a:prstClr val="black"/>
                </a:solidFill>
                <a:latin typeface="Calibri" panose="020F0502020204030204"/>
              </a:rPr>
              <a:t>PreProd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5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200 Gb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404075" y="5622621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360490" y="4965493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 </a:t>
            </a:r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Datalake</a:t>
            </a:r>
            <a:endParaRPr lang="en-US" sz="1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4" name="Picture 17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443" y="5267044"/>
            <a:ext cx="338817" cy="293172"/>
          </a:xfrm>
          <a:prstGeom prst="rect">
            <a:avLst/>
          </a:prstGeom>
        </p:spPr>
      </p:pic>
      <p:cxnSp>
        <p:nvCxnSpPr>
          <p:cNvPr id="175" name="Straight Connector 174"/>
          <p:cNvCxnSpPr>
            <a:endCxn id="173" idx="0"/>
          </p:cNvCxnSpPr>
          <p:nvPr/>
        </p:nvCxnSpPr>
        <p:spPr>
          <a:xfrm>
            <a:off x="7114580" y="4340705"/>
            <a:ext cx="5477" cy="62478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pic>
        <p:nvPicPr>
          <p:cNvPr id="176" name="Picture 17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76" y="5278104"/>
            <a:ext cx="284920" cy="284920"/>
          </a:xfrm>
          <a:prstGeom prst="rect">
            <a:avLst/>
          </a:prstGeom>
        </p:spPr>
      </p:pic>
      <p:sp>
        <p:nvSpPr>
          <p:cNvPr id="177" name="Rectangle 176"/>
          <p:cNvSpPr/>
          <p:nvPr/>
        </p:nvSpPr>
        <p:spPr>
          <a:xfrm>
            <a:off x="4337544" y="5217797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4735785" y="5217797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800" err="1">
                <a:solidFill>
                  <a:prstClr val="black"/>
                </a:solidFill>
                <a:latin typeface="Calibri" panose="020F0502020204030204"/>
              </a:rPr>
              <a:t>PreProd</a:t>
            </a:r>
            <a:endParaRPr lang="en-US" sz="800" b="0">
              <a:solidFill>
                <a:prstClr val="black"/>
              </a:solidFill>
              <a:latin typeface="Calibri" panose="020F0502020204030204"/>
            </a:endParaRP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3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250 Gb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375845" y="5621313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332260" y="4964185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SQL</a:t>
            </a:r>
          </a:p>
        </p:txBody>
      </p:sp>
      <p:cxnSp>
        <p:nvCxnSpPr>
          <p:cNvPr id="181" name="Elbow Connector 180"/>
          <p:cNvCxnSpPr/>
          <p:nvPr/>
        </p:nvCxnSpPr>
        <p:spPr>
          <a:xfrm rot="5400000" flipH="1">
            <a:off x="7065689" y="4078224"/>
            <a:ext cx="404257" cy="4345399"/>
          </a:xfrm>
          <a:prstGeom prst="bentConnector3">
            <a:avLst>
              <a:gd name="adj1" fmla="val -56548"/>
            </a:avLst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1105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>
          <a:xfrm>
            <a:off x="5092677" y="771840"/>
            <a:ext cx="3165530" cy="5898926"/>
            <a:chOff x="3109159" y="1004477"/>
            <a:chExt cx="2268965" cy="3824287"/>
          </a:xfrm>
        </p:grpSpPr>
        <p:sp>
          <p:nvSpPr>
            <p:cNvPr id="162" name="Rectangle 161"/>
            <p:cNvSpPr/>
            <p:nvPr/>
          </p:nvSpPr>
          <p:spPr>
            <a:xfrm>
              <a:off x="3109159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612500" y="1004478"/>
              <a:ext cx="1249180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 (DM)</a:t>
              </a:r>
            </a:p>
          </p:txBody>
        </p:sp>
      </p:grpSp>
      <p:sp>
        <p:nvSpPr>
          <p:cNvPr id="199" name="Rectangle 198"/>
          <p:cNvSpPr/>
          <p:nvPr/>
        </p:nvSpPr>
        <p:spPr>
          <a:xfrm>
            <a:off x="6154902" y="1140550"/>
            <a:ext cx="1919356" cy="3208863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6505289" y="1168120"/>
            <a:ext cx="1218603" cy="47424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Bulk / Batch ETL</a:t>
            </a:r>
          </a:p>
        </p:txBody>
      </p:sp>
      <p:pic>
        <p:nvPicPr>
          <p:cNvPr id="166" name="Picture 1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738" y="1726412"/>
            <a:ext cx="304729" cy="304729"/>
          </a:xfrm>
          <a:prstGeom prst="rect">
            <a:avLst/>
          </a:prstGeom>
        </p:spPr>
      </p:pic>
      <p:grpSp>
        <p:nvGrpSpPr>
          <p:cNvPr id="167" name="Group 166"/>
          <p:cNvGrpSpPr/>
          <p:nvPr/>
        </p:nvGrpSpPr>
        <p:grpSpPr>
          <a:xfrm>
            <a:off x="6253685" y="1642200"/>
            <a:ext cx="1733892" cy="2603418"/>
            <a:chOff x="7781673" y="3379917"/>
            <a:chExt cx="1919355" cy="1005840"/>
          </a:xfrm>
        </p:grpSpPr>
        <p:sp>
          <p:nvSpPr>
            <p:cNvPr id="168" name="Rectangle 167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8298457" y="3396022"/>
              <a:ext cx="885813" cy="154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DEI,</a:t>
              </a:r>
              <a:r>
                <a:rPr kumimoji="0" lang="en-US" sz="1000" b="1" i="0" u="none" strike="noStrike" kern="0" cap="none" spc="0" normalizeH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DEQ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57006" y="2110133"/>
            <a:ext cx="1515147" cy="830997"/>
            <a:chOff x="5711660" y="4176667"/>
            <a:chExt cx="1515147" cy="83099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CERT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:10.4.1.3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16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128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384 Gb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1908204" y="771840"/>
            <a:ext cx="3076546" cy="5898926"/>
            <a:chOff x="3102605" y="1004477"/>
            <a:chExt cx="2268965" cy="3824287"/>
          </a:xfrm>
        </p:grpSpPr>
        <p:sp>
          <p:nvSpPr>
            <p:cNvPr id="273" name="Rectangle 272"/>
            <p:cNvSpPr/>
            <p:nvPr/>
          </p:nvSpPr>
          <p:spPr>
            <a:xfrm>
              <a:off x="3102605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0845" y="1004478"/>
              <a:ext cx="1552493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err="1">
                  <a:solidFill>
                    <a:srgbClr val="0070C0"/>
                  </a:solidFill>
                  <a:latin typeface="Calibri" panose="020F0502020204030204"/>
                </a:rPr>
                <a:t>Metad</a:t>
              </a:r>
              <a:r>
                <a:rPr kumimoji="0" lang="en-US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ata</a:t>
              </a: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Management (MM)</a:t>
              </a:r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4122901" y="1142532"/>
            <a:ext cx="1919356" cy="2649916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4313793" y="1170101"/>
            <a:ext cx="15376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DM : Data Quality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MM : Data Directory,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Elements,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Rules Management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Semantic Framework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221684" y="2177580"/>
            <a:ext cx="1733892" cy="1446700"/>
            <a:chOff x="4221684" y="2821482"/>
            <a:chExt cx="1733892" cy="1446700"/>
          </a:xfrm>
        </p:grpSpPr>
        <p:pic>
          <p:nvPicPr>
            <p:cNvPr id="246" name="Picture 2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5737" y="2905695"/>
              <a:ext cx="304729" cy="304729"/>
            </a:xfrm>
            <a:prstGeom prst="rect">
              <a:avLst/>
            </a:prstGeom>
          </p:spPr>
        </p:pic>
        <p:grpSp>
          <p:nvGrpSpPr>
            <p:cNvPr id="247" name="Group 246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248" name="Rectangle 247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>
                <a:off x="8298456" y="3396022"/>
                <a:ext cx="885813" cy="173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endParaRPr lang="en-US" sz="1000" b="1" kern="0" noProof="0">
                  <a:solidFill>
                    <a:srgbClr val="0070C0"/>
                  </a:solidFill>
                  <a:latin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AXON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251" name="Group 250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252" name="Picture 25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253" name="Rectangle 252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264" name="TextBox 263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CERT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:7.2.2.2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320 Gb</a:t>
                </a: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grpSp>
        <p:nvGrpSpPr>
          <p:cNvPr id="366" name="Group 365"/>
          <p:cNvGrpSpPr/>
          <p:nvPr/>
        </p:nvGrpSpPr>
        <p:grpSpPr>
          <a:xfrm>
            <a:off x="8303914" y="766046"/>
            <a:ext cx="2268965" cy="5904720"/>
            <a:chOff x="300960" y="993148"/>
            <a:chExt cx="2268965" cy="3835616"/>
          </a:xfrm>
        </p:grpSpPr>
        <p:sp>
          <p:nvSpPr>
            <p:cNvPr id="367" name="Rectangle 366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561655" y="993148"/>
              <a:ext cx="1747594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Application and Services</a:t>
              </a:r>
            </a:p>
          </p:txBody>
        </p:sp>
      </p:grpSp>
      <p:sp>
        <p:nvSpPr>
          <p:cNvPr id="338" name="Rectangle 337"/>
          <p:cNvSpPr/>
          <p:nvPr/>
        </p:nvSpPr>
        <p:spPr>
          <a:xfrm>
            <a:off x="8475267" y="1147102"/>
            <a:ext cx="1919356" cy="3196548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8913830" y="1174671"/>
            <a:ext cx="10422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Master Data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Management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40" name="Picture 3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103" y="1720263"/>
            <a:ext cx="304729" cy="304729"/>
          </a:xfrm>
          <a:prstGeom prst="rect">
            <a:avLst/>
          </a:prstGeom>
        </p:spPr>
      </p:pic>
      <p:grpSp>
        <p:nvGrpSpPr>
          <p:cNvPr id="341" name="Group 340"/>
          <p:cNvGrpSpPr/>
          <p:nvPr/>
        </p:nvGrpSpPr>
        <p:grpSpPr>
          <a:xfrm>
            <a:off x="8574050" y="1636051"/>
            <a:ext cx="1733892" cy="1418835"/>
            <a:chOff x="7781673" y="3379917"/>
            <a:chExt cx="1919355" cy="612722"/>
          </a:xfrm>
        </p:grpSpPr>
        <p:sp>
          <p:nvSpPr>
            <p:cNvPr id="364" name="Rectangle 363"/>
            <p:cNvSpPr/>
            <p:nvPr/>
          </p:nvSpPr>
          <p:spPr>
            <a:xfrm>
              <a:off x="7781673" y="3379917"/>
              <a:ext cx="1919355" cy="612722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8298460" y="3396022"/>
              <a:ext cx="885813" cy="126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MDM</a:t>
              </a:r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8677371" y="2103984"/>
            <a:ext cx="1515147" cy="830997"/>
            <a:chOff x="5711660" y="4176667"/>
            <a:chExt cx="1515147" cy="830997"/>
          </a:xfrm>
        </p:grpSpPr>
        <p:pic>
          <p:nvPicPr>
            <p:cNvPr id="360" name="Picture 35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61" name="Rectangle 36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CERT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32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256 Gb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451133" y="137429"/>
            <a:ext cx="11182248" cy="425095"/>
          </a:xfrm>
        </p:spPr>
        <p:txBody>
          <a:bodyPr>
            <a:normAutofit fontScale="90000"/>
          </a:bodyPr>
          <a:lstStyle/>
          <a:p>
            <a:r>
              <a:rPr lang="it-IT"/>
              <a:t>Microsoft Enhanced Scenario : Focus on </a:t>
            </a:r>
            <a:r>
              <a:rPr lang="it-IT" err="1"/>
              <a:t>components</a:t>
            </a:r>
            <a:r>
              <a:rPr lang="it-IT"/>
              <a:t>, CERT</a:t>
            </a:r>
            <a:endParaRPr lang="en-US"/>
          </a:p>
        </p:txBody>
      </p:sp>
      <p:grpSp>
        <p:nvGrpSpPr>
          <p:cNvPr id="370" name="Group 369"/>
          <p:cNvGrpSpPr/>
          <p:nvPr/>
        </p:nvGrpSpPr>
        <p:grpSpPr>
          <a:xfrm>
            <a:off x="6357006" y="3274529"/>
            <a:ext cx="1515147" cy="830997"/>
            <a:chOff x="5711660" y="4176667"/>
            <a:chExt cx="1515147" cy="830997"/>
          </a:xfrm>
        </p:grpSpPr>
        <p:sp>
          <p:nvSpPr>
            <p:cNvPr id="372" name="Rectangle 371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CERT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5.5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lts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ND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5749961" y="4580183"/>
              <a:ext cx="391782" cy="338554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endPara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353817" y="3031318"/>
            <a:ext cx="1518335" cy="24622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Databricks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083008" y="1140550"/>
            <a:ext cx="1919356" cy="4121570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2246652" y="1168120"/>
            <a:ext cx="159210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Lineage +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Metadata Intelligence</a:t>
            </a:r>
          </a:p>
        </p:txBody>
      </p:sp>
      <p:pic>
        <p:nvPicPr>
          <p:cNvPr id="283" name="Picture 2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44" y="1713712"/>
            <a:ext cx="304729" cy="304729"/>
          </a:xfrm>
          <a:prstGeom prst="rect">
            <a:avLst/>
          </a:prstGeom>
        </p:spPr>
      </p:pic>
      <p:grpSp>
        <p:nvGrpSpPr>
          <p:cNvPr id="284" name="Group 283"/>
          <p:cNvGrpSpPr/>
          <p:nvPr/>
        </p:nvGrpSpPr>
        <p:grpSpPr>
          <a:xfrm>
            <a:off x="2181791" y="1629500"/>
            <a:ext cx="1733892" cy="3442928"/>
            <a:chOff x="7781673" y="3379917"/>
            <a:chExt cx="1919355" cy="1005840"/>
          </a:xfrm>
        </p:grpSpPr>
        <p:sp>
          <p:nvSpPr>
            <p:cNvPr id="314" name="Rectangle 313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7945341" y="3396022"/>
              <a:ext cx="1592051" cy="173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Enterprise Data Catalog</a:t>
              </a:r>
            </a:p>
          </p:txBody>
        </p:sp>
      </p:grpSp>
      <p:grpSp>
        <p:nvGrpSpPr>
          <p:cNvPr id="285" name="Group 284"/>
          <p:cNvGrpSpPr/>
          <p:nvPr/>
        </p:nvGrpSpPr>
        <p:grpSpPr>
          <a:xfrm>
            <a:off x="2285112" y="2097433"/>
            <a:ext cx="1515147" cy="830997"/>
            <a:chOff x="5711660" y="4176667"/>
            <a:chExt cx="1515147" cy="830997"/>
          </a:xfrm>
        </p:grpSpPr>
        <p:pic>
          <p:nvPicPr>
            <p:cNvPr id="310" name="Picture 30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11" name="Rectangle 31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CERT/IDM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16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64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512 Gb</a:t>
              </a: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304" name="Group 303"/>
          <p:cNvGrpSpPr/>
          <p:nvPr/>
        </p:nvGrpSpPr>
        <p:grpSpPr>
          <a:xfrm>
            <a:off x="2285463" y="2981499"/>
            <a:ext cx="1553293" cy="830997"/>
            <a:chOff x="5711660" y="4176667"/>
            <a:chExt cx="1553293" cy="830997"/>
          </a:xfrm>
        </p:grpSpPr>
        <p:pic>
          <p:nvPicPr>
            <p:cNvPr id="306" name="Picture 30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07" name="Rectangle 306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6109901" y="4176667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CERT/MDP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16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64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 Tb</a:t>
              </a: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85112" y="3900414"/>
            <a:ext cx="1515147" cy="1074207"/>
            <a:chOff x="368956" y="4264291"/>
            <a:chExt cx="1515147" cy="1074207"/>
          </a:xfrm>
        </p:grpSpPr>
        <p:grpSp>
          <p:nvGrpSpPr>
            <p:cNvPr id="375" name="Group 374"/>
            <p:cNvGrpSpPr/>
            <p:nvPr/>
          </p:nvGrpSpPr>
          <p:grpSpPr>
            <a:xfrm>
              <a:off x="368956" y="4507501"/>
              <a:ext cx="1515147" cy="830997"/>
              <a:chOff x="5711660" y="4176667"/>
              <a:chExt cx="1515147" cy="830997"/>
            </a:xfrm>
          </p:grpSpPr>
          <p:pic>
            <p:nvPicPr>
              <p:cNvPr id="376" name="Picture 37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377" name="Rectangle 376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378" name="TextBox 377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CERT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:ND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1 Tb</a:t>
                </a:r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sp>
          <p:nvSpPr>
            <p:cNvPr id="380" name="TextBox 379"/>
            <p:cNvSpPr txBox="1"/>
            <p:nvPr/>
          </p:nvSpPr>
          <p:spPr>
            <a:xfrm>
              <a:off x="368956" y="4264291"/>
              <a:ext cx="1515147" cy="24622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Hadoop Cluster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100386" y="2177580"/>
            <a:ext cx="1733892" cy="1446700"/>
            <a:chOff x="4221684" y="2821482"/>
            <a:chExt cx="1733892" cy="1446700"/>
          </a:xfrm>
        </p:grpSpPr>
        <p:grpSp>
          <p:nvGrpSpPr>
            <p:cNvPr id="98" name="Group 97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8040273" y="3396022"/>
                <a:ext cx="1402183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DEVELOPMENT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VMs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00" name="Picture 9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01" name="Rectangle 100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Windows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</p:grpSp>
      <p:cxnSp>
        <p:nvCxnSpPr>
          <p:cNvPr id="123" name="Elbow Connector 122"/>
          <p:cNvCxnSpPr>
            <a:stCxn id="277" idx="2"/>
            <a:endCxn id="143" idx="1"/>
          </p:cNvCxnSpPr>
          <p:nvPr/>
        </p:nvCxnSpPr>
        <p:spPr>
          <a:xfrm rot="16200000" flipH="1">
            <a:off x="3504527" y="4800279"/>
            <a:ext cx="371176" cy="1294858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28" name="Elbow Connector 127"/>
          <p:cNvCxnSpPr>
            <a:endCxn id="146" idx="0"/>
          </p:cNvCxnSpPr>
          <p:nvPr/>
        </p:nvCxnSpPr>
        <p:spPr>
          <a:xfrm rot="10800000" flipV="1">
            <a:off x="5091827" y="3882635"/>
            <a:ext cx="1265180" cy="1081549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r="69457" b="5102"/>
          <a:stretch/>
        </p:blipFill>
        <p:spPr>
          <a:xfrm>
            <a:off x="6420568" y="3306155"/>
            <a:ext cx="355136" cy="327049"/>
          </a:xfrm>
          <a:prstGeom prst="rect">
            <a:avLst/>
          </a:prstGeom>
        </p:spPr>
      </p:pic>
      <p:sp>
        <p:nvSpPr>
          <p:cNvPr id="107" name="Rectangle 106"/>
          <p:cNvSpPr/>
          <p:nvPr/>
        </p:nvSpPr>
        <p:spPr>
          <a:xfrm>
            <a:off x="8480839" y="4564612"/>
            <a:ext cx="1919356" cy="1888439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893756" y="4592181"/>
            <a:ext cx="109356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Custom Portal</a:t>
            </a:r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103" y="5010459"/>
            <a:ext cx="259756" cy="295584"/>
          </a:xfrm>
          <a:prstGeom prst="rect">
            <a:avLst/>
          </a:prstGeom>
        </p:spPr>
      </p:pic>
      <p:grpSp>
        <p:nvGrpSpPr>
          <p:cNvPr id="127" name="Group 126"/>
          <p:cNvGrpSpPr/>
          <p:nvPr/>
        </p:nvGrpSpPr>
        <p:grpSpPr>
          <a:xfrm>
            <a:off x="8558864" y="4927418"/>
            <a:ext cx="1733892" cy="1446700"/>
            <a:chOff x="4221684" y="2821482"/>
            <a:chExt cx="1733892" cy="1446700"/>
          </a:xfrm>
        </p:grpSpPr>
        <p:grpSp>
          <p:nvGrpSpPr>
            <p:cNvPr id="129" name="Group 128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8365886" y="3396022"/>
                <a:ext cx="750954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Web App</a:t>
                </a:r>
              </a:p>
            </p:txBody>
          </p:sp>
        </p:grpSp>
        <p:grpSp>
          <p:nvGrpSpPr>
            <p:cNvPr id="130" name="Group 129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31" name="Picture 13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32" name="Rectangle 131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CERT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:7.2.2.2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sp>
        <p:nvSpPr>
          <p:cNvPr id="137" name="Rectangle 136"/>
          <p:cNvSpPr/>
          <p:nvPr/>
        </p:nvSpPr>
        <p:spPr>
          <a:xfrm>
            <a:off x="6365774" y="5219105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790768" y="5219105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CERT</a:t>
            </a: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5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200 Gb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04075" y="5622621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60490" y="4965493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 </a:t>
            </a:r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Datalake</a:t>
            </a:r>
            <a:endParaRPr lang="en-US" sz="1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Picture 14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443" y="5267044"/>
            <a:ext cx="338817" cy="293172"/>
          </a:xfrm>
          <a:prstGeom prst="rect">
            <a:avLst/>
          </a:prstGeom>
        </p:spPr>
      </p:pic>
      <p:pic>
        <p:nvPicPr>
          <p:cNvPr id="142" name="Picture 14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76" y="5278104"/>
            <a:ext cx="284920" cy="284920"/>
          </a:xfrm>
          <a:prstGeom prst="rect">
            <a:avLst/>
          </a:prstGeom>
        </p:spPr>
      </p:pic>
      <p:sp>
        <p:nvSpPr>
          <p:cNvPr id="143" name="Rectangle 142"/>
          <p:cNvSpPr/>
          <p:nvPr/>
        </p:nvSpPr>
        <p:spPr>
          <a:xfrm>
            <a:off x="4337544" y="5217797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735785" y="5217797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CERT</a:t>
            </a:r>
            <a:endParaRPr lang="en-US" sz="800" b="0">
              <a:solidFill>
                <a:prstClr val="black"/>
              </a:solidFill>
              <a:latin typeface="Calibri" panose="020F0502020204030204"/>
            </a:endParaRP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3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250 Gb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375845" y="5621313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332260" y="4964185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SQL</a:t>
            </a:r>
          </a:p>
        </p:txBody>
      </p:sp>
      <p:cxnSp>
        <p:nvCxnSpPr>
          <p:cNvPr id="147" name="Elbow Connector 146"/>
          <p:cNvCxnSpPr/>
          <p:nvPr/>
        </p:nvCxnSpPr>
        <p:spPr>
          <a:xfrm rot="5400000" flipH="1">
            <a:off x="7065689" y="4078224"/>
            <a:ext cx="404257" cy="4345399"/>
          </a:xfrm>
          <a:prstGeom prst="bentConnector3">
            <a:avLst>
              <a:gd name="adj1" fmla="val -56548"/>
            </a:avLst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grpSp>
        <p:nvGrpSpPr>
          <p:cNvPr id="148" name="Group 147"/>
          <p:cNvGrpSpPr/>
          <p:nvPr/>
        </p:nvGrpSpPr>
        <p:grpSpPr>
          <a:xfrm>
            <a:off x="8680950" y="3192553"/>
            <a:ext cx="1558577" cy="1084609"/>
            <a:chOff x="10183434" y="4125482"/>
            <a:chExt cx="1558577" cy="1084609"/>
          </a:xfrm>
        </p:grpSpPr>
        <p:pic>
          <p:nvPicPr>
            <p:cNvPr id="149" name="Picture 14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0450" y="4439401"/>
              <a:ext cx="284920" cy="284920"/>
            </a:xfrm>
            <a:prstGeom prst="rect">
              <a:avLst/>
            </a:prstGeom>
          </p:spPr>
        </p:pic>
        <p:sp>
          <p:nvSpPr>
            <p:cNvPr id="150" name="Rectangle 149"/>
            <p:cNvSpPr/>
            <p:nvPr/>
          </p:nvSpPr>
          <p:spPr>
            <a:xfrm>
              <a:off x="10188718" y="4379094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0586959" y="4379094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CERT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32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2 Tb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0227019" y="4782610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0183434" y="4125482"/>
              <a:ext cx="1519133" cy="25361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SQL Server</a:t>
              </a:r>
            </a:p>
          </p:txBody>
        </p:sp>
      </p:grpSp>
      <p:cxnSp>
        <p:nvCxnSpPr>
          <p:cNvPr id="154" name="Straight Connector 153"/>
          <p:cNvCxnSpPr/>
          <p:nvPr/>
        </p:nvCxnSpPr>
        <p:spPr>
          <a:xfrm>
            <a:off x="9425810" y="2971456"/>
            <a:ext cx="9134" cy="24870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55" name="Straight Connector 154"/>
          <p:cNvCxnSpPr/>
          <p:nvPr/>
        </p:nvCxnSpPr>
        <p:spPr>
          <a:xfrm>
            <a:off x="7114580" y="4340705"/>
            <a:ext cx="5477" cy="62478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58298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>
          <a:xfrm>
            <a:off x="5092677" y="841511"/>
            <a:ext cx="3165530" cy="5916339"/>
            <a:chOff x="3109159" y="1004477"/>
            <a:chExt cx="2268965" cy="3824287"/>
          </a:xfrm>
        </p:grpSpPr>
        <p:sp>
          <p:nvSpPr>
            <p:cNvPr id="162" name="Rectangle 161"/>
            <p:cNvSpPr/>
            <p:nvPr/>
          </p:nvSpPr>
          <p:spPr>
            <a:xfrm>
              <a:off x="3109159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612500" y="1004478"/>
              <a:ext cx="1249180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Data Management (DM)</a:t>
              </a:r>
            </a:p>
          </p:txBody>
        </p:sp>
      </p:grpSp>
      <p:sp>
        <p:nvSpPr>
          <p:cNvPr id="199" name="Rectangle 198"/>
          <p:cNvSpPr/>
          <p:nvPr/>
        </p:nvSpPr>
        <p:spPr>
          <a:xfrm>
            <a:off x="6154902" y="1210222"/>
            <a:ext cx="1919356" cy="3208863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6505289" y="1237792"/>
            <a:ext cx="1218603" cy="47424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Bulk / Batch ETL</a:t>
            </a:r>
          </a:p>
        </p:txBody>
      </p:sp>
      <p:pic>
        <p:nvPicPr>
          <p:cNvPr id="166" name="Picture 16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738" y="1796084"/>
            <a:ext cx="304729" cy="304729"/>
          </a:xfrm>
          <a:prstGeom prst="rect">
            <a:avLst/>
          </a:prstGeom>
        </p:spPr>
      </p:pic>
      <p:grpSp>
        <p:nvGrpSpPr>
          <p:cNvPr id="167" name="Group 166"/>
          <p:cNvGrpSpPr/>
          <p:nvPr/>
        </p:nvGrpSpPr>
        <p:grpSpPr>
          <a:xfrm>
            <a:off x="6253685" y="1711872"/>
            <a:ext cx="1733892" cy="2603418"/>
            <a:chOff x="7781673" y="3379917"/>
            <a:chExt cx="1919355" cy="1005840"/>
          </a:xfrm>
        </p:grpSpPr>
        <p:sp>
          <p:nvSpPr>
            <p:cNvPr id="168" name="Rectangle 167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8298457" y="3396022"/>
              <a:ext cx="885813" cy="154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DEI,</a:t>
              </a:r>
              <a:r>
                <a:rPr kumimoji="0" lang="en-US" sz="1000" b="1" i="0" u="none" strike="noStrike" kern="0" cap="none" spc="0" normalizeH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DEQ</a:t>
              </a:r>
              <a:endPara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57006" y="2179805"/>
            <a:ext cx="1515147" cy="830997"/>
            <a:chOff x="5711660" y="4176667"/>
            <a:chExt cx="1515147" cy="83099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DEV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:10.4.1.3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16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128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384 Gb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1908204" y="841511"/>
            <a:ext cx="3076546" cy="5916339"/>
            <a:chOff x="3102605" y="1004477"/>
            <a:chExt cx="2268965" cy="3824287"/>
          </a:xfrm>
        </p:grpSpPr>
        <p:sp>
          <p:nvSpPr>
            <p:cNvPr id="273" name="Rectangle 272"/>
            <p:cNvSpPr/>
            <p:nvPr/>
          </p:nvSpPr>
          <p:spPr>
            <a:xfrm>
              <a:off x="3102605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460845" y="1004478"/>
              <a:ext cx="1552493" cy="195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err="1">
                  <a:solidFill>
                    <a:srgbClr val="0070C0"/>
                  </a:solidFill>
                  <a:latin typeface="Calibri" panose="020F0502020204030204"/>
                </a:rPr>
                <a:t>Metad</a:t>
              </a:r>
              <a:r>
                <a:rPr kumimoji="0" lang="en-US" sz="12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ata</a:t>
              </a: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 Management (MM)</a:t>
              </a:r>
            </a:p>
          </p:txBody>
        </p:sp>
      </p:grpSp>
      <p:sp>
        <p:nvSpPr>
          <p:cNvPr id="244" name="Rectangle 243"/>
          <p:cNvSpPr/>
          <p:nvPr/>
        </p:nvSpPr>
        <p:spPr>
          <a:xfrm>
            <a:off x="4122901" y="1212204"/>
            <a:ext cx="1919356" cy="2649916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4313793" y="1239773"/>
            <a:ext cx="15376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DM : Data Quality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MM : Data Directory,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Data Elements,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Rules Management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Semantic Framework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221684" y="2247252"/>
            <a:ext cx="1733892" cy="1446700"/>
            <a:chOff x="4221684" y="2821482"/>
            <a:chExt cx="1733892" cy="1446700"/>
          </a:xfrm>
        </p:grpSpPr>
        <p:pic>
          <p:nvPicPr>
            <p:cNvPr id="246" name="Picture 2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5737" y="2905695"/>
              <a:ext cx="304729" cy="304729"/>
            </a:xfrm>
            <a:prstGeom prst="rect">
              <a:avLst/>
            </a:prstGeom>
          </p:spPr>
        </p:pic>
        <p:grpSp>
          <p:nvGrpSpPr>
            <p:cNvPr id="247" name="Group 246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248" name="Rectangle 247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>
                <a:off x="8298456" y="3396022"/>
                <a:ext cx="885813" cy="173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Informatica</a:t>
                </a:r>
                <a:endParaRPr lang="en-US" sz="1000" b="1" kern="0" noProof="0">
                  <a:solidFill>
                    <a:srgbClr val="0070C0"/>
                  </a:solidFill>
                  <a:latin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AXON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251" name="Group 250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252" name="Picture 25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253" name="Rectangle 252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264" name="TextBox 263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NA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NA</a:t>
                </a: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grpSp>
        <p:nvGrpSpPr>
          <p:cNvPr id="366" name="Group 365"/>
          <p:cNvGrpSpPr/>
          <p:nvPr/>
        </p:nvGrpSpPr>
        <p:grpSpPr>
          <a:xfrm>
            <a:off x="8303914" y="835718"/>
            <a:ext cx="2268965" cy="5922132"/>
            <a:chOff x="300960" y="993148"/>
            <a:chExt cx="2268965" cy="3835616"/>
          </a:xfrm>
        </p:grpSpPr>
        <p:sp>
          <p:nvSpPr>
            <p:cNvPr id="367" name="Rectangle 366"/>
            <p:cNvSpPr/>
            <p:nvPr/>
          </p:nvSpPr>
          <p:spPr>
            <a:xfrm>
              <a:off x="300960" y="1004477"/>
              <a:ext cx="2268965" cy="382428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561655" y="993148"/>
              <a:ext cx="1747594" cy="287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Application and Services</a:t>
              </a:r>
            </a:p>
          </p:txBody>
        </p:sp>
      </p:grpSp>
      <p:sp>
        <p:nvSpPr>
          <p:cNvPr id="338" name="Rectangle 337"/>
          <p:cNvSpPr/>
          <p:nvPr/>
        </p:nvSpPr>
        <p:spPr>
          <a:xfrm>
            <a:off x="8475267" y="1216773"/>
            <a:ext cx="1919356" cy="3181816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8913830" y="1244343"/>
            <a:ext cx="10422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Master Data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rgbClr val="0070C0"/>
                </a:solidFill>
                <a:latin typeface="Calibri" panose="020F0502020204030204"/>
              </a:rPr>
              <a:t>Management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40" name="Picture 3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103" y="1789935"/>
            <a:ext cx="304729" cy="304729"/>
          </a:xfrm>
          <a:prstGeom prst="rect">
            <a:avLst/>
          </a:prstGeom>
        </p:spPr>
      </p:pic>
      <p:grpSp>
        <p:nvGrpSpPr>
          <p:cNvPr id="341" name="Group 340"/>
          <p:cNvGrpSpPr/>
          <p:nvPr/>
        </p:nvGrpSpPr>
        <p:grpSpPr>
          <a:xfrm>
            <a:off x="8574050" y="1705723"/>
            <a:ext cx="1733892" cy="1418835"/>
            <a:chOff x="7781673" y="3379917"/>
            <a:chExt cx="1919355" cy="612722"/>
          </a:xfrm>
        </p:grpSpPr>
        <p:sp>
          <p:nvSpPr>
            <p:cNvPr id="364" name="Rectangle 363"/>
            <p:cNvSpPr/>
            <p:nvPr/>
          </p:nvSpPr>
          <p:spPr>
            <a:xfrm>
              <a:off x="7781673" y="3379917"/>
              <a:ext cx="1919355" cy="612722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TextBox 364"/>
            <p:cNvSpPr txBox="1"/>
            <p:nvPr/>
          </p:nvSpPr>
          <p:spPr>
            <a:xfrm>
              <a:off x="8298460" y="3396022"/>
              <a:ext cx="885813" cy="126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MDM</a:t>
              </a:r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8677371" y="2173656"/>
            <a:ext cx="1515147" cy="830997"/>
            <a:chOff x="5711660" y="4176667"/>
            <a:chExt cx="1515147" cy="830997"/>
          </a:xfrm>
        </p:grpSpPr>
        <p:pic>
          <p:nvPicPr>
            <p:cNvPr id="360" name="Picture 35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61" name="Rectangle 36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62" name="TextBox 36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DEV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NA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</p:txBody>
        </p:sp>
        <p:sp>
          <p:nvSpPr>
            <p:cNvPr id="363" name="TextBox 36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sp>
        <p:nvSpPr>
          <p:cNvPr id="369" name="Title 1"/>
          <p:cNvSpPr>
            <a:spLocks noGrp="1"/>
          </p:cNvSpPr>
          <p:nvPr>
            <p:ph type="ctrTitle"/>
          </p:nvPr>
        </p:nvSpPr>
        <p:spPr>
          <a:xfrm>
            <a:off x="451133" y="126800"/>
            <a:ext cx="11182248" cy="425095"/>
          </a:xfrm>
        </p:spPr>
        <p:txBody>
          <a:bodyPr>
            <a:normAutofit fontScale="90000"/>
          </a:bodyPr>
          <a:lstStyle/>
          <a:p>
            <a:r>
              <a:rPr lang="it-IT"/>
              <a:t>Microsoft Enhanced Scenario : Focus on </a:t>
            </a:r>
            <a:r>
              <a:rPr lang="it-IT" err="1"/>
              <a:t>Acomponents</a:t>
            </a:r>
            <a:r>
              <a:rPr lang="it-IT"/>
              <a:t>, DEV</a:t>
            </a:r>
            <a:endParaRPr lang="en-US"/>
          </a:p>
        </p:txBody>
      </p:sp>
      <p:grpSp>
        <p:nvGrpSpPr>
          <p:cNvPr id="370" name="Group 369"/>
          <p:cNvGrpSpPr/>
          <p:nvPr/>
        </p:nvGrpSpPr>
        <p:grpSpPr>
          <a:xfrm>
            <a:off x="6357006" y="3344201"/>
            <a:ext cx="1515147" cy="830997"/>
            <a:chOff x="5711660" y="4176667"/>
            <a:chExt cx="1515147" cy="830997"/>
          </a:xfrm>
        </p:grpSpPr>
        <p:sp>
          <p:nvSpPr>
            <p:cNvPr id="372" name="Rectangle 371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73" name="TextBox 372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DEV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5.5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lts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14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ND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5749961" y="4580183"/>
              <a:ext cx="391782" cy="338554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endPara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353817" y="3100990"/>
            <a:ext cx="1518335" cy="24622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Databricks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083008" y="1210222"/>
            <a:ext cx="1919356" cy="4121570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3" name="Picture 2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44" y="1783384"/>
            <a:ext cx="304729" cy="304729"/>
          </a:xfrm>
          <a:prstGeom prst="rect">
            <a:avLst/>
          </a:prstGeom>
        </p:spPr>
      </p:pic>
      <p:grpSp>
        <p:nvGrpSpPr>
          <p:cNvPr id="284" name="Group 283"/>
          <p:cNvGrpSpPr/>
          <p:nvPr/>
        </p:nvGrpSpPr>
        <p:grpSpPr>
          <a:xfrm>
            <a:off x="2181791" y="1699172"/>
            <a:ext cx="1733892" cy="3442928"/>
            <a:chOff x="7781673" y="3379917"/>
            <a:chExt cx="1919355" cy="1005840"/>
          </a:xfrm>
        </p:grpSpPr>
        <p:sp>
          <p:nvSpPr>
            <p:cNvPr id="314" name="Rectangle 313"/>
            <p:cNvSpPr/>
            <p:nvPr/>
          </p:nvSpPr>
          <p:spPr>
            <a:xfrm>
              <a:off x="7781673" y="3379917"/>
              <a:ext cx="1919355" cy="1005840"/>
            </a:xfrm>
            <a:prstGeom prst="rect">
              <a:avLst/>
            </a:prstGeom>
            <a:noFill/>
            <a:ln w="12700" cap="flat" cmpd="sng" algn="ctr">
              <a:solidFill>
                <a:srgbClr val="FF7C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TextBox 314"/>
            <p:cNvSpPr txBox="1"/>
            <p:nvPr/>
          </p:nvSpPr>
          <p:spPr>
            <a:xfrm>
              <a:off x="7945341" y="3396022"/>
              <a:ext cx="1592051" cy="1736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Informatica</a:t>
              </a:r>
              <a:endParaRPr lang="en-US" sz="1000" b="1" kern="0" noProof="0">
                <a:solidFill>
                  <a:srgbClr val="0070C0"/>
                </a:solidFill>
                <a:latin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Enterprise Data Catalog</a:t>
              </a:r>
            </a:p>
          </p:txBody>
        </p:sp>
      </p:grpSp>
      <p:grpSp>
        <p:nvGrpSpPr>
          <p:cNvPr id="285" name="Group 284"/>
          <p:cNvGrpSpPr/>
          <p:nvPr/>
        </p:nvGrpSpPr>
        <p:grpSpPr>
          <a:xfrm>
            <a:off x="2285112" y="2167105"/>
            <a:ext cx="1515147" cy="830997"/>
            <a:chOff x="5711660" y="4176667"/>
            <a:chExt cx="1515147" cy="830997"/>
          </a:xfrm>
        </p:grpSpPr>
        <p:pic>
          <p:nvPicPr>
            <p:cNvPr id="310" name="Picture 30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11" name="Rectangle 310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6109901" y="4176667"/>
              <a:ext cx="108506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DEV/IDM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NA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304" name="Group 303"/>
          <p:cNvGrpSpPr/>
          <p:nvPr/>
        </p:nvGrpSpPr>
        <p:grpSpPr>
          <a:xfrm>
            <a:off x="2285463" y="3051171"/>
            <a:ext cx="1553293" cy="830997"/>
            <a:chOff x="5711660" y="4176667"/>
            <a:chExt cx="1553293" cy="830997"/>
          </a:xfrm>
        </p:grpSpPr>
        <p:pic>
          <p:nvPicPr>
            <p:cNvPr id="306" name="Picture 30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9961" y="4183543"/>
              <a:ext cx="391782" cy="391782"/>
            </a:xfrm>
            <a:prstGeom prst="rect">
              <a:avLst/>
            </a:prstGeom>
          </p:spPr>
        </p:pic>
        <p:sp>
          <p:nvSpPr>
            <p:cNvPr id="307" name="Rectangle 306"/>
            <p:cNvSpPr/>
            <p:nvPr/>
          </p:nvSpPr>
          <p:spPr>
            <a:xfrm>
              <a:off x="5711660" y="4176667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6109901" y="4176667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DEV/MDP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Linux </a:t>
              </a:r>
              <a:r>
                <a:rPr lang="en-US" sz="800" b="0" err="1">
                  <a:solidFill>
                    <a:prstClr val="black"/>
                  </a:solidFill>
                  <a:latin typeface="Calibri" panose="020F0502020204030204"/>
                </a:rPr>
                <a:t>redhat</a:t>
              </a:r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 7.8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NA</a:t>
              </a:r>
              <a:endParaRPr lang="en-US" sz="800">
                <a:solidFill>
                  <a:prstClr val="black"/>
                </a:solidFill>
                <a:latin typeface="Calibri" panose="020F0502020204030204"/>
              </a:endParaRP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</p:txBody>
        </p:sp>
        <p:sp>
          <p:nvSpPr>
            <p:cNvPr id="309" name="TextBox 308"/>
            <p:cNvSpPr txBox="1"/>
            <p:nvPr/>
          </p:nvSpPr>
          <p:spPr>
            <a:xfrm>
              <a:off x="5749961" y="4580183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85112" y="3970086"/>
            <a:ext cx="1515147" cy="1074207"/>
            <a:chOff x="368956" y="4264291"/>
            <a:chExt cx="1515147" cy="1074207"/>
          </a:xfrm>
        </p:grpSpPr>
        <p:grpSp>
          <p:nvGrpSpPr>
            <p:cNvPr id="375" name="Group 374"/>
            <p:cNvGrpSpPr/>
            <p:nvPr/>
          </p:nvGrpSpPr>
          <p:grpSpPr>
            <a:xfrm>
              <a:off x="368956" y="4507501"/>
              <a:ext cx="1515147" cy="830997"/>
              <a:chOff x="5711660" y="4176667"/>
              <a:chExt cx="1515147" cy="830997"/>
            </a:xfrm>
          </p:grpSpPr>
          <p:pic>
            <p:nvPicPr>
              <p:cNvPr id="376" name="Picture 37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377" name="Rectangle 376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378" name="TextBox 377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NA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NA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NA</a:t>
                </a:r>
              </a:p>
            </p:txBody>
          </p:sp>
          <p:sp>
            <p:nvSpPr>
              <p:cNvPr id="379" name="TextBox 378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sp>
          <p:nvSpPr>
            <p:cNvPr id="380" name="TextBox 379"/>
            <p:cNvSpPr txBox="1"/>
            <p:nvPr/>
          </p:nvSpPr>
          <p:spPr>
            <a:xfrm>
              <a:off x="368956" y="4264291"/>
              <a:ext cx="1515147" cy="24622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Hadoop Cluster</a:t>
              </a:r>
            </a:p>
          </p:txBody>
        </p:sp>
      </p:grpSp>
      <p:sp>
        <p:nvSpPr>
          <p:cNvPr id="384" name="TextBox 383"/>
          <p:cNvSpPr txBox="1"/>
          <p:nvPr/>
        </p:nvSpPr>
        <p:spPr>
          <a:xfrm>
            <a:off x="10661323" y="228842"/>
            <a:ext cx="757655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r>
              <a:rPr lang="en-US" sz="1000">
                <a:solidFill>
                  <a:srgbClr val="FF0000"/>
                </a:solidFill>
                <a:latin typeface="Calibri" panose="020F0502020204030204"/>
              </a:rPr>
              <a:t>DRAFT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100386" y="2247252"/>
            <a:ext cx="1733892" cy="1446700"/>
            <a:chOff x="4221684" y="2821482"/>
            <a:chExt cx="1733892" cy="1446700"/>
          </a:xfrm>
        </p:grpSpPr>
        <p:grpSp>
          <p:nvGrpSpPr>
            <p:cNvPr id="98" name="Group 97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8040273" y="3396022"/>
                <a:ext cx="1402183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DEVELOPMENT</a:t>
                </a:r>
                <a:r>
                  <a:rPr kumimoji="0" lang="en-US" sz="1000" b="1" i="0" u="none" strike="noStrike" kern="0" cap="none" spc="0" normalizeH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 VMs</a:t>
                </a: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00" name="Picture 9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01" name="Rectangle 100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Windows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ND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8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</p:grpSp>
      <p:cxnSp>
        <p:nvCxnSpPr>
          <p:cNvPr id="123" name="Elbow Connector 122"/>
          <p:cNvCxnSpPr>
            <a:stCxn id="277" idx="2"/>
            <a:endCxn id="145" idx="1"/>
          </p:cNvCxnSpPr>
          <p:nvPr/>
        </p:nvCxnSpPr>
        <p:spPr>
          <a:xfrm rot="16200000" flipH="1">
            <a:off x="3521945" y="4852533"/>
            <a:ext cx="336340" cy="1294858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28" name="Elbow Connector 127"/>
          <p:cNvCxnSpPr>
            <a:endCxn id="148" idx="0"/>
          </p:cNvCxnSpPr>
          <p:nvPr/>
        </p:nvCxnSpPr>
        <p:spPr>
          <a:xfrm rot="10800000" flipV="1">
            <a:off x="5091828" y="3966377"/>
            <a:ext cx="1215875" cy="1032643"/>
          </a:xfrm>
          <a:prstGeom prst="bentConnector2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r="69457" b="5102"/>
          <a:stretch/>
        </p:blipFill>
        <p:spPr>
          <a:xfrm>
            <a:off x="6420568" y="3375827"/>
            <a:ext cx="355136" cy="327049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8480839" y="4599448"/>
            <a:ext cx="1919356" cy="1888439"/>
          </a:xfrm>
          <a:prstGeom prst="rect">
            <a:avLst/>
          </a:prstGeom>
          <a:noFill/>
          <a:ln w="12700" cap="flat" cmpd="sng" algn="ctr">
            <a:solidFill>
              <a:srgbClr val="FF7C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893756" y="4627017"/>
            <a:ext cx="109356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</a:rPr>
              <a:t>Custom Portal</a:t>
            </a:r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103" y="5045295"/>
            <a:ext cx="259756" cy="295584"/>
          </a:xfrm>
          <a:prstGeom prst="rect">
            <a:avLst/>
          </a:prstGeom>
        </p:spPr>
      </p:pic>
      <p:grpSp>
        <p:nvGrpSpPr>
          <p:cNvPr id="130" name="Group 129"/>
          <p:cNvGrpSpPr/>
          <p:nvPr/>
        </p:nvGrpSpPr>
        <p:grpSpPr>
          <a:xfrm>
            <a:off x="8558864" y="4962254"/>
            <a:ext cx="1733892" cy="1446700"/>
            <a:chOff x="4221684" y="2821482"/>
            <a:chExt cx="1733892" cy="1446700"/>
          </a:xfrm>
        </p:grpSpPr>
        <p:grpSp>
          <p:nvGrpSpPr>
            <p:cNvPr id="131" name="Group 130"/>
            <p:cNvGrpSpPr/>
            <p:nvPr/>
          </p:nvGrpSpPr>
          <p:grpSpPr>
            <a:xfrm>
              <a:off x="4221684" y="2821482"/>
              <a:ext cx="1733892" cy="1446700"/>
              <a:chOff x="7781673" y="3379917"/>
              <a:chExt cx="1919355" cy="627699"/>
            </a:xfrm>
          </p:grpSpPr>
          <p:sp>
            <p:nvSpPr>
              <p:cNvPr id="137" name="Rectangle 136"/>
              <p:cNvSpPr/>
              <p:nvPr/>
            </p:nvSpPr>
            <p:spPr>
              <a:xfrm>
                <a:off x="7781673" y="3379917"/>
                <a:ext cx="1919355" cy="627699"/>
              </a:xfrm>
              <a:prstGeom prst="rect">
                <a:avLst/>
              </a:prstGeom>
              <a:noFill/>
              <a:ln w="12700" cap="flat" cmpd="sng" algn="ctr">
                <a:solidFill>
                  <a:srgbClr val="FF7C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8365886" y="3396022"/>
                <a:ext cx="750954" cy="10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</a:rPr>
                  <a:t>Web App</a:t>
                </a:r>
              </a:p>
            </p:txBody>
          </p:sp>
        </p:grpSp>
        <p:grpSp>
          <p:nvGrpSpPr>
            <p:cNvPr id="132" name="Group 131"/>
            <p:cNvGrpSpPr/>
            <p:nvPr/>
          </p:nvGrpSpPr>
          <p:grpSpPr>
            <a:xfrm>
              <a:off x="4325005" y="3289416"/>
              <a:ext cx="1515147" cy="830997"/>
              <a:chOff x="5711660" y="4176667"/>
              <a:chExt cx="1515147" cy="830997"/>
            </a:xfrm>
          </p:grpSpPr>
          <p:pic>
            <p:nvPicPr>
              <p:cNvPr id="133" name="Picture 13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49961" y="4183543"/>
                <a:ext cx="391782" cy="391782"/>
              </a:xfrm>
              <a:prstGeom prst="rect">
                <a:avLst/>
              </a:prstGeom>
            </p:spPr>
          </p:pic>
          <p:sp>
            <p:nvSpPr>
              <p:cNvPr id="134" name="Rectangle 133"/>
              <p:cNvSpPr/>
              <p:nvPr/>
            </p:nvSpPr>
            <p:spPr>
              <a:xfrm>
                <a:off x="5711660" y="4176667"/>
                <a:ext cx="1515147" cy="830997"/>
              </a:xfrm>
              <a:prstGeom prst="rect">
                <a:avLst/>
              </a:prstGeom>
              <a:noFill/>
              <a:ln w="1270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1000" b="1" kern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6109901" y="4176667"/>
                <a:ext cx="10850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 b="1">
                    <a:solidFill>
                      <a:srgbClr val="0070C0"/>
                    </a:solidFill>
                  </a:defRPr>
                </a:lvl1pPr>
              </a:lstStyle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ENV :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DEV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OS : Linux </a:t>
                </a:r>
                <a:r>
                  <a:rPr lang="en-US" sz="800" b="0" err="1">
                    <a:solidFill>
                      <a:prstClr val="black"/>
                    </a:solidFill>
                    <a:latin typeface="Calibri" panose="020F0502020204030204"/>
                  </a:rPr>
                  <a:t>redhat</a:t>
                </a:r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 7.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SW :7.2.2.2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CPU : 8</a:t>
                </a:r>
                <a:endParaRPr lang="en-US" sz="80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RAM :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 32</a:t>
                </a:r>
              </a:p>
              <a:p>
                <a:pPr algn="l"/>
                <a:r>
                  <a:rPr lang="en-US" sz="800" b="0">
                    <a:solidFill>
                      <a:prstClr val="black"/>
                    </a:solidFill>
                    <a:latin typeface="Calibri" panose="020F0502020204030204"/>
                  </a:rPr>
                  <a:t>DISK :  </a:t>
                </a:r>
                <a:r>
                  <a:rPr lang="en-US" sz="800">
                    <a:solidFill>
                      <a:prstClr val="black"/>
                    </a:solidFill>
                    <a:latin typeface="Calibri" panose="020F0502020204030204"/>
                  </a:rPr>
                  <a:t>512 Gb</a:t>
                </a: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5749961" y="4580183"/>
                <a:ext cx="391782" cy="369332"/>
              </a:xfrm>
              <a:prstGeom prst="rect">
                <a:avLst/>
              </a:prstGeom>
              <a:solidFill>
                <a:srgbClr val="0079D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Num</a:t>
                </a:r>
                <a:r>
                  <a:rPr lang="en-US" sz="10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sp>
        <p:nvSpPr>
          <p:cNvPr id="139" name="Rectangle 138"/>
          <p:cNvSpPr/>
          <p:nvPr/>
        </p:nvSpPr>
        <p:spPr>
          <a:xfrm>
            <a:off x="6365774" y="5253941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790768" y="5253941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DEV</a:t>
            </a: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5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200 Gb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04075" y="5657457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60490" y="5000329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 </a:t>
            </a:r>
            <a:r>
              <a:rPr lang="en-US" sz="10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Datalake</a:t>
            </a:r>
            <a:endParaRPr lang="en-US" sz="1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3" name="Picture 14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443" y="5301880"/>
            <a:ext cx="338817" cy="293172"/>
          </a:xfrm>
          <a:prstGeom prst="rect">
            <a:avLst/>
          </a:prstGeom>
        </p:spPr>
      </p:pic>
      <p:pic>
        <p:nvPicPr>
          <p:cNvPr id="144" name="Picture 14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76" y="5312940"/>
            <a:ext cx="284920" cy="284920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4337544" y="5252633"/>
            <a:ext cx="1515147" cy="830997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endParaRPr lang="en-US" sz="1000" b="1" kern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4735785" y="5252633"/>
            <a:ext cx="115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ENV :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 DEV</a:t>
            </a:r>
            <a:endParaRPr lang="en-US" sz="800" b="0">
              <a:solidFill>
                <a:prstClr val="black"/>
              </a:solidFill>
              <a:latin typeface="Calibri" panose="020F0502020204030204"/>
            </a:endParaRPr>
          </a:p>
          <a:p>
            <a:pPr algn="l"/>
            <a:r>
              <a:rPr lang="en-US" sz="800" b="0">
                <a:solidFill>
                  <a:prstClr val="black"/>
                </a:solidFill>
                <a:latin typeface="Calibri" panose="020F0502020204030204"/>
              </a:rPr>
              <a:t>DISK :  </a:t>
            </a:r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3 Tb</a:t>
            </a:r>
          </a:p>
          <a:p>
            <a:pPr algn="l"/>
            <a:r>
              <a:rPr lang="en-US" sz="800">
                <a:solidFill>
                  <a:prstClr val="black"/>
                </a:solidFill>
                <a:latin typeface="Calibri" panose="020F0502020204030204"/>
              </a:rPr>
              <a:t>Usage: 250 Gb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75845" y="5656149"/>
            <a:ext cx="391782" cy="369332"/>
          </a:xfrm>
          <a:prstGeom prst="rect">
            <a:avLst/>
          </a:prstGeom>
          <a:solidFill>
            <a:srgbClr val="0079D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32260" y="4999021"/>
            <a:ext cx="1519133" cy="25361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Azure SQL</a:t>
            </a:r>
          </a:p>
        </p:txBody>
      </p:sp>
      <p:cxnSp>
        <p:nvCxnSpPr>
          <p:cNvPr id="149" name="Elbow Connector 148"/>
          <p:cNvCxnSpPr/>
          <p:nvPr/>
        </p:nvCxnSpPr>
        <p:spPr>
          <a:xfrm rot="5400000" flipH="1">
            <a:off x="7065689" y="4113060"/>
            <a:ext cx="404257" cy="4345399"/>
          </a:xfrm>
          <a:prstGeom prst="bentConnector3">
            <a:avLst>
              <a:gd name="adj1" fmla="val -56548"/>
            </a:avLst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150" name="Straight Connector 149"/>
          <p:cNvCxnSpPr/>
          <p:nvPr/>
        </p:nvCxnSpPr>
        <p:spPr>
          <a:xfrm>
            <a:off x="7114579" y="4359192"/>
            <a:ext cx="5477" cy="624788"/>
          </a:xfrm>
          <a:prstGeom prst="line">
            <a:avLst/>
          </a:prstGeom>
          <a:noFill/>
          <a:ln w="22225" cap="flat" cmpd="sng" algn="ctr">
            <a:solidFill>
              <a:srgbClr val="5B9BD5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grpSp>
        <p:nvGrpSpPr>
          <p:cNvPr id="151" name="Group 150"/>
          <p:cNvGrpSpPr/>
          <p:nvPr/>
        </p:nvGrpSpPr>
        <p:grpSpPr>
          <a:xfrm>
            <a:off x="8680950" y="3192553"/>
            <a:ext cx="1558577" cy="1084609"/>
            <a:chOff x="10183434" y="4125482"/>
            <a:chExt cx="1558577" cy="1084609"/>
          </a:xfrm>
        </p:grpSpPr>
        <p:pic>
          <p:nvPicPr>
            <p:cNvPr id="152" name="Picture 15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0450" y="4439401"/>
              <a:ext cx="284920" cy="284920"/>
            </a:xfrm>
            <a:prstGeom prst="rect">
              <a:avLst/>
            </a:prstGeom>
          </p:spPr>
        </p:pic>
        <p:sp>
          <p:nvSpPr>
            <p:cNvPr id="153" name="Rectangle 152"/>
            <p:cNvSpPr/>
            <p:nvPr/>
          </p:nvSpPr>
          <p:spPr>
            <a:xfrm>
              <a:off x="10188718" y="4379094"/>
              <a:ext cx="1515147" cy="830997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sz="1000" b="1" kern="0">
                <a:solidFill>
                  <a:srgbClr val="0070C0"/>
                </a:solidFill>
                <a:latin typeface="Calibri" panose="020F0502020204030204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0586959" y="4379094"/>
              <a:ext cx="1155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solidFill>
                    <a:srgbClr val="0070C0"/>
                  </a:solidFill>
                </a:defRPr>
              </a:lvl1pPr>
            </a:lstStyle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ENV :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DEV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OS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W2016 </a:t>
              </a:r>
              <a:r>
                <a:rPr lang="en-US" sz="800" err="1">
                  <a:solidFill>
                    <a:prstClr val="black"/>
                  </a:solidFill>
                  <a:latin typeface="Calibri" panose="020F0502020204030204"/>
                </a:rPr>
                <a:t>Srv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Ent.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SW :ND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CPU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RAM :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 NA</a:t>
              </a:r>
            </a:p>
            <a:p>
              <a:pPr algn="l"/>
              <a:r>
                <a:rPr lang="en-US" sz="800" b="0">
                  <a:solidFill>
                    <a:prstClr val="black"/>
                  </a:solidFill>
                  <a:latin typeface="Calibri" panose="020F0502020204030204"/>
                </a:rPr>
                <a:t>DISK :  </a:t>
              </a:r>
              <a:r>
                <a:rPr lang="en-US" sz="800">
                  <a:solidFill>
                    <a:prstClr val="black"/>
                  </a:solidFill>
                  <a:latin typeface="Calibri" panose="020F0502020204030204"/>
                </a:rPr>
                <a:t>NA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0227019" y="4782610"/>
              <a:ext cx="391782" cy="369332"/>
            </a:xfrm>
            <a:prstGeom prst="rect">
              <a:avLst/>
            </a:prstGeom>
            <a:solidFill>
              <a:srgbClr val="0079D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Num</a:t>
              </a:r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0183434" y="4125482"/>
              <a:ext cx="1519133" cy="25361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SQL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947602"/>
      </p:ext>
    </p:extLst>
  </p:cSld>
  <p:clrMapOvr>
    <a:masterClrMapping/>
  </p:clrMapOvr>
</p:sld>
</file>

<file path=ppt/theme/theme1.xml><?xml version="1.0" encoding="utf-8"?>
<a:theme xmlns:a="http://schemas.openxmlformats.org/drawingml/2006/main" name="04_G_PPT_Template_16.9">
  <a:themeElements>
    <a:clrScheme name="Generali_colori_C">
      <a:dk1>
        <a:sysClr val="windowText" lastClr="000000"/>
      </a:dk1>
      <a:lt1>
        <a:sysClr val="window" lastClr="FFFFFF"/>
      </a:lt1>
      <a:dk2>
        <a:srgbClr val="BD2027"/>
      </a:dk2>
      <a:lt2>
        <a:srgbClr val="FEEEE6"/>
      </a:lt2>
      <a:accent1>
        <a:srgbClr val="BD2027"/>
      </a:accent1>
      <a:accent2>
        <a:srgbClr val="C25439"/>
      </a:accent2>
      <a:accent3>
        <a:srgbClr val="E9B09A"/>
      </a:accent3>
      <a:accent4>
        <a:srgbClr val="5C5D5F"/>
      </a:accent4>
      <a:accent5>
        <a:srgbClr val="CFD0D2"/>
      </a:accent5>
      <a:accent6>
        <a:srgbClr val="A1A3A4"/>
      </a:accent6>
      <a:hlink>
        <a:srgbClr val="BD2027"/>
      </a:hlink>
      <a:folHlink>
        <a:srgbClr val="C25439"/>
      </a:folHlink>
    </a:clrScheme>
    <a:fontScheme name="BE_typografia">
      <a:majorFont>
        <a:latin typeface="Arial Regular"/>
        <a:ea typeface="Arial Italic"/>
        <a:cs typeface=""/>
      </a:majorFont>
      <a:minorFont>
        <a:latin typeface="Arial Regular"/>
        <a:ea typeface="Arial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5_G_PPT_Template_16.9">
  <a:themeElements>
    <a:clrScheme name="Generali_colori_C">
      <a:dk1>
        <a:sysClr val="windowText" lastClr="000000"/>
      </a:dk1>
      <a:lt1>
        <a:sysClr val="window" lastClr="FFFFFF"/>
      </a:lt1>
      <a:dk2>
        <a:srgbClr val="BD2027"/>
      </a:dk2>
      <a:lt2>
        <a:srgbClr val="FEEEE6"/>
      </a:lt2>
      <a:accent1>
        <a:srgbClr val="BD2027"/>
      </a:accent1>
      <a:accent2>
        <a:srgbClr val="C25439"/>
      </a:accent2>
      <a:accent3>
        <a:srgbClr val="E9B09A"/>
      </a:accent3>
      <a:accent4>
        <a:srgbClr val="5C5D5F"/>
      </a:accent4>
      <a:accent5>
        <a:srgbClr val="CFD0D2"/>
      </a:accent5>
      <a:accent6>
        <a:srgbClr val="A1A3A4"/>
      </a:accent6>
      <a:hlink>
        <a:srgbClr val="BD2027"/>
      </a:hlink>
      <a:folHlink>
        <a:srgbClr val="C25439"/>
      </a:folHlink>
    </a:clrScheme>
    <a:fontScheme name="BE_typografia">
      <a:majorFont>
        <a:latin typeface="Arial Regular"/>
        <a:ea typeface="Arial Italic"/>
        <a:cs typeface=""/>
      </a:majorFont>
      <a:minorFont>
        <a:latin typeface="Arial Regular"/>
        <a:ea typeface="Arial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D9A32E4-5CAD-412F-A4A6-D714272D5FFB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artifactViewState" value="&quot;live&quot;"/>
    <we:property name="backgroundColor" value="&quot;#FFFFFF&quot;"/>
    <we:property name="bookmark" value="&quot;H4sIAAAAAAAAA+1Z30/bMBD+V5BftklplLRpobyVwhAavwQTLxNCTnINHo4d2U5ahvq/7+y0tMDoeKHNQx/a2Ofz+btzfN8leSIp0wWnj+c0B7JPDqR8yKl62AmJR0QtC6APvaST7MXdEP9p0I77OCoLw6TQZP+JGKoyMDdMl5RbQyj8desRyvklzWxvRLkGjxSgtBSUsz9QK+OQUSVMPQKTgktFrclrQw1YsxWqYx8hhH4HV6SJYRVcQ2Jq6RUUUpl53yO6bjlIL8esMbfgUApDmUDDVhZBkoS93aDdj4NuEu51O2nfyjUTGZ9BXMz9+VjYcBiYmFhObATi32jfWppO0YWkPwppFHXbUdwLo17QTSGys0eMm9mC8ePRpFAYHYxZbW2IvmZSsQRXclFQoPUM8lDyMnetoxfya1mqBK5g5IaEYeYRLV0qmZbO3Z2bs51Tpg2xqFCMYXcaN5SX4LtdtSP3cjxUgOunZD+YehuEZGim/SFnIEwjoV2M8Y5pIrAjUTElRY6Baxg8LhN3mBsGq6gFDLR/T1U6pgpQB08o+FV+jXmpuXi1wfyYPcOV+pDpB7y4tLR21OdgxhJ54kPQWYF5d8Sysk7wenmsUKxCgCeXgzS1AP7hyi1KVqdkGnM4ep2S0QzL7jn+jEvqwOdsgOk3pYae0cIOvN0LfylTWmWdINyT1CoPhLucwsh8bnco84Iqpuf7NO/9YFYv8JYUP5UlrubxO2XIYnXwnQqqfqnyFm5l2mJiRFt0IlpB2GJp/gVnvpi7YWfe8MtKp4bfL1qDw0HtROPcWHDRSicGxw3F/5qyVnkhSs4b58ULZlu5B2PQBko7v3l78TEiXOke1ukixbl3h3v6ruo02sf/kudKT0+ZKCcb8e9zaXal02Hgt4PAjyI/7OzNnXdcnIOhlj/tU94Un/PqB5yFZ2fP409L5YZ2VPq5bLXR09KA27ipd9o6cvG6iof1sPsaORhPcEKTe0idxomBvD6qLAVrnYHeFsHbIrhRbmyL4G0RvC2Ct0Xwpopgj1RWY/YCKUDNd0iAeCTE0Vd3CUrbKHURxXbHfuFYXghlEcoWRwcFXfsmr07K2Othb3CMjV1sfD3gVDx8s1Q+353FezCs1lXmPqfI0uiCJnBJRf1aaxGZWaWOICGdV+3vhMR9yiFukYppFnP46IQZvL8w5pNmcxoAAA==&quot;"/>
    <we:property name="creatorTenantId" value="&quot;cbeb3ecc-6f45-4183-b5a8-088140deae5d&quot;"/>
    <we:property name="datasetId" value="&quot;8748a811-fb5f-4a72-a835-9020bf5e2673&quot;"/>
    <we:property name="embedUrl" value="&quot;/reportEmbed?reportId=5ae4c3c9-1987-4825-91b0-4893d9f6507e&amp;groupId=ae48c751-fc8d-44b3-a181-e8024770786f&amp;w=2&amp;config=eyJjbHVzdGVyVXJsIjoiaHR0cHM6Ly9XQUJJLU5PUlRILUVVUk9QRS1LLVBSSU1BUlktcmVkaXJlY3QuYW5hbHlzaXMud2luZG93cy5uZXQiLCJlbWJlZEZlYXR1cmVzIjp7Im1vZGVybkVtYmVkIjp0cnVlLCJ1c2FnZU1ldHJpY3NWTmV4dCI6dHJ1ZX19&amp;disableSensitivityBanner=true&quot;"/>
    <we:property name="initialStateBookmark" value="&quot;H4sIAAAAAAAAA81VTW/bMAz9K4HORhC3Trb0lmU5DG0+kBS5DMVA24yrRZYEic7Hivz3UXK2rNgw9LTFF0uP1OMjDT+9iFJ6q+A4gxrFnfhgzLYGt+2kIhH6jM3n99PR8v7LbDSdMGwsSaO9uHsRBK5CWkvfgAoMDH5+SgQotYAq7DagPCbCovNGg5LfsE3mELkGT4nAg1XGQaBcERAG2h2n855rp91brggFyR2usKAWXaI1jn7sE+HbVZT0OhbIYsGx0QRSM3HAiuEmhSzr32T5IM0GvX6JWcA3UtE5JT9ODtZxP9zl0YY5jFldZZwsQImo26H35yJjo5o6riav8JVpXIFL3MSQJklHZlo4UzZRYGc97TxIT+LEo2CYBxUz1qAa7MYPECLPZj92yPVLcdc7Jf9REkHlu2MlUdNVSpvv+Rtfo7CJ3klndM2DuzJ5yhTx97syWbYFJPruM7hyDw45h/9Q7O7qFTvJ9er1xI5W/ZRr/Efpt/x6DNr+ueoZ0t6wpb9JurTslBtZNa0l+19j1skdC/y0GJVlEPCHVp4Y8VJX6uzzFwN+bDskyBVODuEayb+ySQevPQWeDIsiHbzr3QzzXr9I3/dvy2E4/Xc2PFBufmOLhBdE1MjXVFiYhryFAhegMVr7pbsQ5oGDLkMnce3C+0HyjdCWjsPiqvFSE7EIq5Hc0FsPnHhA/HwHfq2GUHYHAAA=&quot;"/>
    <we:property name="isFiltersActionButtonVisible" value="false"/>
    <we:property name="isFooterCollapsed" value="false"/>
    <we:property name="pageDisplayName" value="&quot;Page 1&quot;"/>
    <we:property name="pageName" value="&quot;ReportSection&quot;"/>
    <we:property name="reportEmbeddedTime" value="&quot;2022-08-09T16:20:11.782Z&quot;"/>
    <we:property name="reportName" value="&quot;VMADAProduction&quot;"/>
    <we:property name="reportState" value="&quot;CONNECTED&quot;"/>
    <we:property name="reportUrl" value="&quot;/groups/ae48c751-fc8d-44b3-a181-e8024770786f/reports/5ae4c3c9-1987-4825-91b0-4893d9f6507e/ReportSection&quot;"/>
    <we:property name="isVisualContainerHeaderHidden" value="fals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9419525-4E53-443B-A55D-1CAE7C7C37A2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artifactViewState" value="&quot;live&quot;"/>
    <we:property name="backgroundColor" value="&quot;#FFFFFF&quot;"/>
    <we:property name="bookmark" value="&quot;H4sIAAAAAAAAA+1ZS2/iMBD+K5Uv3ZVCFCBQ6I3SblVtX2pX3cOqqkwyBG8dO7KdQLfiv+/YgUIfy/YC5MABEc+Mx9+M4/kmyTOJmc44fbqkKZBDciTlY0rV416deESUsma704k60Ol2W2Gz2Y1pBIBamRkmhSaHz8RQlYC5Yzqn3DpC4a97j1DOr2liR0PKNXgkA6WloJz9gdIYVUblMPUITDIuFbUubw01YN0WaI5jhFD3m7gijQwr4BYiU0pvIJPKzMce0eWVg/RaZ525BftSGMoEOrayEKKo3j4IGt1B0IrqnVYz7lq5ZiLhM4iLuT+eMpsOAxMzkBObgcFv9G89TacYQtQd1mkYthrhoF0P20ErhtDOHjJuZgsOnk4mmcLsYM5Kb32MNZGKRbiSy4ICrWeQ+5Lnqbs6eSW/lbmK4AaGTiUMM0/o6VrJOHfh7t1d7J0zbYhFhWJMu7O4ozwH3+2q1YzkuK8A14/JYTD1tgjJ0ET7fc5AmEpCuxrjHVNFYCeiYEqKFBNXMXhcRu4wVwxWVgoYaH9EVTymCtAGTyj4RXqLdam6eLXB+pi8wJX6mOlH/HNlaeOoL8GMJfLEp6CzDOvukCV5WeD1si5TrECAZ9e9OLYAPgjlHiWrSzIdcDh5W5LRDUtGHH/GFXXgczbA8htTQy9oZhXv98JfqpTWWEcI9yy2xj3h/s5haNY77Ms0o4rp+T7NR9+ZtQu8JcO1ssTNPH/nDFmsTL4zQdP9Iq3FUNSYGNLamImaVkUtaOzjxFdTtxzLO3pZGVP/21Wtd9wrg6hcGAsqWhlE77Si+N8y1qooRM555aJ4RWwr92AM2kBu51dvLz7HgyvDwzZdxDj34bijH4pmpWP8L3eujPQn4pVjvZUI18uzK8OuB34jCPww9DvBPHbHxSkYavnTPuVN8TmvfMBZBHbxon9eaje0o9L1stVWj0sF7uOq3mibKMab6h42Q+8bJGE8wRGNRhA7izMDaXlUWQzWOwO9a4J3TXCVwtg1wbsmeNcE75rgrTXBHimswewFUoCGH5MA8UgdlW/uEpQ2UDrLKI6a9hPH0kIoClG0ODsoaNk3eWVVxlEbR71TvDjAiy9HnIrHr5bK55uzeA+G3bpK3OcUmRud0QiuqShfay0SM+vUESXE8679Hxlxn3KIW6Rgmg04fHbCDN5fdM6RSnMaAAA=&quot;"/>
    <we:property name="creatorTenantId" value="&quot;cbeb3ecc-6f45-4183-b5a8-088140deae5d&quot;"/>
    <we:property name="datasetId" value="&quot;31db9fd8-6bce-4b2b-829b-1b58d41409fe&quot;"/>
    <we:property name="embedUrl" value="&quot;/reportEmbed?reportId=3bb642af-4845-4992-a8f7-822ff6fbd230&amp;groupId=ae48c751-fc8d-44b3-a181-e8024770786f&amp;w=2&amp;config=eyJjbHVzdGVyVXJsIjoiaHR0cHM6Ly9XQUJJLU5PUlRILUVVUk9QRS1LLVBSSU1BUlktcmVkaXJlY3QuYW5hbHlzaXMud2luZG93cy5uZXQiLCJlbWJlZEZlYXR1cmVzIjp7Im1vZGVybkVtYmVkIjp0cnVlLCJ1c2FnZU1ldHJpY3NWTmV4dCI6dHJ1ZX19&amp;disableSensitivityBanner=true&quot;"/>
    <we:property name="initialStateBookmark" value="&quot;H4sIAAAAAAAAA81VTW/bMAz9K4HORhC3Trb0lmU5DG0+kBS5DMVA24yrRZYEic7Hivz3UXK2rNgw9LTFF0uP1OMjDT+9iFJ6q+A4gxrFnfhgzLYGt+2kIhH6jM3n99PR8v7LbDSdMGwsSaO9uHsRBK5CWkvfgAoMDH5+SgQotYAq7DagPCbCovNGg5LfsE3mELkGT4nAg1XGQaBcERAG2h2n855rp91brggFyR2usKAWXaI1jn7sE+HbVZT0OhbIYsGx0QRSM3HAiuEmhSzr32T5IM0GvX6JWcA3UtE5JT9ODtZxP9zl0YY5jFldZZwsQImo26H35yJjo5o6riav8JVpXIFL3MSQJklHZlo4UzZRYGc97TxIT+LEo2CYBxUz1qAa7MYPECLPZj92yPVLcdc7Jf9REkHlu2MlUdNVSpvv+Rtfo7CJ3klndM2DuzJ5yhTx97syWbYFJPruM7hyDw45h/9Q7O7qFTvJ9er1xI5W/ZRr/Efpt/x6DNr+ueoZ0t6wpb9JurTslBtZNa0l+19j1skdC/y0GJVlEPCHVp4Y8VJX6uzzFwN+bDskyBVODuEayb+ySQevPQWeDIsiHbzr3QzzXr9I3/dvy2E4/Xc2PFBufmOLhBdE1MjXVFiYhryFAhegMVr7pbsQ5oGDLkMnce3C+0HyjdCWjsPiqvFSE7EIq5Hc0FsPnHhA/HwHfq2GUHYHAAA=&quot;"/>
    <we:property name="isFiltersActionButtonVisible" value="false"/>
    <we:property name="isFooterCollapsed" value="false"/>
    <we:property name="pageDisplayName" value="&quot;Page 1&quot;"/>
    <we:property name="pageName" value="&quot;ReportSection&quot;"/>
    <we:property name="reportEmbeddedTime" value="&quot;2022-08-09T16:17:10.931Z&quot;"/>
    <we:property name="reportName" value="&quot;VMADACertification&quot;"/>
    <we:property name="reportState" value="&quot;CONNECTED&quot;"/>
    <we:property name="reportUrl" value="&quot;/groups/ae48c751-fc8d-44b3-a181-e8024770786f/reports/3bb642af-4845-4992-a8f7-822ff6fbd230/ReportSection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84598d-0859-4708-ba84-593e2c5c5e7d" xsi:nil="true"/>
    <lcf76f155ced4ddcb4097134ff3c332f xmlns="35ad57a2-f344-4525-b2a2-430879ef1da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4ADB9F7F5EBB46ACD884726C9D08D5" ma:contentTypeVersion="16" ma:contentTypeDescription="Create a new document." ma:contentTypeScope="" ma:versionID="e7f27d580b9b79b58b2a81442d635c08">
  <xsd:schema xmlns:xsd="http://www.w3.org/2001/XMLSchema" xmlns:xs="http://www.w3.org/2001/XMLSchema" xmlns:p="http://schemas.microsoft.com/office/2006/metadata/properties" xmlns:ns2="35ad57a2-f344-4525-b2a2-430879ef1daa" xmlns:ns3="c184598d-0859-4708-ba84-593e2c5c5e7d" targetNamespace="http://schemas.microsoft.com/office/2006/metadata/properties" ma:root="true" ma:fieldsID="a447c0b56b6c087228aae06e1dcd9c0c" ns2:_="" ns3:_="">
    <xsd:import namespace="35ad57a2-f344-4525-b2a2-430879ef1daa"/>
    <xsd:import namespace="c184598d-0859-4708-ba84-593e2c5c5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d57a2-f344-4525-b2a2-430879ef1d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cf75a9b-8bab-4e85-824e-08e78c5b74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4598d-0859-4708-ba84-593e2c5c5e7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4cc7891-18bf-4a5f-aae6-35a6a0d365e3}" ma:internalName="TaxCatchAll" ma:showField="CatchAllData" ma:web="c184598d-0859-4708-ba84-593e2c5c5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AECF30-CC2C-4A2D-8934-B6D8E25992DA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35ad57a2-f344-4525-b2a2-430879ef1daa"/>
    <ds:schemaRef ds:uri="http://purl.org/dc/elements/1.1/"/>
    <ds:schemaRef ds:uri="http://schemas.microsoft.com/office/2006/metadata/properties"/>
    <ds:schemaRef ds:uri="http://schemas.microsoft.com/office/2006/documentManagement/types"/>
    <ds:schemaRef ds:uri="c184598d-0859-4708-ba84-593e2c5c5e7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A2A9F1-1E50-4DC7-A3C2-FD73015984F8}">
  <ds:schemaRefs>
    <ds:schemaRef ds:uri="35ad57a2-f344-4525-b2a2-430879ef1daa"/>
    <ds:schemaRef ds:uri="c184598d-0859-4708-ba84-593e2c5c5e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391051E-A411-446C-AA93-8BC2C48745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4693</Words>
  <Application>Microsoft Office PowerPoint</Application>
  <PresentationFormat>Widescreen</PresentationFormat>
  <Paragraphs>1335</Paragraphs>
  <Slides>40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Arial</vt:lpstr>
      <vt:lpstr>Arial Regular</vt:lpstr>
      <vt:lpstr>Calibri</vt:lpstr>
      <vt:lpstr>Calibri Light</vt:lpstr>
      <vt:lpstr>Lucida Grande</vt:lpstr>
      <vt:lpstr>Wingdings</vt:lpstr>
      <vt:lpstr>04_G_PPT_Template_16.9</vt:lpstr>
      <vt:lpstr>5_G_PPT_Template_16.9</vt:lpstr>
      <vt:lpstr>Tema di Office</vt:lpstr>
      <vt:lpstr>Project ADA</vt:lpstr>
      <vt:lpstr>ARCHITECTURE AND COMPONENTS VIEW</vt:lpstr>
      <vt:lpstr>ADA Architecture overall – AS IS</vt:lpstr>
      <vt:lpstr>ARCHITECTURE VIEW PER SERVICES</vt:lpstr>
      <vt:lpstr>Architecture for services Datahub IFRS9 &amp; IFRS17</vt:lpstr>
      <vt:lpstr>Architecture for service Opti.Mo</vt:lpstr>
      <vt:lpstr>Architecture for service AIR</vt:lpstr>
      <vt:lpstr>Architecture for service Data Quality &amp; Governance (DDT)</vt:lpstr>
      <vt:lpstr>Architecture for service GCFO Datalake &amp; Reporting</vt:lpstr>
      <vt:lpstr>Architecture for service IDQS</vt:lpstr>
      <vt:lpstr>Architecture view per ECDM</vt:lpstr>
      <vt:lpstr>Subnet segregation and type of resources</vt:lpstr>
      <vt:lpstr>Resource Groups distribution</vt:lpstr>
      <vt:lpstr>ADA IaaS - Production</vt:lpstr>
      <vt:lpstr>PowerPoint Presentation</vt:lpstr>
      <vt:lpstr>ADA SaaS: Synapse view</vt:lpstr>
      <vt:lpstr>ADA SaaS: Purview view</vt:lpstr>
      <vt:lpstr>ADA SaaS: Databricks view</vt:lpstr>
      <vt:lpstr>ADA SaaS: Storage account view</vt:lpstr>
      <vt:lpstr>ADA PaaS: Automation account view</vt:lpstr>
      <vt:lpstr>ADA SaaS: SQL Elastic pool view</vt:lpstr>
      <vt:lpstr>ADA SaaS: Application Gateway view</vt:lpstr>
      <vt:lpstr>SYSTEM MONITORING</vt:lpstr>
      <vt:lpstr>Monitoring - Infrastructure</vt:lpstr>
      <vt:lpstr>Monitoring - Application</vt:lpstr>
      <vt:lpstr>Monitoring – Operations </vt:lpstr>
      <vt:lpstr>DR on REGION NORTH EU</vt:lpstr>
      <vt:lpstr>DR per AXON – Portal - PBI</vt:lpstr>
      <vt:lpstr>DR per Data processing</vt:lpstr>
      <vt:lpstr>Architettura per Servizio</vt:lpstr>
      <vt:lpstr>Data Discovery Tool</vt:lpstr>
      <vt:lpstr>GDPP Dashboard</vt:lpstr>
      <vt:lpstr>NEXT: Passthrough TEAM Tool (Datahub IFRS17)</vt:lpstr>
      <vt:lpstr>NEXT: Datahub IFRS9</vt:lpstr>
      <vt:lpstr>NEXT: AIR</vt:lpstr>
      <vt:lpstr>NEXT: Opti.Mo</vt:lpstr>
      <vt:lpstr>Microsoft Enhanced Scenario : Focus on components, PROD</vt:lpstr>
      <vt:lpstr>Microsoft Enhanced Scenario : Focus on components, PRE PROD</vt:lpstr>
      <vt:lpstr>Microsoft Enhanced Scenario : Focus on components, CERT</vt:lpstr>
      <vt:lpstr>Microsoft Enhanced Scenario : Focus on Acomponents, DEV</vt:lpstr>
    </vt:vector>
  </TitlesOfParts>
  <Company>Generali Shared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SimoneKenji.Suzuki@nttdata.com</dc:creator>
  <cp:keywords>Internal</cp:keywords>
  <cp:lastModifiedBy>Belviso Giuseppe (NTT Data)</cp:lastModifiedBy>
  <cp:revision>3</cp:revision>
  <cp:lastPrinted>2019-07-02T16:45:13Z</cp:lastPrinted>
  <dcterms:created xsi:type="dcterms:W3CDTF">2019-02-25T22:17:57Z</dcterms:created>
  <dcterms:modified xsi:type="dcterms:W3CDTF">2025-10-20T18:37:20Z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f09653fb-e6a8-400c-83f3-e8f471eaf84f</vt:lpwstr>
  </property>
  <property fmtid="{D5CDD505-2E9C-101B-9397-08002B2CF9AE}" pid="3" name="ContentTypeId">
    <vt:lpwstr>0x010100364ADB9F7F5EBB46ACD884726C9D08D5</vt:lpwstr>
  </property>
  <property fmtid="{D5CDD505-2E9C-101B-9397-08002B2CF9AE}" pid="4" name="_dlc_DocIdItemGuid">
    <vt:lpwstr>9aea3385-d499-4463-8128-3318e4b5486f</vt:lpwstr>
  </property>
  <property fmtid="{D5CDD505-2E9C-101B-9397-08002B2CF9AE}" pid="5" name="MSIP_Label_5bf4bb52-9e9d-4296-940a-59002820a53c_Enabled">
    <vt:lpwstr>True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Owner">
    <vt:lpwstr>dfantini@corp.generali.net</vt:lpwstr>
  </property>
  <property fmtid="{D5CDD505-2E9C-101B-9397-08002B2CF9AE}" pid="8" name="MSIP_Label_5bf4bb52-9e9d-4296-940a-59002820a53c_SetDate">
    <vt:lpwstr>2020-01-30T08:37:11.5670685Z</vt:lpwstr>
  </property>
  <property fmtid="{D5CDD505-2E9C-101B-9397-08002B2CF9AE}" pid="9" name="MSIP_Label_5bf4bb52-9e9d-4296-940a-59002820a53c_Name">
    <vt:lpwstr>Internal</vt:lpwstr>
  </property>
  <property fmtid="{D5CDD505-2E9C-101B-9397-08002B2CF9AE}" pid="10" name="MSIP_Label_5bf4bb52-9e9d-4296-940a-59002820a53c_Application">
    <vt:lpwstr>Microsoft Azure Information Protection</vt:lpwstr>
  </property>
  <property fmtid="{D5CDD505-2E9C-101B-9397-08002B2CF9AE}" pid="11" name="MSIP_Label_5bf4bb52-9e9d-4296-940a-59002820a53c_ActionId">
    <vt:lpwstr>84fad0cd-5459-439d-9b84-32661b80968f</vt:lpwstr>
  </property>
  <property fmtid="{D5CDD505-2E9C-101B-9397-08002B2CF9AE}" pid="12" name="MSIP_Label_5bf4bb52-9e9d-4296-940a-59002820a53c_Extended_MSFT_Method">
    <vt:lpwstr>Automatic</vt:lpwstr>
  </property>
  <property fmtid="{D5CDD505-2E9C-101B-9397-08002B2CF9AE}" pid="13" name="Sensitivity">
    <vt:lpwstr>Internal</vt:lpwstr>
  </property>
  <property fmtid="{D5CDD505-2E9C-101B-9397-08002B2CF9AE}" pid="14" name="Classification">
    <vt:lpwstr>Internal</vt:lpwstr>
  </property>
  <property fmtid="{D5CDD505-2E9C-101B-9397-08002B2CF9AE}" pid="15" name="MediaServiceImageTags">
    <vt:lpwstr/>
  </property>
</Properties>
</file>